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17"/>
  </p:notesMasterIdLst>
  <p:sldIdLst>
    <p:sldId id="256" r:id="rId2"/>
    <p:sldId id="257" r:id="rId3"/>
    <p:sldId id="260" r:id="rId4"/>
    <p:sldId id="274" r:id="rId5"/>
    <p:sldId id="275" r:id="rId6"/>
    <p:sldId id="276" r:id="rId7"/>
    <p:sldId id="277" r:id="rId8"/>
    <p:sldId id="269" r:id="rId9"/>
    <p:sldId id="262" r:id="rId10"/>
    <p:sldId id="263" r:id="rId11"/>
    <p:sldId id="278" r:id="rId12"/>
    <p:sldId id="271" r:id="rId13"/>
    <p:sldId id="272" r:id="rId14"/>
    <p:sldId id="27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ndapelly Akshaya" userId="9af10848a612e027" providerId="LiveId" clId="{EED83F1B-C04C-46BE-92F1-2FEF2AC0ED25}"/>
    <pc:docChg chg="modSld">
      <pc:chgData name="Kondapelly Akshaya" userId="9af10848a612e027" providerId="LiveId" clId="{EED83F1B-C04C-46BE-92F1-2FEF2AC0ED25}" dt="2026-01-28T07:36:23.004" v="6" actId="20577"/>
      <pc:docMkLst>
        <pc:docMk/>
      </pc:docMkLst>
      <pc:sldChg chg="modSp mod">
        <pc:chgData name="Kondapelly Akshaya" userId="9af10848a612e027" providerId="LiveId" clId="{EED83F1B-C04C-46BE-92F1-2FEF2AC0ED25}" dt="2026-01-28T07:36:23.004" v="6" actId="20577"/>
        <pc:sldMkLst>
          <pc:docMk/>
          <pc:sldMk cId="109857222" sldId="256"/>
        </pc:sldMkLst>
        <pc:spChg chg="mod">
          <ac:chgData name="Kondapelly Akshaya" userId="9af10848a612e027" providerId="LiveId" clId="{EED83F1B-C04C-46BE-92F1-2FEF2AC0ED25}" dt="2026-01-28T07:36:23.004" v="6" actId="20577"/>
          <ac:spMkLst>
            <pc:docMk/>
            <pc:sldMk cId="109857222" sldId="256"/>
            <ac:spMk id="9" creationId="{55BCDD74-7E19-5387-D422-AA1AEAD9DD4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AD5E7-AC9A-4DF2-BC6A-2C5080676B73}"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08DFB-6615-4B87-96F8-D3DF5C740949}" type="slidenum">
              <a:rPr lang="en-IN" smtClean="0"/>
              <a:t>‹#›</a:t>
            </a:fld>
            <a:endParaRPr lang="en-IN"/>
          </a:p>
        </p:txBody>
      </p:sp>
    </p:spTree>
    <p:extLst>
      <p:ext uri="{BB962C8B-B14F-4D97-AF65-F5344CB8AC3E}">
        <p14:creationId xmlns:p14="http://schemas.microsoft.com/office/powerpoint/2010/main" val="2872206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D08DFB-6615-4B87-96F8-D3DF5C740949}" type="slidenum">
              <a:rPr lang="en-IN" smtClean="0"/>
              <a:t>3</a:t>
            </a:fld>
            <a:endParaRPr lang="en-IN"/>
          </a:p>
        </p:txBody>
      </p:sp>
    </p:spTree>
    <p:extLst>
      <p:ext uri="{BB962C8B-B14F-4D97-AF65-F5344CB8AC3E}">
        <p14:creationId xmlns:p14="http://schemas.microsoft.com/office/powerpoint/2010/main" val="2126303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2AE5B-DB5C-89D6-44BB-1125786EC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A5F99-94AD-E922-7FA2-AD31D4DF4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B0E73-DE3A-AF46-6157-1C0D12F42C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36A4358-84E1-BC2D-D20A-C5C7D3BCFDD5}"/>
              </a:ext>
            </a:extLst>
          </p:cNvPr>
          <p:cNvSpPr>
            <a:spLocks noGrp="1"/>
          </p:cNvSpPr>
          <p:nvPr>
            <p:ph type="sldNum" sz="quarter" idx="5"/>
          </p:nvPr>
        </p:nvSpPr>
        <p:spPr/>
        <p:txBody>
          <a:bodyPr/>
          <a:lstStyle/>
          <a:p>
            <a:fld id="{28D08DFB-6615-4B87-96F8-D3DF5C740949}" type="slidenum">
              <a:rPr lang="en-IN" smtClean="0"/>
              <a:t>4</a:t>
            </a:fld>
            <a:endParaRPr lang="en-IN"/>
          </a:p>
        </p:txBody>
      </p:sp>
    </p:spTree>
    <p:extLst>
      <p:ext uri="{BB962C8B-B14F-4D97-AF65-F5344CB8AC3E}">
        <p14:creationId xmlns:p14="http://schemas.microsoft.com/office/powerpoint/2010/main" val="2234602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13346-4B7A-5D40-6D3C-CC86C33BD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61A28-CC2E-6224-B6DF-422204C60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0D2B8-11DF-588A-6D71-0F0505667E5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D3FBCB-179A-0F5B-3CC1-722CA288E19A}"/>
              </a:ext>
            </a:extLst>
          </p:cNvPr>
          <p:cNvSpPr>
            <a:spLocks noGrp="1"/>
          </p:cNvSpPr>
          <p:nvPr>
            <p:ph type="sldNum" sz="quarter" idx="5"/>
          </p:nvPr>
        </p:nvSpPr>
        <p:spPr/>
        <p:txBody>
          <a:bodyPr/>
          <a:lstStyle/>
          <a:p>
            <a:fld id="{28D08DFB-6615-4B87-96F8-D3DF5C740949}" type="slidenum">
              <a:rPr lang="en-IN" smtClean="0"/>
              <a:t>5</a:t>
            </a:fld>
            <a:endParaRPr lang="en-IN"/>
          </a:p>
        </p:txBody>
      </p:sp>
    </p:spTree>
    <p:extLst>
      <p:ext uri="{BB962C8B-B14F-4D97-AF65-F5344CB8AC3E}">
        <p14:creationId xmlns:p14="http://schemas.microsoft.com/office/powerpoint/2010/main" val="2540543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DC4C6-EC99-8E9B-335D-A22731F2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817E9-857E-1324-BDF4-EA2732677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E4C01-0548-310D-0901-D4BC738947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4502407-B6FE-F2FF-8ABD-1F0931299E92}"/>
              </a:ext>
            </a:extLst>
          </p:cNvPr>
          <p:cNvSpPr>
            <a:spLocks noGrp="1"/>
          </p:cNvSpPr>
          <p:nvPr>
            <p:ph type="sldNum" sz="quarter" idx="5"/>
          </p:nvPr>
        </p:nvSpPr>
        <p:spPr/>
        <p:txBody>
          <a:bodyPr/>
          <a:lstStyle/>
          <a:p>
            <a:fld id="{28D08DFB-6615-4B87-96F8-D3DF5C740949}" type="slidenum">
              <a:rPr lang="en-IN" smtClean="0"/>
              <a:t>6</a:t>
            </a:fld>
            <a:endParaRPr lang="en-IN"/>
          </a:p>
        </p:txBody>
      </p:sp>
    </p:spTree>
    <p:extLst>
      <p:ext uri="{BB962C8B-B14F-4D97-AF65-F5344CB8AC3E}">
        <p14:creationId xmlns:p14="http://schemas.microsoft.com/office/powerpoint/2010/main" val="4286586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267A-DBBC-D59F-07D0-8D14A1DC6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8E306-7C87-C74A-79D5-522B237F0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E3986-8775-85D6-1B8F-A487DF41C2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1C75F8-C5B9-8EED-017C-808058127A84}"/>
              </a:ext>
            </a:extLst>
          </p:cNvPr>
          <p:cNvSpPr>
            <a:spLocks noGrp="1"/>
          </p:cNvSpPr>
          <p:nvPr>
            <p:ph type="sldNum" sz="quarter" idx="5"/>
          </p:nvPr>
        </p:nvSpPr>
        <p:spPr/>
        <p:txBody>
          <a:bodyPr/>
          <a:lstStyle/>
          <a:p>
            <a:fld id="{28D08DFB-6615-4B87-96F8-D3DF5C740949}" type="slidenum">
              <a:rPr lang="en-IN" smtClean="0"/>
              <a:t>7</a:t>
            </a:fld>
            <a:endParaRPr lang="en-IN"/>
          </a:p>
        </p:txBody>
      </p:sp>
    </p:spTree>
    <p:extLst>
      <p:ext uri="{BB962C8B-B14F-4D97-AF65-F5344CB8AC3E}">
        <p14:creationId xmlns:p14="http://schemas.microsoft.com/office/powerpoint/2010/main" val="3985634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2915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5239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12474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60372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22527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17003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7412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1005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94180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69203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55675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63215495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3E3804-E15A-183D-98EE-7CA8DA31F6D8}"/>
              </a:ext>
            </a:extLst>
          </p:cNvPr>
          <p:cNvSpPr>
            <a:spLocks noGrp="1"/>
          </p:cNvSpPr>
          <p:nvPr>
            <p:ph type="ctrTitle"/>
          </p:nvPr>
        </p:nvSpPr>
        <p:spPr>
          <a:xfrm>
            <a:off x="2280249" y="24421"/>
            <a:ext cx="6800490" cy="1999409"/>
          </a:xfrm>
        </p:spPr>
        <p:txBody>
          <a:bodyPr>
            <a:normAutofit/>
          </a:bodyPr>
          <a:lstStyle/>
          <a:p>
            <a:r>
              <a:rPr lang="en-US" sz="4000" b="1" dirty="0">
                <a:solidFill>
                  <a:srgbClr val="FF0000"/>
                </a:solidFill>
                <a:latin typeface="Times New Roman"/>
                <a:cs typeface="Times New Roman"/>
              </a:rPr>
              <a:t>CMR Technical Campus</a:t>
            </a:r>
            <a:br>
              <a:rPr lang="en-US" sz="4000" b="1" dirty="0">
                <a:latin typeface="Times New Roman"/>
                <a:cs typeface="Times New Roman"/>
              </a:rPr>
            </a:br>
            <a:r>
              <a:rPr lang="en-US" sz="4000" b="1" dirty="0">
                <a:solidFill>
                  <a:srgbClr val="00B0F0"/>
                </a:solidFill>
                <a:latin typeface="Times New Roman"/>
                <a:cs typeface="Times New Roman"/>
              </a:rPr>
              <a:t>Department of IT</a:t>
            </a:r>
            <a:endParaRPr lang="en-US" sz="4000" dirty="0">
              <a:solidFill>
                <a:srgbClr val="00B0F0"/>
              </a:solidFill>
              <a:latin typeface="Times New Roman"/>
              <a:cs typeface="Times New Roman"/>
            </a:endParaRPr>
          </a:p>
          <a:p>
            <a:endParaRPr lang="en-US" dirty="0">
              <a:ea typeface="Calibri Light"/>
              <a:cs typeface="Calibri Light"/>
            </a:endParaRPr>
          </a:p>
        </p:txBody>
      </p:sp>
      <p:pic>
        <p:nvPicPr>
          <p:cNvPr id="8" name="Picture 7" descr="A logo with a flower&#10;&#10;Description automatically generated">
            <a:extLst>
              <a:ext uri="{FF2B5EF4-FFF2-40B4-BE49-F238E27FC236}">
                <a16:creationId xmlns:a16="http://schemas.microsoft.com/office/drawing/2014/main" id="{D109BE6C-3996-BE47-0A10-59AB2EC95D55}"/>
              </a:ext>
            </a:extLst>
          </p:cNvPr>
          <p:cNvPicPr>
            <a:picLocks noChangeAspect="1"/>
          </p:cNvPicPr>
          <p:nvPr/>
        </p:nvPicPr>
        <p:blipFill>
          <a:blip r:embed="rId2"/>
          <a:stretch>
            <a:fillRect/>
          </a:stretch>
        </p:blipFill>
        <p:spPr>
          <a:xfrm>
            <a:off x="93351" y="0"/>
            <a:ext cx="1648967" cy="1429829"/>
          </a:xfrm>
          <a:prstGeom prst="rect">
            <a:avLst/>
          </a:prstGeom>
        </p:spPr>
      </p:pic>
      <p:sp>
        <p:nvSpPr>
          <p:cNvPr id="9" name="TextBox 8">
            <a:extLst>
              <a:ext uri="{FF2B5EF4-FFF2-40B4-BE49-F238E27FC236}">
                <a16:creationId xmlns:a16="http://schemas.microsoft.com/office/drawing/2014/main" id="{55BCDD74-7E19-5387-D422-AA1AEAD9DD47}"/>
              </a:ext>
            </a:extLst>
          </p:cNvPr>
          <p:cNvSpPr txBox="1"/>
          <p:nvPr/>
        </p:nvSpPr>
        <p:spPr>
          <a:xfrm>
            <a:off x="1061050" y="1187608"/>
            <a:ext cx="787647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7030A0"/>
                </a:solidFill>
                <a:latin typeface="Times New Roman"/>
              </a:rPr>
              <a:t>             Major Project Stage – II</a:t>
            </a:r>
          </a:p>
          <a:p>
            <a:pPr algn="ctr"/>
            <a:r>
              <a:rPr lang="en-US" sz="2800" b="1" dirty="0">
                <a:solidFill>
                  <a:srgbClr val="7030A0"/>
                </a:solidFill>
                <a:latin typeface="Times New Roman"/>
              </a:rPr>
              <a:t>       Review - I</a:t>
            </a:r>
            <a:endParaRPr lang="en-US" dirty="0"/>
          </a:p>
        </p:txBody>
      </p:sp>
      <p:sp>
        <p:nvSpPr>
          <p:cNvPr id="10" name="TextBox 9">
            <a:extLst>
              <a:ext uri="{FF2B5EF4-FFF2-40B4-BE49-F238E27FC236}">
                <a16:creationId xmlns:a16="http://schemas.microsoft.com/office/drawing/2014/main" id="{7066A200-9B7D-E7B0-4F49-C56421449A11}"/>
              </a:ext>
            </a:extLst>
          </p:cNvPr>
          <p:cNvSpPr txBox="1"/>
          <p:nvPr/>
        </p:nvSpPr>
        <p:spPr>
          <a:xfrm>
            <a:off x="1241715" y="2558523"/>
            <a:ext cx="1012580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Summarizing legal and financial documents by ranking the sentences using NLP &amp; AI Models</a:t>
            </a:r>
          </a:p>
        </p:txBody>
      </p:sp>
      <p:sp>
        <p:nvSpPr>
          <p:cNvPr id="11" name="TextBox 10">
            <a:extLst>
              <a:ext uri="{FF2B5EF4-FFF2-40B4-BE49-F238E27FC236}">
                <a16:creationId xmlns:a16="http://schemas.microsoft.com/office/drawing/2014/main" id="{1DB776BB-9EC3-F020-0C9C-5116E1CF1E1A}"/>
              </a:ext>
            </a:extLst>
          </p:cNvPr>
          <p:cNvSpPr txBox="1"/>
          <p:nvPr/>
        </p:nvSpPr>
        <p:spPr>
          <a:xfrm>
            <a:off x="583629" y="3763617"/>
            <a:ext cx="431699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B0F0"/>
                </a:solidFill>
                <a:latin typeface="Times New Roman"/>
                <a:cs typeface="Segoe UI"/>
              </a:rPr>
              <a:t>Project Supervisor:</a:t>
            </a:r>
            <a:r>
              <a:rPr lang="en-US" sz="2000" dirty="0">
                <a:latin typeface="Times New Roman"/>
                <a:cs typeface="Segoe UI"/>
              </a:rPr>
              <a:t>​</a:t>
            </a:r>
          </a:p>
          <a:p>
            <a:r>
              <a:rPr lang="en-US" sz="2000" b="1" dirty="0">
                <a:solidFill>
                  <a:srgbClr val="002060"/>
                </a:solidFill>
                <a:latin typeface="Times New Roman"/>
                <a:cs typeface="Segoe UI"/>
              </a:rPr>
              <a:t>Name:</a:t>
            </a:r>
            <a:r>
              <a:rPr lang="en-US" sz="2000" dirty="0">
                <a:latin typeface="Times New Roman"/>
                <a:cs typeface="Segoe UI"/>
              </a:rPr>
              <a:t>​ </a:t>
            </a:r>
            <a:r>
              <a:rPr lang="en-US" sz="2000" dirty="0" err="1">
                <a:latin typeface="Times New Roman"/>
                <a:cs typeface="Segoe UI"/>
              </a:rPr>
              <a:t>K.Srinu</a:t>
            </a:r>
            <a:r>
              <a:rPr lang="en-US" sz="2000" dirty="0">
                <a:latin typeface="Times New Roman"/>
                <a:cs typeface="Segoe UI"/>
              </a:rPr>
              <a:t> </a:t>
            </a:r>
          </a:p>
          <a:p>
            <a:r>
              <a:rPr lang="en-US" sz="2000" b="1" dirty="0">
                <a:solidFill>
                  <a:srgbClr val="002060"/>
                </a:solidFill>
                <a:latin typeface="Times New Roman"/>
                <a:cs typeface="Segoe UI"/>
              </a:rPr>
              <a:t>Designation:</a:t>
            </a:r>
            <a:r>
              <a:rPr lang="en-US" sz="2000" dirty="0">
                <a:solidFill>
                  <a:srgbClr val="002060"/>
                </a:solidFill>
                <a:latin typeface="Times New Roman"/>
                <a:cs typeface="Segoe UI"/>
              </a:rPr>
              <a:t> Assistant Professor</a:t>
            </a:r>
            <a:endParaRPr lang="en-IN" sz="2000" dirty="0">
              <a:latin typeface="Times New Roman"/>
              <a:cs typeface="Segoe UI"/>
            </a:endParaRPr>
          </a:p>
        </p:txBody>
      </p:sp>
      <p:sp>
        <p:nvSpPr>
          <p:cNvPr id="2" name="TextBox 1">
            <a:extLst>
              <a:ext uri="{FF2B5EF4-FFF2-40B4-BE49-F238E27FC236}">
                <a16:creationId xmlns:a16="http://schemas.microsoft.com/office/drawing/2014/main" id="{BE17693B-E2CF-CEEF-1B82-D016D7D2C75A}"/>
              </a:ext>
            </a:extLst>
          </p:cNvPr>
          <p:cNvSpPr txBox="1"/>
          <p:nvPr/>
        </p:nvSpPr>
        <p:spPr>
          <a:xfrm>
            <a:off x="5231866" y="3576804"/>
            <a:ext cx="637650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latin typeface="Times New Roman"/>
                <a:cs typeface="Segoe UI"/>
              </a:rPr>
              <a:t>Presented By:</a:t>
            </a:r>
            <a:r>
              <a:rPr lang="en-US" dirty="0">
                <a:latin typeface="Times New Roman"/>
                <a:cs typeface="Segoe UI"/>
              </a:rPr>
              <a:t>​</a:t>
            </a:r>
          </a:p>
          <a:p>
            <a:r>
              <a:rPr lang="en-US" dirty="0">
                <a:latin typeface="Times New Roman"/>
                <a:cs typeface="Segoe UI"/>
              </a:rPr>
              <a:t>Batch No: 07</a:t>
            </a:r>
          </a:p>
          <a:p>
            <a:pPr marL="342900" indent="-342900">
              <a:buFont typeface=""/>
              <a:buAutoNum type="arabicPeriod"/>
            </a:pPr>
            <a:r>
              <a:rPr lang="en-US" dirty="0">
                <a:latin typeface="Times New Roman"/>
                <a:cs typeface="Arial"/>
              </a:rPr>
              <a:t>H. No: 227R1A1231                          Name: </a:t>
            </a:r>
            <a:r>
              <a:rPr lang="en-US" dirty="0" err="1">
                <a:latin typeface="Times New Roman"/>
                <a:cs typeface="Arial"/>
              </a:rPr>
              <a:t>K.Akshaya</a:t>
            </a:r>
            <a:r>
              <a:rPr lang="en-US" dirty="0">
                <a:latin typeface="Times New Roman"/>
                <a:cs typeface="Arial"/>
              </a:rPr>
              <a:t> </a:t>
            </a:r>
          </a:p>
          <a:p>
            <a:pPr marL="342900" indent="-342900">
              <a:buFont typeface=""/>
              <a:buAutoNum type="arabicPeriod"/>
            </a:pPr>
            <a:r>
              <a:rPr lang="en-US" dirty="0">
                <a:latin typeface="Times New Roman"/>
                <a:cs typeface="Arial"/>
              </a:rPr>
              <a:t>H. No: 237R5A1205                          Name: </a:t>
            </a:r>
            <a:r>
              <a:rPr lang="en-US" dirty="0" err="1">
                <a:latin typeface="Times New Roman"/>
                <a:cs typeface="Arial"/>
              </a:rPr>
              <a:t>D.Nikhil</a:t>
            </a:r>
            <a:endParaRPr lang="en-US" dirty="0">
              <a:latin typeface="Times New Roman"/>
              <a:cs typeface="Arial"/>
            </a:endParaRPr>
          </a:p>
          <a:p>
            <a:pPr marL="342900" indent="-342900">
              <a:buFont typeface=""/>
              <a:buAutoNum type="arabicPeriod"/>
            </a:pPr>
            <a:r>
              <a:rPr lang="en-US" dirty="0">
                <a:latin typeface="Times New Roman"/>
                <a:cs typeface="Arial"/>
              </a:rPr>
              <a:t>H. No: 227R1A1226                          Name: </a:t>
            </a:r>
            <a:r>
              <a:rPr lang="en-US" dirty="0" err="1">
                <a:latin typeface="Times New Roman"/>
                <a:cs typeface="Arial"/>
              </a:rPr>
              <a:t>K.Phanindra</a:t>
            </a:r>
            <a:r>
              <a:rPr lang="en-US" dirty="0">
                <a:latin typeface="Times New Roman"/>
                <a:cs typeface="Arial"/>
              </a:rPr>
              <a:t>   </a:t>
            </a:r>
          </a:p>
          <a:p>
            <a:pPr marL="342900" indent="-342900">
              <a:buFont typeface=""/>
              <a:buAutoNum type="arabicPeriod"/>
            </a:pPr>
            <a:r>
              <a:rPr lang="en-US" dirty="0">
                <a:latin typeface="Times New Roman"/>
                <a:cs typeface="Arial"/>
              </a:rPr>
              <a:t>H. No: 217R1A12A6                         Name: </a:t>
            </a:r>
            <a:r>
              <a:rPr lang="en-US" dirty="0" err="1">
                <a:latin typeface="Times New Roman"/>
                <a:cs typeface="Arial"/>
              </a:rPr>
              <a:t>M.Sathwik</a:t>
            </a:r>
            <a:endParaRPr lang="en-US" dirty="0">
              <a:latin typeface="Times New Roman"/>
              <a:cs typeface="Arial"/>
            </a:endParaRPr>
          </a:p>
          <a:p>
            <a:r>
              <a:rPr lang="en-US" dirty="0">
                <a:latin typeface="Times New Roman"/>
                <a:cs typeface="Segoe UI"/>
              </a:rPr>
              <a:t>​</a:t>
            </a:r>
          </a:p>
        </p:txBody>
      </p:sp>
      <p:sp>
        <p:nvSpPr>
          <p:cNvPr id="3" name="TextBox 2">
            <a:extLst>
              <a:ext uri="{FF2B5EF4-FFF2-40B4-BE49-F238E27FC236}">
                <a16:creationId xmlns:a16="http://schemas.microsoft.com/office/drawing/2014/main" id="{E5F7A3F7-2348-3ACB-91E1-EF7E3F49DC1E}"/>
              </a:ext>
            </a:extLst>
          </p:cNvPr>
          <p:cNvSpPr txBox="1"/>
          <p:nvPr/>
        </p:nvSpPr>
        <p:spPr>
          <a:xfrm>
            <a:off x="4355277" y="2041601"/>
            <a:ext cx="197628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Project Title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E7D9-79DA-2FC3-422B-CBFEF3CC7471}"/>
              </a:ext>
            </a:extLst>
          </p:cNvPr>
          <p:cNvSpPr>
            <a:spLocks noGrp="1"/>
          </p:cNvSpPr>
          <p:nvPr>
            <p:ph type="title"/>
          </p:nvPr>
        </p:nvSpPr>
        <p:spPr/>
        <p:txBody>
          <a:bodyPr/>
          <a:lstStyle/>
          <a:p>
            <a:r>
              <a:rPr lang="en-US" dirty="0">
                <a:latin typeface="Times New Roman"/>
                <a:cs typeface="Times New Roman"/>
              </a:rPr>
              <a:t>Index</a:t>
            </a:r>
            <a:endParaRPr lang="en-US" dirty="0"/>
          </a:p>
        </p:txBody>
      </p:sp>
      <p:pic>
        <p:nvPicPr>
          <p:cNvPr id="4" name="Content Placeholder 3" descr="A logo with a flower&#10;&#10;Description automatically generated">
            <a:extLst>
              <a:ext uri="{FF2B5EF4-FFF2-40B4-BE49-F238E27FC236}">
                <a16:creationId xmlns:a16="http://schemas.microsoft.com/office/drawing/2014/main" id="{D6E4BB97-AC32-E28F-14E0-655A3A315D2B}"/>
              </a:ext>
            </a:extLst>
          </p:cNvPr>
          <p:cNvPicPr>
            <a:picLocks noGrp="1" noChangeAspect="1"/>
          </p:cNvPicPr>
          <p:nvPr>
            <p:ph idx="1"/>
          </p:nvPr>
        </p:nvPicPr>
        <p:blipFill>
          <a:blip r:embed="rId2"/>
          <a:stretch>
            <a:fillRect/>
          </a:stretch>
        </p:blipFill>
        <p:spPr>
          <a:xfrm>
            <a:off x="10714935" y="0"/>
            <a:ext cx="1477065" cy="1251226"/>
          </a:xfrm>
        </p:spPr>
      </p:pic>
      <p:sp>
        <p:nvSpPr>
          <p:cNvPr id="5" name="TextBox 4">
            <a:extLst>
              <a:ext uri="{FF2B5EF4-FFF2-40B4-BE49-F238E27FC236}">
                <a16:creationId xmlns:a16="http://schemas.microsoft.com/office/drawing/2014/main" id="{50E35079-FEB8-1858-8F76-4E4838640443}"/>
              </a:ext>
            </a:extLst>
          </p:cNvPr>
          <p:cNvSpPr txBox="1"/>
          <p:nvPr/>
        </p:nvSpPr>
        <p:spPr>
          <a:xfrm>
            <a:off x="616227" y="1720573"/>
            <a:ext cx="1127097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000" dirty="0">
                <a:latin typeface="Times New Roman"/>
                <a:cs typeface="Arial"/>
              </a:rPr>
              <a:t>Introduction &amp; Overview</a:t>
            </a:r>
          </a:p>
          <a:p>
            <a:pPr marL="228600" indent="-228600">
              <a:buFont typeface=""/>
              <a:buChar char="•"/>
            </a:pPr>
            <a:r>
              <a:rPr lang="en-US" sz="2000" dirty="0">
                <a:latin typeface="Times New Roman"/>
                <a:cs typeface="Arial"/>
              </a:rPr>
              <a:t>Existing System</a:t>
            </a:r>
          </a:p>
          <a:p>
            <a:pPr marL="228600" indent="-228600">
              <a:buFont typeface=""/>
              <a:buChar char="•"/>
            </a:pPr>
            <a:r>
              <a:rPr lang="en-US" sz="2000" dirty="0">
                <a:latin typeface="Times New Roman"/>
                <a:cs typeface="Arial"/>
              </a:rPr>
              <a:t>Disadvantages</a:t>
            </a:r>
          </a:p>
          <a:p>
            <a:pPr marL="228600" indent="-228600">
              <a:buFont typeface=""/>
              <a:buChar char="•"/>
            </a:pPr>
            <a:r>
              <a:rPr lang="en-US" sz="2000" dirty="0">
                <a:latin typeface="Times New Roman"/>
                <a:cs typeface="Arial"/>
              </a:rPr>
              <a:t>Proposed System​</a:t>
            </a:r>
            <a:endParaRPr lang="en-IN" sz="2000" dirty="0">
              <a:latin typeface="Times New Roman" panose="02020603050405020304" pitchFamily="18" charset="0"/>
              <a:cs typeface="Times New Roman" panose="02020603050405020304" pitchFamily="18" charset="0"/>
            </a:endParaRPr>
          </a:p>
          <a:p>
            <a:pPr marL="228600" indent="-228600">
              <a:buFont typeface=""/>
              <a:buChar char="•"/>
            </a:pPr>
            <a:r>
              <a:rPr lang="en-IN" sz="2000" dirty="0">
                <a:latin typeface="Times New Roman" panose="02020603050405020304" pitchFamily="18" charset="0"/>
                <a:cs typeface="Times New Roman" panose="02020603050405020304" pitchFamily="18" charset="0"/>
              </a:rPr>
              <a:t>Advantages</a:t>
            </a:r>
            <a:endParaRPr lang="en-US" sz="2000" dirty="0">
              <a:latin typeface="Times New Roman"/>
              <a:cs typeface="Arial"/>
            </a:endParaRPr>
          </a:p>
          <a:p>
            <a:pPr marL="228600" indent="-228600">
              <a:buFont typeface=""/>
              <a:buChar char="•"/>
            </a:pPr>
            <a:r>
              <a:rPr lang="en-US" sz="2000" dirty="0">
                <a:latin typeface="Times New Roman"/>
                <a:cs typeface="Arial"/>
              </a:rPr>
              <a:t>Hardware &amp; Software Requirements</a:t>
            </a:r>
          </a:p>
          <a:p>
            <a:pPr marL="228600" indent="-228600">
              <a:buFont typeface=""/>
              <a:buChar char="•"/>
            </a:pPr>
            <a:r>
              <a:rPr lang="en-US" sz="2000" dirty="0">
                <a:latin typeface="Times New Roman"/>
                <a:cs typeface="Arial"/>
              </a:rPr>
              <a:t>Novelty </a:t>
            </a:r>
          </a:p>
          <a:p>
            <a:pPr marL="228600" indent="-228600">
              <a:buFont typeface=""/>
              <a:buChar char="•"/>
            </a:pPr>
            <a:r>
              <a:rPr lang="en-US" sz="2000" dirty="0">
                <a:latin typeface="Times New Roman"/>
                <a:cs typeface="Arial"/>
              </a:rPr>
              <a:t>Architecture​</a:t>
            </a:r>
          </a:p>
          <a:p>
            <a:pPr marL="228600" indent="-228600">
              <a:buFont typeface=""/>
              <a:buChar char="•"/>
            </a:pPr>
            <a:r>
              <a:rPr lang="en-US" sz="2000" dirty="0">
                <a:latin typeface="Times New Roman"/>
                <a:cs typeface="Arial"/>
              </a:rPr>
              <a:t>Modules​</a:t>
            </a:r>
          </a:p>
          <a:p>
            <a:pPr marL="228600" indent="-228600">
              <a:buFont typeface=""/>
              <a:buChar char="•"/>
            </a:pPr>
            <a:r>
              <a:rPr lang="en-US" sz="2000" dirty="0">
                <a:latin typeface="Times New Roman"/>
                <a:cs typeface="Arial"/>
              </a:rPr>
              <a:t>UML Diagrams</a:t>
            </a:r>
          </a:p>
        </p:txBody>
      </p:sp>
    </p:spTree>
    <p:extLst>
      <p:ext uri="{BB962C8B-B14F-4D97-AF65-F5344CB8AC3E}">
        <p14:creationId xmlns:p14="http://schemas.microsoft.com/office/powerpoint/2010/main" val="3459465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808359-BB8A-8C59-7B3E-25E0CE39088F}"/>
              </a:ext>
            </a:extLst>
          </p:cNvPr>
          <p:cNvSpPr txBox="1"/>
          <p:nvPr/>
        </p:nvSpPr>
        <p:spPr>
          <a:xfrm>
            <a:off x="343015" y="910994"/>
            <a:ext cx="9007462" cy="1938992"/>
          </a:xfrm>
          <a:prstGeom prst="rect">
            <a:avLst/>
          </a:prstGeom>
          <a:noFill/>
        </p:spPr>
        <p:txBody>
          <a:bodyPr wrap="square" rtlCol="0">
            <a:spAutoFit/>
          </a:bodyPr>
          <a:lstStyle/>
          <a:p>
            <a:r>
              <a:rPr lang="en-US" sz="2800" b="1" dirty="0">
                <a:latin typeface="Times New Roman"/>
                <a:cs typeface="Arial"/>
              </a:rPr>
              <a:t> </a:t>
            </a:r>
          </a:p>
          <a:p>
            <a:r>
              <a:rPr lang="en-US" sz="2800" b="1" dirty="0">
                <a:latin typeface="Times New Roman"/>
                <a:cs typeface="Arial"/>
              </a:rPr>
              <a:t>INTRODUCTION</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E1A17D99-8DA7-B2E0-5452-22D597BC3B1D}"/>
              </a:ext>
            </a:extLst>
          </p:cNvPr>
          <p:cNvPicPr>
            <a:picLocks noChangeAspect="1"/>
          </p:cNvPicPr>
          <p:nvPr/>
        </p:nvPicPr>
        <p:blipFill>
          <a:blip r:embed="rId3"/>
          <a:stretch>
            <a:fillRect/>
          </a:stretch>
        </p:blipFill>
        <p:spPr>
          <a:xfrm>
            <a:off x="10714935" y="0"/>
            <a:ext cx="1477065" cy="1251226"/>
          </a:xfrm>
          <a:prstGeom prst="rect">
            <a:avLst/>
          </a:prstGeom>
        </p:spPr>
      </p:pic>
      <p:sp>
        <p:nvSpPr>
          <p:cNvPr id="4" name="TextBox 3">
            <a:extLst>
              <a:ext uri="{FF2B5EF4-FFF2-40B4-BE49-F238E27FC236}">
                <a16:creationId xmlns:a16="http://schemas.microsoft.com/office/drawing/2014/main" id="{9F72D41A-D77C-1E41-3C08-8A1C0D2202FA}"/>
              </a:ext>
            </a:extLst>
          </p:cNvPr>
          <p:cNvSpPr txBox="1"/>
          <p:nvPr/>
        </p:nvSpPr>
        <p:spPr>
          <a:xfrm>
            <a:off x="343015" y="1880490"/>
            <a:ext cx="10899985" cy="3402855"/>
          </a:xfrm>
          <a:prstGeom prst="rect">
            <a:avLst/>
          </a:prstGeom>
          <a:noFill/>
        </p:spPr>
        <p:txBody>
          <a:bodyPr wrap="square">
            <a:spAutoFit/>
          </a:bodyPr>
          <a:lstStyle/>
          <a:p>
            <a:pPr algn="just"/>
            <a:endParaRPr lang="en-US" sz="1600" dirty="0"/>
          </a:p>
          <a:p>
            <a:pPr algn="just"/>
            <a:r>
              <a:rPr lang="en-US" dirty="0">
                <a:latin typeface="Times New Roman" panose="02020603050405020304" pitchFamily="18" charset="0"/>
                <a:cs typeface="Times New Roman" panose="02020603050405020304" pitchFamily="18" charset="0"/>
              </a:rPr>
              <a:t>Legal and financial documents are often lengthy and complex, making manual analysis slow and error-prone. This work presents an intelligent summarization system using advanced NLP and Transformer-based models. The system extracts text from PDFs and applies Sentence-BERT for extractive summarization, identifying key sentences, while BART generates abstractive, human-like summaries. </a:t>
            </a:r>
          </a:p>
          <a:p>
            <a:pPr algn="just"/>
            <a:endParaRPr lang="en-US" sz="1600" dirty="0"/>
          </a:p>
          <a:p>
            <a:pPr algn="just"/>
            <a:r>
              <a:rPr lang="en-US" dirty="0">
                <a:latin typeface="Times New Roman" panose="02020603050405020304" pitchFamily="18" charset="0"/>
                <a:cs typeface="Times New Roman" panose="02020603050405020304" pitchFamily="18" charset="0"/>
              </a:rPr>
              <a:t>Performance evaluation using ROUGE metrics, compression ratio, and sentence importance analysis shows improved accuracy and contextual relevance over traditional methods. An interactive web interface enables real-time document upload, summary generation, and visualization, significantly reducing review time, enhancing comprehension, and supporting efficient decision-making. The system is scalable and can be extended for domain-specific and multilingual applications in the future.</a:t>
            </a:r>
          </a:p>
          <a:p>
            <a:pPr algn="just">
              <a:lnSpc>
                <a:spcPct val="150000"/>
              </a:lnSpc>
              <a:buNone/>
            </a:pP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95152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EDD66-E985-6589-9EC8-F414089402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3C82FA-65C2-D15F-EC97-2283C824B33D}"/>
              </a:ext>
            </a:extLst>
          </p:cNvPr>
          <p:cNvSpPr txBox="1"/>
          <p:nvPr/>
        </p:nvSpPr>
        <p:spPr>
          <a:xfrm>
            <a:off x="323351" y="658936"/>
            <a:ext cx="9007462" cy="1938992"/>
          </a:xfrm>
          <a:prstGeom prst="rect">
            <a:avLst/>
          </a:prstGeom>
          <a:noFill/>
        </p:spPr>
        <p:txBody>
          <a:bodyPr wrap="square" rtlCol="0">
            <a:spAutoFit/>
          </a:bodyPr>
          <a:lstStyle/>
          <a:p>
            <a:r>
              <a:rPr lang="en-US" sz="2800" b="1" dirty="0">
                <a:latin typeface="Times New Roman"/>
                <a:cs typeface="Arial"/>
              </a:rPr>
              <a:t> </a:t>
            </a:r>
          </a:p>
          <a:p>
            <a:r>
              <a:rPr lang="en-US" sz="2800" b="1" dirty="0">
                <a:latin typeface="Times New Roman"/>
                <a:cs typeface="Arial"/>
              </a:rPr>
              <a:t>Existing System</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9EB3684E-26F8-F793-90DB-DBD85A001EC3}"/>
              </a:ext>
            </a:extLst>
          </p:cNvPr>
          <p:cNvPicPr>
            <a:picLocks noChangeAspect="1"/>
          </p:cNvPicPr>
          <p:nvPr/>
        </p:nvPicPr>
        <p:blipFill>
          <a:blip r:embed="rId3"/>
          <a:stretch>
            <a:fillRect/>
          </a:stretch>
        </p:blipFill>
        <p:spPr>
          <a:xfrm>
            <a:off x="10714935" y="33323"/>
            <a:ext cx="1477065" cy="1251226"/>
          </a:xfrm>
          <a:prstGeom prst="rect">
            <a:avLst/>
          </a:prstGeom>
        </p:spPr>
      </p:pic>
      <p:sp>
        <p:nvSpPr>
          <p:cNvPr id="4" name="TextBox 3">
            <a:extLst>
              <a:ext uri="{FF2B5EF4-FFF2-40B4-BE49-F238E27FC236}">
                <a16:creationId xmlns:a16="http://schemas.microsoft.com/office/drawing/2014/main" id="{509EC40A-6451-2D6B-9323-9A8495031129}"/>
              </a:ext>
            </a:extLst>
          </p:cNvPr>
          <p:cNvSpPr txBox="1"/>
          <p:nvPr/>
        </p:nvSpPr>
        <p:spPr>
          <a:xfrm>
            <a:off x="323351" y="1473209"/>
            <a:ext cx="10899985" cy="3323987"/>
          </a:xfrm>
          <a:prstGeom prst="rect">
            <a:avLst/>
          </a:prstGeom>
          <a:noFill/>
        </p:spPr>
        <p:txBody>
          <a:bodyPr wrap="square">
            <a:spAutoFit/>
          </a:bodyPr>
          <a:lstStyle/>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Existing legal and financial document summarization systems mainly rely on traditional NLP and statistical methods, using extractive techniques based on word frequency, TF-IDF, sentence position, or keyword matching. Approaches like rule-based summarization, LSA, and </a:t>
            </a:r>
            <a:r>
              <a:rPr lang="en-US" dirty="0" err="1">
                <a:latin typeface="Times New Roman" panose="02020603050405020304" pitchFamily="18" charset="0"/>
                <a:cs typeface="Times New Roman" panose="02020603050405020304" pitchFamily="18" charset="0"/>
              </a:rPr>
              <a:t>TextRank</a:t>
            </a:r>
            <a:r>
              <a:rPr lang="en-US" dirty="0">
                <a:latin typeface="Times New Roman" panose="02020603050405020304" pitchFamily="18" charset="0"/>
                <a:cs typeface="Times New Roman" panose="02020603050405020304" pitchFamily="18" charset="0"/>
              </a:rPr>
              <a:t> help reduce document length but lack semantic understanding, often producing disjointed and non-coherent summaries. </a:t>
            </a:r>
          </a:p>
          <a:p>
            <a:pPr algn="just"/>
            <a:endParaRPr lang="en-US" sz="1600" dirty="0"/>
          </a:p>
          <a:p>
            <a:pPr algn="just"/>
            <a:r>
              <a:rPr lang="en-US" dirty="0">
                <a:latin typeface="Times New Roman" panose="02020603050405020304" pitchFamily="18" charset="0"/>
                <a:cs typeface="Times New Roman" panose="02020603050405020304" pitchFamily="18" charset="0"/>
              </a:rPr>
              <a:t>Most tools are domain-independent, failing to capture critical legal or financial information such as obligations, conditions, and key decisions. Additionally, they typically do not provide performance evaluation metrics, visual insights, or interactive interfaces for document upload and analysis. Consequently, professionals like lawyers, financial analysts, and researchers continue to rely on manual reading, which is time-consuming, prone to errors, and limits efficiency.</a:t>
            </a:r>
          </a:p>
        </p:txBody>
      </p:sp>
    </p:spTree>
    <p:extLst>
      <p:ext uri="{BB962C8B-B14F-4D97-AF65-F5344CB8AC3E}">
        <p14:creationId xmlns:p14="http://schemas.microsoft.com/office/powerpoint/2010/main" val="261792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FCC5C-A088-BFFF-3095-F6EC6A16C8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CCE4F0-33A4-2A9F-C57B-E19008B361F8}"/>
              </a:ext>
            </a:extLst>
          </p:cNvPr>
          <p:cNvSpPr txBox="1"/>
          <p:nvPr/>
        </p:nvSpPr>
        <p:spPr>
          <a:xfrm>
            <a:off x="431506" y="550918"/>
            <a:ext cx="9007462" cy="1938992"/>
          </a:xfrm>
          <a:prstGeom prst="rect">
            <a:avLst/>
          </a:prstGeom>
          <a:noFill/>
        </p:spPr>
        <p:txBody>
          <a:bodyPr wrap="square" rtlCol="0">
            <a:spAutoFit/>
          </a:bodyPr>
          <a:lstStyle/>
          <a:p>
            <a:r>
              <a:rPr lang="en-US" sz="2800" b="1" dirty="0">
                <a:latin typeface="Times New Roman"/>
                <a:cs typeface="Arial"/>
              </a:rPr>
              <a:t> </a:t>
            </a:r>
          </a:p>
          <a:p>
            <a:r>
              <a:rPr lang="en-US" sz="2800" b="1" dirty="0">
                <a:latin typeface="Times New Roman"/>
                <a:cs typeface="Arial"/>
              </a:rPr>
              <a:t>Disadvantages</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E3880435-ED2E-8D36-DE46-39326435D7F0}"/>
              </a:ext>
            </a:extLst>
          </p:cNvPr>
          <p:cNvPicPr>
            <a:picLocks noChangeAspect="1"/>
          </p:cNvPicPr>
          <p:nvPr/>
        </p:nvPicPr>
        <p:blipFill>
          <a:blip r:embed="rId3"/>
          <a:stretch>
            <a:fillRect/>
          </a:stretch>
        </p:blipFill>
        <p:spPr>
          <a:xfrm>
            <a:off x="10714935" y="33323"/>
            <a:ext cx="1477065" cy="1251226"/>
          </a:xfrm>
          <a:prstGeom prst="rect">
            <a:avLst/>
          </a:prstGeom>
        </p:spPr>
      </p:pic>
      <p:sp>
        <p:nvSpPr>
          <p:cNvPr id="2" name="Rectangle 1">
            <a:extLst>
              <a:ext uri="{FF2B5EF4-FFF2-40B4-BE49-F238E27FC236}">
                <a16:creationId xmlns:a16="http://schemas.microsoft.com/office/drawing/2014/main" id="{91B438CE-99E4-3FA5-88CD-62D564FD7C5C}"/>
              </a:ext>
            </a:extLst>
          </p:cNvPr>
          <p:cNvSpPr>
            <a:spLocks noChangeArrowheads="1"/>
          </p:cNvSpPr>
          <p:nvPr/>
        </p:nvSpPr>
        <p:spPr bwMode="auto">
          <a:xfrm>
            <a:off x="431506" y="1648342"/>
            <a:ext cx="9007462"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Relies mainly on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keyword-based and statistical extractive methods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Lacks semantic and contextual understanding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 legal and financial text.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non-coherent summaries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copying sentences directly.</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 critical legal clauses and financial obligations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generate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human-like abstractive summaries.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domain-specific,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leading to poor handling of complex terminology.</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evaluation metrics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measure summary accuracy.</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interaction and visualization support.</a:t>
            </a:r>
          </a:p>
        </p:txBody>
      </p:sp>
    </p:spTree>
    <p:extLst>
      <p:ext uri="{BB962C8B-B14F-4D97-AF65-F5344CB8AC3E}">
        <p14:creationId xmlns:p14="http://schemas.microsoft.com/office/powerpoint/2010/main" val="4141982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B8459-7765-E294-CA8C-65C277C532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3F6AF9-6A70-02FA-9998-179BC4CEE46E}"/>
              </a:ext>
            </a:extLst>
          </p:cNvPr>
          <p:cNvSpPr txBox="1"/>
          <p:nvPr/>
        </p:nvSpPr>
        <p:spPr>
          <a:xfrm>
            <a:off x="480666" y="520511"/>
            <a:ext cx="10433139" cy="5816977"/>
          </a:xfrm>
          <a:prstGeom prst="rect">
            <a:avLst/>
          </a:prstGeom>
          <a:noFill/>
        </p:spPr>
        <p:txBody>
          <a:bodyPr wrap="square" rtlCol="0">
            <a:spAutoFit/>
          </a:bodyPr>
          <a:lstStyle/>
          <a:p>
            <a:pPr algn="just"/>
            <a:r>
              <a:rPr lang="en-US" sz="2800" b="1" dirty="0">
                <a:latin typeface="Times New Roman"/>
                <a:cs typeface="Arial"/>
              </a:rPr>
              <a:t> </a:t>
            </a:r>
          </a:p>
          <a:p>
            <a:pPr algn="just"/>
            <a:r>
              <a:rPr lang="en-US" sz="2800" b="1" dirty="0">
                <a:latin typeface="Times New Roman"/>
                <a:cs typeface="Arial"/>
              </a:rPr>
              <a:t>Proposed System</a:t>
            </a:r>
          </a:p>
          <a:p>
            <a:pPr algn="just"/>
            <a:endParaRPr lang="en-US" sz="2800" b="1" dirty="0">
              <a:latin typeface="Times New Roman"/>
              <a:cs typeface="Arial"/>
            </a:endParaRPr>
          </a:p>
          <a:p>
            <a:pPr algn="just"/>
            <a:r>
              <a:rPr lang="en-US" sz="1800" dirty="0">
                <a:latin typeface="Times New Roman"/>
                <a:cs typeface="Arial"/>
              </a:rPr>
              <a:t>​</a:t>
            </a:r>
            <a:r>
              <a:rPr lang="en-US" dirty="0">
                <a:latin typeface="Times New Roman" panose="02020603050405020304" pitchFamily="18" charset="0"/>
                <a:cs typeface="Times New Roman" panose="02020603050405020304" pitchFamily="18" charset="0"/>
              </a:rPr>
              <a:t>The proposed system, Legal and Financial Document Summarizer using NLP and AI Models, is designed to overcome the limitations of traditional summarization methods by using advanced Natural Language Processing (NLP) and Transformer-based deep learning models. The system performs extractive summarization using Sentence-BERT, which ranks sentences based on semantic similarity and contextual importance.</a:t>
            </a:r>
          </a:p>
          <a:p>
            <a:pPr algn="just"/>
            <a:endParaRPr lang="en-US" dirty="0"/>
          </a:p>
          <a:p>
            <a:pPr algn="just"/>
            <a:r>
              <a:rPr lang="en-US" dirty="0">
                <a:latin typeface="Times New Roman" panose="02020603050405020304" pitchFamily="18" charset="0"/>
                <a:cs typeface="Times New Roman" panose="02020603050405020304" pitchFamily="18" charset="0"/>
              </a:rPr>
              <a:t>In addition, the system applies abstractive summarization using the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BART Transformer model to generate coherent and human-like summaries while preserving the original meaning of the document. The system supports automatic PDF upload and text extraction, making it easy to process large legal and financial documents.</a:t>
            </a:r>
          </a:p>
          <a:p>
            <a:pPr algn="just"/>
            <a:endParaRPr lang="en-US" dirty="0"/>
          </a:p>
          <a:p>
            <a:pPr algn="just"/>
            <a:r>
              <a:rPr lang="en-US" dirty="0">
                <a:latin typeface="Times New Roman" panose="02020603050405020304" pitchFamily="18" charset="0"/>
                <a:cs typeface="Times New Roman" panose="02020603050405020304" pitchFamily="18" charset="0"/>
              </a:rPr>
              <a:t>It also provides visual analytics such as sentence importance ranking, text compression comparison, and ROUGE evaluation metrics to measure summary quality. A user-friendly web interface allows users to view summaries and download structured PDF reports, helping legal professionals and financial analysts save time and improve productivity.</a:t>
            </a:r>
          </a:p>
          <a:p>
            <a:pPr algn="just"/>
            <a:endParaRPr lang="en-US" sz="1800" dirty="0">
              <a:latin typeface="Times New Roman"/>
              <a:cs typeface="Arial"/>
            </a:endParaRPr>
          </a:p>
          <a:p>
            <a:pPr algn="just"/>
            <a:endParaRPr lang="en-IN" dirty="0"/>
          </a:p>
        </p:txBody>
      </p:sp>
      <p:pic>
        <p:nvPicPr>
          <p:cNvPr id="6" name="Content Placeholder 3" descr="A logo with a flower&#10;&#10;Description automatically generated">
            <a:extLst>
              <a:ext uri="{FF2B5EF4-FFF2-40B4-BE49-F238E27FC236}">
                <a16:creationId xmlns:a16="http://schemas.microsoft.com/office/drawing/2014/main" id="{21BBBCD7-D8CC-A0B4-4B28-EEAB6F2F27E6}"/>
              </a:ext>
            </a:extLst>
          </p:cNvPr>
          <p:cNvPicPr>
            <a:picLocks noChangeAspect="1"/>
          </p:cNvPicPr>
          <p:nvPr/>
        </p:nvPicPr>
        <p:blipFill>
          <a:blip r:embed="rId3"/>
          <a:stretch>
            <a:fillRect/>
          </a:stretch>
        </p:blipFill>
        <p:spPr>
          <a:xfrm>
            <a:off x="10714935" y="33323"/>
            <a:ext cx="1477065" cy="1251226"/>
          </a:xfrm>
          <a:prstGeom prst="rect">
            <a:avLst/>
          </a:prstGeom>
        </p:spPr>
      </p:pic>
    </p:spTree>
    <p:extLst>
      <p:ext uri="{BB962C8B-B14F-4D97-AF65-F5344CB8AC3E}">
        <p14:creationId xmlns:p14="http://schemas.microsoft.com/office/powerpoint/2010/main" val="2697779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E4CA0-2BEC-9CED-7F52-ABFF0E6D82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EE4202-C96F-30CD-BB5A-3D0BD290390B}"/>
              </a:ext>
            </a:extLst>
          </p:cNvPr>
          <p:cNvSpPr txBox="1"/>
          <p:nvPr/>
        </p:nvSpPr>
        <p:spPr>
          <a:xfrm>
            <a:off x="451171" y="658936"/>
            <a:ext cx="8692830" cy="1938992"/>
          </a:xfrm>
          <a:prstGeom prst="rect">
            <a:avLst/>
          </a:prstGeom>
          <a:noFill/>
        </p:spPr>
        <p:txBody>
          <a:bodyPr wrap="square" rtlCol="0">
            <a:spAutoFit/>
          </a:bodyPr>
          <a:lstStyle/>
          <a:p>
            <a:r>
              <a:rPr lang="en-US" sz="2800" b="1" dirty="0">
                <a:latin typeface="Times New Roman"/>
                <a:cs typeface="Arial"/>
              </a:rPr>
              <a:t> </a:t>
            </a:r>
          </a:p>
          <a:p>
            <a:r>
              <a:rPr lang="en-US" sz="2800" b="1" dirty="0">
                <a:latin typeface="Times New Roman"/>
                <a:cs typeface="Arial"/>
              </a:rPr>
              <a:t>Advantages</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CB2AD4BA-C2B0-B3C1-0C6C-A62A19D4AA25}"/>
              </a:ext>
            </a:extLst>
          </p:cNvPr>
          <p:cNvPicPr>
            <a:picLocks noChangeAspect="1"/>
          </p:cNvPicPr>
          <p:nvPr/>
        </p:nvPicPr>
        <p:blipFill>
          <a:blip r:embed="rId3"/>
          <a:stretch>
            <a:fillRect/>
          </a:stretch>
        </p:blipFill>
        <p:spPr>
          <a:xfrm>
            <a:off x="10714935" y="33323"/>
            <a:ext cx="1477065" cy="1251226"/>
          </a:xfrm>
          <a:prstGeom prst="rect">
            <a:avLst/>
          </a:prstGeom>
        </p:spPr>
      </p:pic>
      <p:sp>
        <p:nvSpPr>
          <p:cNvPr id="7" name="Rectangle 3">
            <a:extLst>
              <a:ext uri="{FF2B5EF4-FFF2-40B4-BE49-F238E27FC236}">
                <a16:creationId xmlns:a16="http://schemas.microsoft.com/office/drawing/2014/main" id="{2B36858C-1829-CD47-3D1B-14053F267B1C}"/>
              </a:ext>
            </a:extLst>
          </p:cNvPr>
          <p:cNvSpPr>
            <a:spLocks noChangeArrowheads="1"/>
          </p:cNvSpPr>
          <p:nvPr/>
        </p:nvSpPr>
        <p:spPr bwMode="auto">
          <a:xfrm>
            <a:off x="281283" y="1510858"/>
            <a:ext cx="9440533" cy="364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2"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both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extractive and abstractive summaries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clarity and readability.</a:t>
            </a:r>
          </a:p>
          <a:p>
            <a:pPr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Uses advanced NLP and Transformer-based models for accurate and context-aware summarization.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Preserves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legal clauses and financial insights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without information loss.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ROUGE evaluation metrics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measure summary accuracy and performance.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analytics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such as sentence importance and compression comparison.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PDF upload and text extraction,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reducing manual effort.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web interface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easy interaction and report download.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for future enhancements like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multilingual and domain-specific summarization.</a:t>
            </a:r>
          </a:p>
        </p:txBody>
      </p:sp>
    </p:spTree>
    <p:extLst>
      <p:ext uri="{BB962C8B-B14F-4D97-AF65-F5344CB8AC3E}">
        <p14:creationId xmlns:p14="http://schemas.microsoft.com/office/powerpoint/2010/main" val="37676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45B8EA-5964-E85C-DE6D-5C3BE628743E}"/>
              </a:ext>
            </a:extLst>
          </p:cNvPr>
          <p:cNvSpPr txBox="1"/>
          <p:nvPr/>
        </p:nvSpPr>
        <p:spPr>
          <a:xfrm>
            <a:off x="1176042" y="1418869"/>
            <a:ext cx="9839915" cy="498663"/>
          </a:xfrm>
          <a:prstGeom prst="rect">
            <a:avLst/>
          </a:prstGeom>
          <a:noFill/>
        </p:spPr>
        <p:txBody>
          <a:bodyPr wrap="square" rtlCol="0">
            <a:sp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C7C0D8D-08A4-AE27-8575-2AD4E65D6B45}"/>
              </a:ext>
            </a:extLst>
          </p:cNvPr>
          <p:cNvSpPr txBox="1"/>
          <p:nvPr/>
        </p:nvSpPr>
        <p:spPr>
          <a:xfrm>
            <a:off x="682907" y="531646"/>
            <a:ext cx="6474447"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Hardware &amp; Software Requirements</a:t>
            </a:r>
            <a:endParaRPr lang="en-IN" sz="2800" dirty="0">
              <a:latin typeface="Times New Roman" panose="02020603050405020304" pitchFamily="18" charset="0"/>
              <a:cs typeface="Times New Roman" panose="02020603050405020304" pitchFamily="18" charset="0"/>
            </a:endParaRPr>
          </a:p>
        </p:txBody>
      </p:sp>
      <p:pic>
        <p:nvPicPr>
          <p:cNvPr id="5" name="Content Placeholder 3" descr="A logo with a flower&#10;&#10;Description automatically generated">
            <a:extLst>
              <a:ext uri="{FF2B5EF4-FFF2-40B4-BE49-F238E27FC236}">
                <a16:creationId xmlns:a16="http://schemas.microsoft.com/office/drawing/2014/main" id="{30B7D960-525E-6B68-B253-AEADA9287E73}"/>
              </a:ext>
            </a:extLst>
          </p:cNvPr>
          <p:cNvPicPr>
            <a:picLocks noChangeAspect="1"/>
          </p:cNvPicPr>
          <p:nvPr/>
        </p:nvPicPr>
        <p:blipFill>
          <a:blip r:embed="rId2"/>
          <a:stretch>
            <a:fillRect/>
          </a:stretch>
        </p:blipFill>
        <p:spPr>
          <a:xfrm>
            <a:off x="10643238" y="244259"/>
            <a:ext cx="1477065" cy="1251226"/>
          </a:xfrm>
          <a:prstGeom prst="rect">
            <a:avLst/>
          </a:prstGeom>
        </p:spPr>
      </p:pic>
      <p:sp>
        <p:nvSpPr>
          <p:cNvPr id="8" name="TextBox 7">
            <a:extLst>
              <a:ext uri="{FF2B5EF4-FFF2-40B4-BE49-F238E27FC236}">
                <a16:creationId xmlns:a16="http://schemas.microsoft.com/office/drawing/2014/main" id="{E5ACCC0F-854C-BDF3-8C68-DA8254DBA208}"/>
              </a:ext>
            </a:extLst>
          </p:cNvPr>
          <p:cNvSpPr txBox="1"/>
          <p:nvPr/>
        </p:nvSpPr>
        <p:spPr>
          <a:xfrm>
            <a:off x="682907" y="1054866"/>
            <a:ext cx="10995949" cy="590931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SOFTWARE REQUIREMENTS</a:t>
            </a:r>
          </a:p>
          <a:p>
            <a:r>
              <a:rPr lang="en-IN" dirty="0">
                <a:latin typeface="Times New Roman" panose="02020603050405020304" pitchFamily="18" charset="0"/>
                <a:cs typeface="Times New Roman" panose="02020603050405020304" pitchFamily="18" charset="0"/>
              </a:rPr>
              <a:t>Operating System : Windows 10 / Windows 11 / Linux</a:t>
            </a:r>
          </a:p>
          <a:p>
            <a:r>
              <a:rPr lang="en-IN" dirty="0">
                <a:latin typeface="Times New Roman" panose="02020603050405020304" pitchFamily="18" charset="0"/>
                <a:cs typeface="Times New Roman" panose="02020603050405020304" pitchFamily="18" charset="0"/>
              </a:rPr>
              <a:t>Programming Language : Python 3.8 or above</a:t>
            </a:r>
          </a:p>
          <a:p>
            <a:r>
              <a:rPr lang="en-IN" dirty="0">
                <a:latin typeface="Times New Roman" panose="02020603050405020304" pitchFamily="18" charset="0"/>
                <a:cs typeface="Times New Roman" panose="02020603050405020304" pitchFamily="18" charset="0"/>
              </a:rPr>
              <a:t>Front-End : </a:t>
            </a:r>
            <a:r>
              <a:rPr lang="en-IN" dirty="0" err="1">
                <a:latin typeface="Times New Roman" panose="02020603050405020304" pitchFamily="18" charset="0"/>
                <a:cs typeface="Times New Roman" panose="02020603050405020304" pitchFamily="18" charset="0"/>
              </a:rPr>
              <a:t>Streamlit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Back-End : Python</a:t>
            </a:r>
          </a:p>
          <a:p>
            <a:r>
              <a:rPr lang="en-IN" dirty="0">
                <a:latin typeface="Times New Roman" panose="02020603050405020304" pitchFamily="18" charset="0"/>
                <a:cs typeface="Times New Roman" panose="02020603050405020304" pitchFamily="18" charset="0"/>
              </a:rPr>
              <a:t>Libraries &amp; Frameworks :</a:t>
            </a:r>
          </a:p>
          <a:p>
            <a:pPr lvl="1"/>
            <a:r>
              <a:rPr lang="en-IN" dirty="0">
                <a:latin typeface="Times New Roman" panose="02020603050405020304" pitchFamily="18" charset="0"/>
                <a:cs typeface="Times New Roman" panose="02020603050405020304" pitchFamily="18" charset="0"/>
              </a:rPr>
              <a:t>NLP: NLTK, Sentence-Transformers</a:t>
            </a:r>
          </a:p>
          <a:p>
            <a:pPr lvl="1"/>
            <a:r>
              <a:rPr lang="en-IN" dirty="0">
                <a:latin typeface="Times New Roman" panose="02020603050405020304" pitchFamily="18" charset="0"/>
                <a:cs typeface="Times New Roman" panose="02020603050405020304" pitchFamily="18" charset="0"/>
              </a:rPr>
              <a:t>Deep Learning: Hugging Face Transformers (BART)</a:t>
            </a:r>
          </a:p>
          <a:p>
            <a:pPr lvl="1"/>
            <a:r>
              <a:rPr lang="en-IN" dirty="0">
                <a:latin typeface="Times New Roman" panose="02020603050405020304" pitchFamily="18" charset="0"/>
                <a:cs typeface="Times New Roman" panose="02020603050405020304" pitchFamily="18" charset="0"/>
              </a:rPr>
              <a:t>PDF Processing: </a:t>
            </a:r>
            <a:r>
              <a:rPr lang="en-IN" dirty="0" err="1">
                <a:latin typeface="Times New Roman" panose="02020603050405020304" pitchFamily="18" charset="0"/>
                <a:cs typeface="Times New Roman" panose="02020603050405020304" pitchFamily="18" charset="0"/>
              </a:rPr>
              <a:t>PyMuPDF</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fitz</a:t>
            </a:r>
            <a:r>
              <a:rPr lang="en-IN" dirty="0">
                <a:latin typeface="Times New Roman" panose="02020603050405020304" pitchFamily="18" charset="0"/>
                <a:cs typeface="Times New Roman" panose="02020603050405020304" pitchFamily="18" charset="0"/>
              </a:rPr>
              <a:t>), FPDF</a:t>
            </a:r>
          </a:p>
          <a:p>
            <a:pPr lvl="1"/>
            <a:r>
              <a:rPr lang="en-IN" dirty="0">
                <a:latin typeface="Times New Roman" panose="02020603050405020304" pitchFamily="18" charset="0"/>
                <a:cs typeface="Times New Roman" panose="02020603050405020304" pitchFamily="18" charset="0"/>
              </a:rPr>
              <a:t>Data Handling: NumPy, Pandas</a:t>
            </a:r>
          </a:p>
          <a:p>
            <a:pPr lvl="1"/>
            <a:r>
              <a:rPr lang="en-IN" dirty="0">
                <a:latin typeface="Times New Roman" panose="02020603050405020304" pitchFamily="18" charset="0"/>
                <a:cs typeface="Times New Roman" panose="02020603050405020304" pitchFamily="18" charset="0"/>
              </a:rPr>
              <a:t>Visualization: Matplotlib, Seaborn</a:t>
            </a:r>
          </a:p>
          <a:p>
            <a:r>
              <a:rPr lang="en-IN" dirty="0">
                <a:latin typeface="Times New Roman" panose="02020603050405020304" pitchFamily="18" charset="0"/>
                <a:cs typeface="Times New Roman" panose="02020603050405020304" pitchFamily="18" charset="0"/>
              </a:rPr>
              <a:t>Development Environment : VS Code / PyCharm /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a:t>
            </a:r>
          </a:p>
          <a:p>
            <a:endParaRPr lang="en-US" dirty="0"/>
          </a:p>
          <a:p>
            <a:r>
              <a:rPr lang="en-IN" b="1" dirty="0">
                <a:latin typeface="Times New Roman" panose="02020603050405020304" pitchFamily="18" charset="0"/>
                <a:cs typeface="Times New Roman" panose="02020603050405020304" pitchFamily="18" charset="0"/>
              </a:rPr>
              <a:t>HARDWARE REQUIREMENTS</a:t>
            </a:r>
          </a:p>
          <a:p>
            <a:r>
              <a:rPr lang="en-IN" dirty="0">
                <a:latin typeface="Times New Roman" panose="02020603050405020304" pitchFamily="18" charset="0"/>
                <a:cs typeface="Times New Roman" panose="02020603050405020304" pitchFamily="18" charset="0"/>
              </a:rPr>
              <a:t>Processor : Intel i5 / AMD </a:t>
            </a:r>
            <a:r>
              <a:rPr lang="en-IN" dirty="0" err="1">
                <a:latin typeface="Times New Roman" panose="02020603050405020304" pitchFamily="18" charset="0"/>
                <a:cs typeface="Times New Roman" panose="02020603050405020304" pitchFamily="18" charset="0"/>
              </a:rPr>
              <a:t>Ryzen</a:t>
            </a:r>
            <a:r>
              <a:rPr lang="en-IN" dirty="0">
                <a:latin typeface="Times New Roman" panose="02020603050405020304" pitchFamily="18" charset="0"/>
                <a:cs typeface="Times New Roman" panose="02020603050405020304" pitchFamily="18" charset="0"/>
              </a:rPr>
              <a:t> 5 or higher</a:t>
            </a:r>
          </a:p>
          <a:p>
            <a:r>
              <a:rPr lang="en-IN" dirty="0">
                <a:latin typeface="Times New Roman" panose="02020603050405020304" pitchFamily="18" charset="0"/>
                <a:cs typeface="Times New Roman" panose="02020603050405020304" pitchFamily="18" charset="0"/>
              </a:rPr>
              <a:t>RAM : Minimum 8 GB (16 GB recommended for faster processing)</a:t>
            </a:r>
          </a:p>
          <a:p>
            <a:r>
              <a:rPr lang="en-IN" dirty="0">
                <a:latin typeface="Times New Roman" panose="02020603050405020304" pitchFamily="18" charset="0"/>
                <a:cs typeface="Times New Roman" panose="02020603050405020304" pitchFamily="18" charset="0"/>
              </a:rPr>
              <a:t>Hard Disk : Minimum 20 GB free space</a:t>
            </a:r>
          </a:p>
          <a:p>
            <a:r>
              <a:rPr lang="en-IN" dirty="0">
                <a:latin typeface="Times New Roman" panose="02020603050405020304" pitchFamily="18" charset="0"/>
                <a:cs typeface="Times New Roman" panose="02020603050405020304" pitchFamily="18" charset="0"/>
              </a:rPr>
              <a:t>Input Devices : Standard Keyboard and Mouse</a:t>
            </a:r>
          </a:p>
          <a:p>
            <a:r>
              <a:rPr lang="en-IN" dirty="0">
                <a:latin typeface="Times New Roman" panose="02020603050405020304" pitchFamily="18" charset="0"/>
                <a:cs typeface="Times New Roman" panose="02020603050405020304" pitchFamily="18" charset="0"/>
              </a:rPr>
              <a:t>Display : Minimum 1366 × 768 resolution</a:t>
            </a:r>
          </a:p>
          <a:p>
            <a:endParaRPr lang="en-US"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8485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EBB89F-4EC7-6EE2-3A93-D687E9295918}"/>
              </a:ext>
            </a:extLst>
          </p:cNvPr>
          <p:cNvSpPr txBox="1"/>
          <p:nvPr/>
        </p:nvSpPr>
        <p:spPr>
          <a:xfrm>
            <a:off x="686031" y="734694"/>
            <a:ext cx="9851923" cy="1368067"/>
          </a:xfrm>
          <a:prstGeom prst="rect">
            <a:avLst/>
          </a:prstGeom>
          <a:noFill/>
        </p:spPr>
        <p:txBody>
          <a:bodyPr wrap="square" rtlCol="0">
            <a:spAutoFit/>
          </a:bodyPr>
          <a:lstStyle/>
          <a:p>
            <a:pPr algn="just">
              <a:lnSpc>
                <a:spcPct val="200000"/>
              </a:lnSpc>
              <a:buNone/>
            </a:pPr>
            <a:r>
              <a:rPr lang="en-US" sz="2800" b="1" dirty="0">
                <a:latin typeface="Times New Roman" panose="02020603050405020304" pitchFamily="18" charset="0"/>
                <a:cs typeface="Times New Roman" panose="02020603050405020304" pitchFamily="18" charset="0"/>
              </a:rPr>
              <a:t> NOVELTY</a:t>
            </a:r>
          </a:p>
          <a:p>
            <a:pPr algn="just">
              <a:lnSpc>
                <a:spcPct val="150000"/>
              </a:lnSpc>
            </a:pPr>
            <a:endParaRPr lang="en-US" sz="2000" dirty="0"/>
          </a:p>
        </p:txBody>
      </p:sp>
      <p:pic>
        <p:nvPicPr>
          <p:cNvPr id="2" name="Content Placeholder 3" descr="A logo with a flower&#10;&#10;Description automatically generated">
            <a:extLst>
              <a:ext uri="{FF2B5EF4-FFF2-40B4-BE49-F238E27FC236}">
                <a16:creationId xmlns:a16="http://schemas.microsoft.com/office/drawing/2014/main" id="{9A3D3A46-0754-AF47-B350-86576370BFE6}"/>
              </a:ext>
            </a:extLst>
          </p:cNvPr>
          <p:cNvPicPr>
            <a:picLocks noChangeAspect="1"/>
          </p:cNvPicPr>
          <p:nvPr/>
        </p:nvPicPr>
        <p:blipFill>
          <a:blip r:embed="rId2"/>
          <a:stretch>
            <a:fillRect/>
          </a:stretch>
        </p:blipFill>
        <p:spPr>
          <a:xfrm>
            <a:off x="10714935" y="9832"/>
            <a:ext cx="1477065" cy="1251226"/>
          </a:xfrm>
          <a:prstGeom prst="rect">
            <a:avLst/>
          </a:prstGeom>
        </p:spPr>
      </p:pic>
      <p:sp>
        <p:nvSpPr>
          <p:cNvPr id="5" name="TextBox 4">
            <a:extLst>
              <a:ext uri="{FF2B5EF4-FFF2-40B4-BE49-F238E27FC236}">
                <a16:creationId xmlns:a16="http://schemas.microsoft.com/office/drawing/2014/main" id="{015B8A68-C08C-6180-9580-B0A9F754867E}"/>
              </a:ext>
            </a:extLst>
          </p:cNvPr>
          <p:cNvSpPr txBox="1"/>
          <p:nvPr/>
        </p:nvSpPr>
        <p:spPr>
          <a:xfrm>
            <a:off x="782091" y="1909987"/>
            <a:ext cx="10013764" cy="369331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novelty of this project lies in combining extractive and abstractive summarization specifically for legal and financial documents using advanced NLP and Transformer-based models. Sentence-BERT captures semantic similarity to rank sentences by contextual importance, while BART generates coherent, human-like summaries that preserve the meaning of complex clauses and financial statements.</a:t>
            </a:r>
          </a:p>
          <a:p>
            <a:pPr algn="just"/>
            <a:endParaRPr lang="en-US" dirty="0"/>
          </a:p>
          <a:p>
            <a:pPr algn="just"/>
            <a:r>
              <a:rPr lang="en-US" dirty="0">
                <a:latin typeface="Times New Roman" panose="02020603050405020304" pitchFamily="18" charset="0"/>
                <a:cs typeface="Times New Roman" panose="02020603050405020304" pitchFamily="18" charset="0"/>
              </a:rPr>
              <a:t> The system provides visual analytics, including sentence importance ranking, compression comparison, and ROUGE evaluation metrics, enabling users to assess summary quality and accuracy. A user-friendly web interface allows PDF uploads, real-time summary generation, result analysis, and structured report downloads.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By integrating context-aware summarization, performance evaluation, and interactive visualization, this system offers a more accurate, efficient, and practical solution than existing document summarization tools. It is also scalable for domain-specific and multilingual applications in the future.</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975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2939E4CA-5685-6CE4-535F-046C7E2F3D5E}"/>
              </a:ext>
            </a:extLst>
          </p:cNvPr>
          <p:cNvPicPr>
            <a:picLocks noChangeAspect="1"/>
          </p:cNvPicPr>
          <p:nvPr/>
        </p:nvPicPr>
        <p:blipFill>
          <a:blip r:embed="rId2"/>
          <a:stretch>
            <a:fillRect/>
          </a:stretch>
        </p:blipFill>
        <p:spPr>
          <a:xfrm>
            <a:off x="10714935" y="0"/>
            <a:ext cx="1477065" cy="1251226"/>
          </a:xfrm>
          <a:prstGeom prst="rect">
            <a:avLst/>
          </a:prstGeom>
        </p:spPr>
      </p:pic>
      <p:sp>
        <p:nvSpPr>
          <p:cNvPr id="3" name="TextBox 2">
            <a:extLst>
              <a:ext uri="{FF2B5EF4-FFF2-40B4-BE49-F238E27FC236}">
                <a16:creationId xmlns:a16="http://schemas.microsoft.com/office/drawing/2014/main" id="{038FA628-A18C-5D96-F86D-AA3BB3FD4824}"/>
              </a:ext>
            </a:extLst>
          </p:cNvPr>
          <p:cNvSpPr txBox="1"/>
          <p:nvPr/>
        </p:nvSpPr>
        <p:spPr>
          <a:xfrm>
            <a:off x="612842" y="53119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 Architecture​</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4F63156-A072-B95D-4196-9982CB71943A}"/>
              </a:ext>
            </a:extLst>
          </p:cNvPr>
          <p:cNvPicPr>
            <a:picLocks noChangeAspect="1"/>
          </p:cNvPicPr>
          <p:nvPr/>
        </p:nvPicPr>
        <p:blipFill>
          <a:blip r:embed="rId3"/>
          <a:stretch>
            <a:fillRect/>
          </a:stretch>
        </p:blipFill>
        <p:spPr>
          <a:xfrm>
            <a:off x="986468" y="1676190"/>
            <a:ext cx="8324681" cy="4166477"/>
          </a:xfrm>
          <a:prstGeom prst="rect">
            <a:avLst/>
          </a:prstGeom>
        </p:spPr>
      </p:pic>
    </p:spTree>
    <p:extLst>
      <p:ext uri="{BB962C8B-B14F-4D97-AF65-F5344CB8AC3E}">
        <p14:creationId xmlns:p14="http://schemas.microsoft.com/office/powerpoint/2010/main" val="1804673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56C7-2731-E189-9A15-BC557D823B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B556C8-C463-E648-BBE3-5684BA722170}"/>
              </a:ext>
            </a:extLst>
          </p:cNvPr>
          <p:cNvSpPr txBox="1"/>
          <p:nvPr/>
        </p:nvSpPr>
        <p:spPr>
          <a:xfrm>
            <a:off x="753453" y="282410"/>
            <a:ext cx="9851923" cy="1368067"/>
          </a:xfrm>
          <a:prstGeom prst="rect">
            <a:avLst/>
          </a:prstGeom>
          <a:noFill/>
        </p:spPr>
        <p:txBody>
          <a:bodyPr wrap="square" rtlCol="0">
            <a:spAutoFit/>
          </a:bodyPr>
          <a:lstStyle/>
          <a:p>
            <a:pPr algn="just">
              <a:lnSpc>
                <a:spcPct val="200000"/>
              </a:lnSpc>
              <a:buNone/>
            </a:pPr>
            <a:r>
              <a:rPr lang="en-US" sz="2800" b="1" dirty="0">
                <a:latin typeface="Times New Roman" panose="02020603050405020304" pitchFamily="18" charset="0"/>
                <a:cs typeface="Times New Roman" panose="02020603050405020304" pitchFamily="18" charset="0"/>
              </a:rPr>
              <a:t> MODULES</a:t>
            </a:r>
          </a:p>
          <a:p>
            <a:pPr algn="just">
              <a:lnSpc>
                <a:spcPct val="150000"/>
              </a:lnSpc>
            </a:pPr>
            <a:endParaRPr lang="en-US" sz="2000" dirty="0"/>
          </a:p>
        </p:txBody>
      </p:sp>
      <p:pic>
        <p:nvPicPr>
          <p:cNvPr id="2" name="Content Placeholder 3" descr="A logo with a flower&#10;&#10;Description automatically generated">
            <a:extLst>
              <a:ext uri="{FF2B5EF4-FFF2-40B4-BE49-F238E27FC236}">
                <a16:creationId xmlns:a16="http://schemas.microsoft.com/office/drawing/2014/main" id="{F782C7D3-4D17-168E-B933-3332A1C13B12}"/>
              </a:ext>
            </a:extLst>
          </p:cNvPr>
          <p:cNvPicPr>
            <a:picLocks noChangeAspect="1"/>
          </p:cNvPicPr>
          <p:nvPr/>
        </p:nvPicPr>
        <p:blipFill>
          <a:blip r:embed="rId2"/>
          <a:stretch>
            <a:fillRect/>
          </a:stretch>
        </p:blipFill>
        <p:spPr>
          <a:xfrm>
            <a:off x="10714935" y="9832"/>
            <a:ext cx="1477065" cy="1251226"/>
          </a:xfrm>
          <a:prstGeom prst="rect">
            <a:avLst/>
          </a:prstGeom>
        </p:spPr>
      </p:pic>
      <p:sp>
        <p:nvSpPr>
          <p:cNvPr id="5" name="TextBox 4">
            <a:extLst>
              <a:ext uri="{FF2B5EF4-FFF2-40B4-BE49-F238E27FC236}">
                <a16:creationId xmlns:a16="http://schemas.microsoft.com/office/drawing/2014/main" id="{1A57B5CC-8F6C-5195-80D9-92C021206431}"/>
              </a:ext>
            </a:extLst>
          </p:cNvPr>
          <p:cNvSpPr txBox="1"/>
          <p:nvPr/>
        </p:nvSpPr>
        <p:spPr>
          <a:xfrm>
            <a:off x="753453" y="1261058"/>
            <a:ext cx="10013764" cy="535531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 Document Upload and Text Extraction Module</a:t>
            </a:r>
          </a:p>
          <a:p>
            <a:r>
              <a:rPr lang="en-IN" dirty="0">
                <a:latin typeface="Times New Roman" panose="02020603050405020304" pitchFamily="18" charset="0"/>
                <a:cs typeface="Times New Roman" panose="02020603050405020304" pitchFamily="18" charset="0"/>
              </a:rPr>
              <a:t>Allows users to upload PDF documents and extracts readable text for processing.</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Extractive Summarization Module</a:t>
            </a:r>
          </a:p>
          <a:p>
            <a:r>
              <a:rPr lang="en-IN" dirty="0">
                <a:latin typeface="Times New Roman" panose="02020603050405020304" pitchFamily="18" charset="0"/>
                <a:cs typeface="Times New Roman" panose="02020603050405020304" pitchFamily="18" charset="0"/>
              </a:rPr>
              <a:t>Identifies and ranks important sentences using NLP and Sentence-BERT embeddings.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 Abstractive Summarization Module</a:t>
            </a:r>
          </a:p>
          <a:p>
            <a:r>
              <a:rPr lang="en-IN" dirty="0">
                <a:latin typeface="Times New Roman" panose="02020603050405020304" pitchFamily="18" charset="0"/>
                <a:cs typeface="Times New Roman" panose="02020603050405020304" pitchFamily="18" charset="0"/>
              </a:rPr>
              <a:t>Generates concise, human-like summaries using the BART Transformer model.</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Visualization and Analytics Module</a:t>
            </a:r>
          </a:p>
          <a:p>
            <a:r>
              <a:rPr lang="en-IN" dirty="0">
                <a:latin typeface="Times New Roman" panose="02020603050405020304" pitchFamily="18" charset="0"/>
                <a:cs typeface="Times New Roman" panose="02020603050405020304" pitchFamily="18" charset="0"/>
              </a:rPr>
              <a:t>Displays sentence importance, compression ratio, and ROUGE evaluation metrics.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 PDF Report Generation Module</a:t>
            </a:r>
          </a:p>
          <a:p>
            <a:r>
              <a:rPr lang="en-IN" dirty="0">
                <a:latin typeface="Times New Roman" panose="02020603050405020304" pitchFamily="18" charset="0"/>
                <a:cs typeface="Times New Roman" panose="02020603050405020304" pitchFamily="18" charset="0"/>
              </a:rPr>
              <a:t>Creates downloadable PDF reports containing summarized results.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6. User Interface Module</a:t>
            </a:r>
          </a:p>
          <a:p>
            <a:r>
              <a:rPr lang="en-IN" dirty="0">
                <a:latin typeface="Times New Roman" panose="02020603050405020304" pitchFamily="18" charset="0"/>
                <a:cs typeface="Times New Roman" panose="02020603050405020304" pitchFamily="18" charset="0"/>
              </a:rPr>
              <a:t>Provides a simple and interactive web interface for user interaction</a:t>
            </a:r>
          </a:p>
          <a:p>
            <a:endParaRPr lang="en-US" dirty="0">
              <a:latin typeface="Times New Roman" panose="02020603050405020304" pitchFamily="18" charset="0"/>
              <a:cs typeface="Times New Roman" panose="02020603050405020304" pitchFamily="18" charset="0"/>
            </a:endParaRPr>
          </a:p>
          <a:p>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0074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3276B-17E3-B91F-1733-4F690B4CD60B}"/>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6B5F5F42-B3A3-9A79-1467-D78756094D2D}"/>
              </a:ext>
            </a:extLst>
          </p:cNvPr>
          <p:cNvPicPr>
            <a:picLocks noChangeAspect="1"/>
          </p:cNvPicPr>
          <p:nvPr/>
        </p:nvPicPr>
        <p:blipFill>
          <a:blip r:embed="rId2"/>
          <a:stretch>
            <a:fillRect/>
          </a:stretch>
        </p:blipFill>
        <p:spPr>
          <a:xfrm>
            <a:off x="10714935" y="0"/>
            <a:ext cx="1477065" cy="1251226"/>
          </a:xfrm>
          <a:prstGeom prst="rect">
            <a:avLst/>
          </a:prstGeom>
        </p:spPr>
      </p:pic>
      <p:sp>
        <p:nvSpPr>
          <p:cNvPr id="3" name="TextBox 2">
            <a:extLst>
              <a:ext uri="{FF2B5EF4-FFF2-40B4-BE49-F238E27FC236}">
                <a16:creationId xmlns:a16="http://schemas.microsoft.com/office/drawing/2014/main" id="{748024A9-12E8-453A-5436-908D000C6B1A}"/>
              </a:ext>
            </a:extLst>
          </p:cNvPr>
          <p:cNvSpPr txBox="1"/>
          <p:nvPr/>
        </p:nvSpPr>
        <p:spPr>
          <a:xfrm>
            <a:off x="612842" y="106233"/>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DC093C5-3927-7370-CCEE-498A4F723B21}"/>
              </a:ext>
            </a:extLst>
          </p:cNvPr>
          <p:cNvPicPr>
            <a:picLocks noChangeAspect="1"/>
          </p:cNvPicPr>
          <p:nvPr/>
        </p:nvPicPr>
        <p:blipFill>
          <a:blip r:embed="rId3"/>
          <a:stretch>
            <a:fillRect/>
          </a:stretch>
        </p:blipFill>
        <p:spPr>
          <a:xfrm>
            <a:off x="485022" y="1762504"/>
            <a:ext cx="5090160" cy="4686587"/>
          </a:xfrm>
          <a:prstGeom prst="rect">
            <a:avLst/>
          </a:prstGeom>
        </p:spPr>
      </p:pic>
      <p:pic>
        <p:nvPicPr>
          <p:cNvPr id="9" name="Picture 8">
            <a:extLst>
              <a:ext uri="{FF2B5EF4-FFF2-40B4-BE49-F238E27FC236}">
                <a16:creationId xmlns:a16="http://schemas.microsoft.com/office/drawing/2014/main" id="{BDAC2B7C-EC50-5133-0C77-BC016436B281}"/>
              </a:ext>
            </a:extLst>
          </p:cNvPr>
          <p:cNvPicPr>
            <a:picLocks noChangeAspect="1"/>
          </p:cNvPicPr>
          <p:nvPr/>
        </p:nvPicPr>
        <p:blipFill>
          <a:blip r:embed="rId4"/>
          <a:stretch>
            <a:fillRect/>
          </a:stretch>
        </p:blipFill>
        <p:spPr>
          <a:xfrm>
            <a:off x="6020079" y="1987630"/>
            <a:ext cx="5090159" cy="4236334"/>
          </a:xfrm>
          <a:prstGeom prst="rect">
            <a:avLst/>
          </a:prstGeom>
        </p:spPr>
      </p:pic>
      <p:sp>
        <p:nvSpPr>
          <p:cNvPr id="4" name="TextBox 3">
            <a:extLst>
              <a:ext uri="{FF2B5EF4-FFF2-40B4-BE49-F238E27FC236}">
                <a16:creationId xmlns:a16="http://schemas.microsoft.com/office/drawing/2014/main" id="{BB2011B8-2364-4CD9-D007-950068B4B9A6}"/>
              </a:ext>
            </a:extLst>
          </p:cNvPr>
          <p:cNvSpPr txBox="1"/>
          <p:nvPr/>
        </p:nvSpPr>
        <p:spPr>
          <a:xfrm>
            <a:off x="916166" y="1251226"/>
            <a:ext cx="2113936" cy="646331"/>
          </a:xfrm>
          <a:prstGeom prst="rect">
            <a:avLst/>
          </a:prstGeom>
          <a:noFill/>
        </p:spPr>
        <p:txBody>
          <a:bodyPr wrap="square" rtlCol="0">
            <a:spAutoFit/>
          </a:bodyPr>
          <a:lstStyle/>
          <a:p>
            <a:r>
              <a:rPr lang="en-IN" b="1" dirty="0"/>
              <a:t>USE CASE DIAGRAM</a:t>
            </a:r>
            <a:endParaRPr lang="en-IN" dirty="0"/>
          </a:p>
          <a:p>
            <a:endParaRPr lang="en-IN" dirty="0"/>
          </a:p>
        </p:txBody>
      </p:sp>
      <p:sp>
        <p:nvSpPr>
          <p:cNvPr id="5" name="TextBox 4">
            <a:extLst>
              <a:ext uri="{FF2B5EF4-FFF2-40B4-BE49-F238E27FC236}">
                <a16:creationId xmlns:a16="http://schemas.microsoft.com/office/drawing/2014/main" id="{F7F952EB-691A-6791-AD3D-6338AF535CAF}"/>
              </a:ext>
            </a:extLst>
          </p:cNvPr>
          <p:cNvSpPr txBox="1"/>
          <p:nvPr/>
        </p:nvSpPr>
        <p:spPr>
          <a:xfrm>
            <a:off x="7020169" y="1251226"/>
            <a:ext cx="2025445" cy="646331"/>
          </a:xfrm>
          <a:prstGeom prst="rect">
            <a:avLst/>
          </a:prstGeom>
          <a:noFill/>
        </p:spPr>
        <p:txBody>
          <a:bodyPr wrap="square" rtlCol="0">
            <a:spAutoFit/>
          </a:bodyPr>
          <a:lstStyle/>
          <a:p>
            <a:r>
              <a:rPr lang="en-IN" b="1" dirty="0"/>
              <a:t>CLASS DIAGRAM</a:t>
            </a:r>
            <a:endParaRPr lang="en-IN" dirty="0"/>
          </a:p>
          <a:p>
            <a:endParaRPr lang="en-IN" dirty="0"/>
          </a:p>
        </p:txBody>
      </p:sp>
    </p:spTree>
    <p:extLst>
      <p:ext uri="{BB962C8B-B14F-4D97-AF65-F5344CB8AC3E}">
        <p14:creationId xmlns:p14="http://schemas.microsoft.com/office/powerpoint/2010/main" val="1007723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03896-5A41-1742-2EAA-547A6FC58509}"/>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FE86FC4C-F431-7240-EB04-0DDAE4B5D8BB}"/>
              </a:ext>
            </a:extLst>
          </p:cNvPr>
          <p:cNvPicPr>
            <a:picLocks noChangeAspect="1"/>
          </p:cNvPicPr>
          <p:nvPr/>
        </p:nvPicPr>
        <p:blipFill>
          <a:blip r:embed="rId2"/>
          <a:stretch>
            <a:fillRect/>
          </a:stretch>
        </p:blipFill>
        <p:spPr>
          <a:xfrm>
            <a:off x="10714935" y="0"/>
            <a:ext cx="1477065" cy="1251226"/>
          </a:xfrm>
          <a:prstGeom prst="rect">
            <a:avLst/>
          </a:prstGeom>
        </p:spPr>
      </p:pic>
      <p:sp>
        <p:nvSpPr>
          <p:cNvPr id="3" name="TextBox 2">
            <a:extLst>
              <a:ext uri="{FF2B5EF4-FFF2-40B4-BE49-F238E27FC236}">
                <a16:creationId xmlns:a16="http://schemas.microsoft.com/office/drawing/2014/main" id="{EF25D2E7-190C-0F71-A0C2-1AA3D4659E8A}"/>
              </a:ext>
            </a:extLst>
          </p:cNvPr>
          <p:cNvSpPr txBox="1"/>
          <p:nvPr/>
        </p:nvSpPr>
        <p:spPr>
          <a:xfrm>
            <a:off x="612842" y="309656"/>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F1D7640-33B1-0CB6-A3D2-C29993FCD1D4}"/>
              </a:ext>
            </a:extLst>
          </p:cNvPr>
          <p:cNvPicPr>
            <a:picLocks noChangeAspect="1"/>
          </p:cNvPicPr>
          <p:nvPr/>
        </p:nvPicPr>
        <p:blipFill>
          <a:blip r:embed="rId3"/>
          <a:stretch>
            <a:fillRect/>
          </a:stretch>
        </p:blipFill>
        <p:spPr>
          <a:xfrm>
            <a:off x="508079" y="1994547"/>
            <a:ext cx="5010930" cy="4247910"/>
          </a:xfrm>
          <a:prstGeom prst="rect">
            <a:avLst/>
          </a:prstGeom>
        </p:spPr>
      </p:pic>
      <p:pic>
        <p:nvPicPr>
          <p:cNvPr id="9" name="Picture 8">
            <a:extLst>
              <a:ext uri="{FF2B5EF4-FFF2-40B4-BE49-F238E27FC236}">
                <a16:creationId xmlns:a16="http://schemas.microsoft.com/office/drawing/2014/main" id="{0D999439-7C07-EAF1-BDFA-0E86C7537442}"/>
              </a:ext>
            </a:extLst>
          </p:cNvPr>
          <p:cNvPicPr>
            <a:picLocks noChangeAspect="1"/>
          </p:cNvPicPr>
          <p:nvPr/>
        </p:nvPicPr>
        <p:blipFill>
          <a:blip r:embed="rId4"/>
          <a:stretch>
            <a:fillRect/>
          </a:stretch>
        </p:blipFill>
        <p:spPr>
          <a:xfrm>
            <a:off x="6096000" y="1994547"/>
            <a:ext cx="4881294" cy="4247910"/>
          </a:xfrm>
          <a:prstGeom prst="rect">
            <a:avLst/>
          </a:prstGeom>
        </p:spPr>
      </p:pic>
      <p:sp>
        <p:nvSpPr>
          <p:cNvPr id="4" name="TextBox 3">
            <a:extLst>
              <a:ext uri="{FF2B5EF4-FFF2-40B4-BE49-F238E27FC236}">
                <a16:creationId xmlns:a16="http://schemas.microsoft.com/office/drawing/2014/main" id="{561BDD11-3CF6-A05C-EC0A-6C22C9A9CB18}"/>
              </a:ext>
            </a:extLst>
          </p:cNvPr>
          <p:cNvSpPr txBox="1"/>
          <p:nvPr/>
        </p:nvSpPr>
        <p:spPr>
          <a:xfrm>
            <a:off x="973394" y="1220144"/>
            <a:ext cx="2497393" cy="369332"/>
          </a:xfrm>
          <a:prstGeom prst="rect">
            <a:avLst/>
          </a:prstGeom>
          <a:noFill/>
        </p:spPr>
        <p:txBody>
          <a:bodyPr wrap="square" rtlCol="0">
            <a:spAutoFit/>
          </a:bodyPr>
          <a:lstStyle/>
          <a:p>
            <a:r>
              <a:rPr lang="en-IN" b="1" dirty="0"/>
              <a:t>SEQUENCE DIAGRAM</a:t>
            </a:r>
            <a:endParaRPr lang="en-IN" dirty="0"/>
          </a:p>
        </p:txBody>
      </p:sp>
      <p:sp>
        <p:nvSpPr>
          <p:cNvPr id="5" name="TextBox 4">
            <a:extLst>
              <a:ext uri="{FF2B5EF4-FFF2-40B4-BE49-F238E27FC236}">
                <a16:creationId xmlns:a16="http://schemas.microsoft.com/office/drawing/2014/main" id="{E2AA0E10-9263-4631-143B-0E0BC0348250}"/>
              </a:ext>
            </a:extLst>
          </p:cNvPr>
          <p:cNvSpPr txBox="1"/>
          <p:nvPr/>
        </p:nvSpPr>
        <p:spPr>
          <a:xfrm>
            <a:off x="7252973" y="1220144"/>
            <a:ext cx="2497393" cy="369332"/>
          </a:xfrm>
          <a:prstGeom prst="rect">
            <a:avLst/>
          </a:prstGeom>
          <a:noFill/>
        </p:spPr>
        <p:txBody>
          <a:bodyPr wrap="square" rtlCol="0">
            <a:spAutoFit/>
          </a:bodyPr>
          <a:lstStyle/>
          <a:p>
            <a:r>
              <a:rPr lang="en-IN" b="1"/>
              <a:t>FLOWCHART DIAGRAM</a:t>
            </a:r>
            <a:endParaRPr lang="en-IN"/>
          </a:p>
        </p:txBody>
      </p:sp>
    </p:spTree>
    <p:extLst>
      <p:ext uri="{BB962C8B-B14F-4D97-AF65-F5344CB8AC3E}">
        <p14:creationId xmlns:p14="http://schemas.microsoft.com/office/powerpoint/2010/main" val="1520378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CD8F4-51AB-D5C3-96C3-B3744B2C1AEE}"/>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DA114F1C-7A9A-1AAB-2179-5A30569FDC1D}"/>
              </a:ext>
            </a:extLst>
          </p:cNvPr>
          <p:cNvPicPr>
            <a:picLocks noChangeAspect="1"/>
          </p:cNvPicPr>
          <p:nvPr/>
        </p:nvPicPr>
        <p:blipFill>
          <a:blip r:embed="rId2"/>
          <a:stretch>
            <a:fillRect/>
          </a:stretch>
        </p:blipFill>
        <p:spPr>
          <a:xfrm>
            <a:off x="10714935" y="0"/>
            <a:ext cx="1477065" cy="1251226"/>
          </a:xfrm>
          <a:prstGeom prst="rect">
            <a:avLst/>
          </a:prstGeom>
        </p:spPr>
      </p:pic>
      <p:sp>
        <p:nvSpPr>
          <p:cNvPr id="3" name="TextBox 2">
            <a:extLst>
              <a:ext uri="{FF2B5EF4-FFF2-40B4-BE49-F238E27FC236}">
                <a16:creationId xmlns:a16="http://schemas.microsoft.com/office/drawing/2014/main" id="{A9A3F900-6519-B692-6339-396D6B6F5137}"/>
              </a:ext>
            </a:extLst>
          </p:cNvPr>
          <p:cNvSpPr txBox="1"/>
          <p:nvPr/>
        </p:nvSpPr>
        <p:spPr>
          <a:xfrm>
            <a:off x="612842" y="53119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030D972-1A16-C3BC-5243-39F4DF8E93A4}"/>
              </a:ext>
            </a:extLst>
          </p:cNvPr>
          <p:cNvPicPr>
            <a:picLocks noChangeAspect="1"/>
          </p:cNvPicPr>
          <p:nvPr/>
        </p:nvPicPr>
        <p:blipFill>
          <a:blip r:embed="rId3"/>
          <a:stretch>
            <a:fillRect/>
          </a:stretch>
        </p:blipFill>
        <p:spPr>
          <a:xfrm>
            <a:off x="3497580" y="2129064"/>
            <a:ext cx="5196840" cy="4266565"/>
          </a:xfrm>
          <a:prstGeom prst="rect">
            <a:avLst/>
          </a:prstGeom>
        </p:spPr>
      </p:pic>
      <p:sp>
        <p:nvSpPr>
          <p:cNvPr id="5" name="TextBox 4">
            <a:extLst>
              <a:ext uri="{FF2B5EF4-FFF2-40B4-BE49-F238E27FC236}">
                <a16:creationId xmlns:a16="http://schemas.microsoft.com/office/drawing/2014/main" id="{C099B6A4-48AD-DFA6-0312-5C09281B48C4}"/>
              </a:ext>
            </a:extLst>
          </p:cNvPr>
          <p:cNvSpPr txBox="1"/>
          <p:nvPr/>
        </p:nvSpPr>
        <p:spPr>
          <a:xfrm>
            <a:off x="4837472" y="1348629"/>
            <a:ext cx="2979174" cy="369332"/>
          </a:xfrm>
          <a:prstGeom prst="rect">
            <a:avLst/>
          </a:prstGeom>
          <a:noFill/>
        </p:spPr>
        <p:txBody>
          <a:bodyPr wrap="square" rtlCol="0">
            <a:spAutoFit/>
          </a:bodyPr>
          <a:lstStyle/>
          <a:p>
            <a:r>
              <a:rPr lang="en-IN" b="1" dirty="0"/>
              <a:t>DATAFLOW DIAGRAM</a:t>
            </a:r>
            <a:endParaRPr lang="en-IN" dirty="0"/>
          </a:p>
        </p:txBody>
      </p:sp>
    </p:spTree>
    <p:extLst>
      <p:ext uri="{BB962C8B-B14F-4D97-AF65-F5344CB8AC3E}">
        <p14:creationId xmlns:p14="http://schemas.microsoft.com/office/powerpoint/2010/main" val="2567986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93EA73-913A-5011-84C0-528D287F3EC6}"/>
              </a:ext>
            </a:extLst>
          </p:cNvPr>
          <p:cNvSpPr txBox="1"/>
          <p:nvPr/>
        </p:nvSpPr>
        <p:spPr>
          <a:xfrm>
            <a:off x="3315509" y="2875002"/>
            <a:ext cx="7059561" cy="1107996"/>
          </a:xfrm>
          <a:prstGeom prst="rect">
            <a:avLst/>
          </a:prstGeom>
          <a:noFill/>
        </p:spPr>
        <p:txBody>
          <a:bodyPr wrap="square" rtlCol="0">
            <a:spAutoFit/>
          </a:bodyPr>
          <a:lstStyle/>
          <a:p>
            <a:r>
              <a:rPr lang="en-US" sz="6600" dirty="0">
                <a:latin typeface="Algerian" panose="04020705040A02060702" pitchFamily="82" charset="0"/>
              </a:rPr>
              <a:t>THANK YOU</a:t>
            </a:r>
            <a:endParaRPr lang="en-IN" sz="6600" dirty="0">
              <a:latin typeface="Algerian" panose="04020705040A02060702" pitchFamily="82" charset="0"/>
            </a:endParaRPr>
          </a:p>
        </p:txBody>
      </p:sp>
      <p:pic>
        <p:nvPicPr>
          <p:cNvPr id="3" name="Content Placeholder 3" descr="A logo with a flower&#10;&#10;Description automatically generated">
            <a:extLst>
              <a:ext uri="{FF2B5EF4-FFF2-40B4-BE49-F238E27FC236}">
                <a16:creationId xmlns:a16="http://schemas.microsoft.com/office/drawing/2014/main" id="{3701C8D8-E901-A044-E424-57C4384D9F9E}"/>
              </a:ext>
            </a:extLst>
          </p:cNvPr>
          <p:cNvPicPr>
            <a:picLocks noChangeAspect="1"/>
          </p:cNvPicPr>
          <p:nvPr/>
        </p:nvPicPr>
        <p:blipFill>
          <a:blip r:embed="rId2"/>
          <a:stretch>
            <a:fillRect/>
          </a:stretch>
        </p:blipFill>
        <p:spPr>
          <a:xfrm>
            <a:off x="10714935" y="0"/>
            <a:ext cx="1477065" cy="1251226"/>
          </a:xfrm>
          <a:prstGeom prst="rect">
            <a:avLst/>
          </a:prstGeom>
        </p:spPr>
      </p:pic>
    </p:spTree>
    <p:extLst>
      <p:ext uri="{BB962C8B-B14F-4D97-AF65-F5344CB8AC3E}">
        <p14:creationId xmlns:p14="http://schemas.microsoft.com/office/powerpoint/2010/main" val="38774781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580</TotalTime>
  <Words>1114</Words>
  <Application>Microsoft Office PowerPoint</Application>
  <PresentationFormat>Widescreen</PresentationFormat>
  <Paragraphs>135</Paragraphs>
  <Slides>15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Algerian</vt:lpstr>
      <vt:lpstr>Arial</vt:lpstr>
      <vt:lpstr>Calibri</vt:lpstr>
      <vt:lpstr>Calibri Light</vt:lpstr>
      <vt:lpstr>Times New Roman</vt:lpstr>
      <vt:lpstr>Office Theme</vt:lpstr>
      <vt:lpstr>CMR Technical Campus Department of IT </vt:lpstr>
      <vt:lpstr>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Kondapelly Akshaya</cp:lastModifiedBy>
  <cp:revision>121</cp:revision>
  <dcterms:created xsi:type="dcterms:W3CDTF">2024-03-19T15:57:58Z</dcterms:created>
  <dcterms:modified xsi:type="dcterms:W3CDTF">2026-01-28T07:36:30Z</dcterms:modified>
</cp:coreProperties>
</file>