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9" r:id="rId1"/>
  </p:sldMasterIdLst>
  <p:notesMasterIdLst>
    <p:notesMasterId r:id="rId31"/>
  </p:notesMasterIdLst>
  <p:sldIdLst>
    <p:sldId id="256" r:id="rId2"/>
    <p:sldId id="257" r:id="rId3"/>
    <p:sldId id="260" r:id="rId4"/>
    <p:sldId id="274" r:id="rId5"/>
    <p:sldId id="275" r:id="rId6"/>
    <p:sldId id="276" r:id="rId7"/>
    <p:sldId id="277" r:id="rId8"/>
    <p:sldId id="269" r:id="rId9"/>
    <p:sldId id="262" r:id="rId10"/>
    <p:sldId id="263" r:id="rId11"/>
    <p:sldId id="278" r:id="rId12"/>
    <p:sldId id="285" r:id="rId13"/>
    <p:sldId id="271" r:id="rId14"/>
    <p:sldId id="272" r:id="rId15"/>
    <p:sldId id="286" r:id="rId16"/>
    <p:sldId id="279" r:id="rId17"/>
    <p:sldId id="287" r:id="rId18"/>
    <p:sldId id="288" r:id="rId19"/>
    <p:sldId id="289" r:id="rId20"/>
    <p:sldId id="290" r:id="rId21"/>
    <p:sldId id="291" r:id="rId22"/>
    <p:sldId id="292" r:id="rId23"/>
    <p:sldId id="293" r:id="rId24"/>
    <p:sldId id="294" r:id="rId25"/>
    <p:sldId id="295" r:id="rId26"/>
    <p:sldId id="296" r:id="rId27"/>
    <p:sldId id="280" r:id="rId28"/>
    <p:sldId id="297" r:id="rId29"/>
    <p:sldId id="268"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0AD5E7-AC9A-4DF2-BC6A-2C5080676B73}" type="datetimeFigureOut">
              <a:rPr lang="en-IN" smtClean="0"/>
              <a:t>22-03-2026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D08DFB-6615-4B87-96F8-D3DF5C740949}" type="slidenum">
              <a:rPr lang="en-IN" smtClean="0"/>
              <a:t>‹#›</a:t>
            </a:fld>
            <a:endParaRPr lang="en-IN"/>
          </a:p>
        </p:txBody>
      </p:sp>
    </p:spTree>
    <p:extLst>
      <p:ext uri="{BB962C8B-B14F-4D97-AF65-F5344CB8AC3E}">
        <p14:creationId xmlns:p14="http://schemas.microsoft.com/office/powerpoint/2010/main" val="28722065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8D08DFB-6615-4B87-96F8-D3DF5C740949}" type="slidenum">
              <a:rPr lang="en-IN" smtClean="0"/>
              <a:t>3</a:t>
            </a:fld>
            <a:endParaRPr lang="en-IN"/>
          </a:p>
        </p:txBody>
      </p:sp>
    </p:spTree>
    <p:extLst>
      <p:ext uri="{BB962C8B-B14F-4D97-AF65-F5344CB8AC3E}">
        <p14:creationId xmlns:p14="http://schemas.microsoft.com/office/powerpoint/2010/main" val="21263034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A2AE5B-DB5C-89D6-44BB-1125786EC5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AA5F99-94AD-E922-7FA2-AD31D4DF49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BB0E73-DE3A-AF46-6157-1C0D12F42C1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36A4358-84E1-BC2D-D20A-C5C7D3BCFDD5}"/>
              </a:ext>
            </a:extLst>
          </p:cNvPr>
          <p:cNvSpPr>
            <a:spLocks noGrp="1"/>
          </p:cNvSpPr>
          <p:nvPr>
            <p:ph type="sldNum" sz="quarter" idx="5"/>
          </p:nvPr>
        </p:nvSpPr>
        <p:spPr/>
        <p:txBody>
          <a:bodyPr/>
          <a:lstStyle/>
          <a:p>
            <a:fld id="{28D08DFB-6615-4B87-96F8-D3DF5C740949}" type="slidenum">
              <a:rPr lang="en-IN" smtClean="0"/>
              <a:t>4</a:t>
            </a:fld>
            <a:endParaRPr lang="en-IN"/>
          </a:p>
        </p:txBody>
      </p:sp>
    </p:spTree>
    <p:extLst>
      <p:ext uri="{BB962C8B-B14F-4D97-AF65-F5344CB8AC3E}">
        <p14:creationId xmlns:p14="http://schemas.microsoft.com/office/powerpoint/2010/main" val="22346021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A13346-4B7A-5D40-6D3C-CC86C33BDD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561A28-CC2E-6224-B6DF-422204C607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80D2B8-11DF-588A-6D71-0F0505667E5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8D3FBCB-179A-0F5B-3CC1-722CA288E19A}"/>
              </a:ext>
            </a:extLst>
          </p:cNvPr>
          <p:cNvSpPr>
            <a:spLocks noGrp="1"/>
          </p:cNvSpPr>
          <p:nvPr>
            <p:ph type="sldNum" sz="quarter" idx="5"/>
          </p:nvPr>
        </p:nvSpPr>
        <p:spPr/>
        <p:txBody>
          <a:bodyPr/>
          <a:lstStyle/>
          <a:p>
            <a:fld id="{28D08DFB-6615-4B87-96F8-D3DF5C740949}" type="slidenum">
              <a:rPr lang="en-IN" smtClean="0"/>
              <a:t>5</a:t>
            </a:fld>
            <a:endParaRPr lang="en-IN"/>
          </a:p>
        </p:txBody>
      </p:sp>
    </p:spTree>
    <p:extLst>
      <p:ext uri="{BB962C8B-B14F-4D97-AF65-F5344CB8AC3E}">
        <p14:creationId xmlns:p14="http://schemas.microsoft.com/office/powerpoint/2010/main" val="25405439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2DC4C6-EC99-8E9B-335D-A22731F25C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6817E9-857E-1324-BDF4-EA27326778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4E4C01-0548-310D-0901-D4BC738947A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4502407-B6FE-F2FF-8ABD-1F0931299E92}"/>
              </a:ext>
            </a:extLst>
          </p:cNvPr>
          <p:cNvSpPr>
            <a:spLocks noGrp="1"/>
          </p:cNvSpPr>
          <p:nvPr>
            <p:ph type="sldNum" sz="quarter" idx="5"/>
          </p:nvPr>
        </p:nvSpPr>
        <p:spPr/>
        <p:txBody>
          <a:bodyPr/>
          <a:lstStyle/>
          <a:p>
            <a:fld id="{28D08DFB-6615-4B87-96F8-D3DF5C740949}" type="slidenum">
              <a:rPr lang="en-IN" smtClean="0"/>
              <a:t>6</a:t>
            </a:fld>
            <a:endParaRPr lang="en-IN"/>
          </a:p>
        </p:txBody>
      </p:sp>
    </p:spTree>
    <p:extLst>
      <p:ext uri="{BB962C8B-B14F-4D97-AF65-F5344CB8AC3E}">
        <p14:creationId xmlns:p14="http://schemas.microsoft.com/office/powerpoint/2010/main" val="42865863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B7267A-DBBC-D59F-07D0-8D14A1DC6A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18E306-7C87-C74A-79D5-522B237F04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CE3986-8775-85D6-1B8F-A487DF41C2B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F1C75F8-C5B9-8EED-017C-808058127A84}"/>
              </a:ext>
            </a:extLst>
          </p:cNvPr>
          <p:cNvSpPr>
            <a:spLocks noGrp="1"/>
          </p:cNvSpPr>
          <p:nvPr>
            <p:ph type="sldNum" sz="quarter" idx="5"/>
          </p:nvPr>
        </p:nvSpPr>
        <p:spPr/>
        <p:txBody>
          <a:bodyPr/>
          <a:lstStyle/>
          <a:p>
            <a:fld id="{28D08DFB-6615-4B87-96F8-D3DF5C740949}" type="slidenum">
              <a:rPr lang="en-IN" smtClean="0"/>
              <a:t>7</a:t>
            </a:fld>
            <a:endParaRPr lang="en-IN"/>
          </a:p>
        </p:txBody>
      </p:sp>
    </p:spTree>
    <p:extLst>
      <p:ext uri="{BB962C8B-B14F-4D97-AF65-F5344CB8AC3E}">
        <p14:creationId xmlns:p14="http://schemas.microsoft.com/office/powerpoint/2010/main" val="39856342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3291582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41523986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5124741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764DE79-268F-4C1A-8933-263129D2AF90}" type="datetimeFigureOut">
              <a:rPr lang="en-US" dirty="0"/>
              <a:t>3/22/2026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5603722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764DE79-268F-4C1A-8933-263129D2AF90}" type="datetimeFigureOut">
              <a:rPr lang="en-US" dirty="0"/>
              <a:t>3/22/2026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3225270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3/22/2026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7170039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3/22/2026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5974124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3/22/2026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4100592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3/22/2026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4941805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41692035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9556750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3/22/2026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a:p>
        </p:txBody>
      </p:sp>
    </p:spTree>
    <p:extLst>
      <p:ext uri="{BB962C8B-B14F-4D97-AF65-F5344CB8AC3E}">
        <p14:creationId xmlns:p14="http://schemas.microsoft.com/office/powerpoint/2010/main" val="1632154956"/>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73E3804-E15A-183D-98EE-7CA8DA31F6D8}"/>
              </a:ext>
            </a:extLst>
          </p:cNvPr>
          <p:cNvSpPr>
            <a:spLocks noGrp="1"/>
          </p:cNvSpPr>
          <p:nvPr>
            <p:ph type="ctrTitle"/>
          </p:nvPr>
        </p:nvSpPr>
        <p:spPr>
          <a:xfrm>
            <a:off x="2695755" y="1415771"/>
            <a:ext cx="6800490" cy="846828"/>
          </a:xfrm>
        </p:spPr>
        <p:txBody>
          <a:bodyPr>
            <a:normAutofit fontScale="90000"/>
          </a:bodyPr>
          <a:lstStyle/>
          <a:p>
            <a:r>
              <a:rPr lang="en-US" sz="3100" b="1" dirty="0">
                <a:solidFill>
                  <a:schemeClr val="accent2"/>
                </a:solidFill>
                <a:latin typeface="Times New Roman" panose="02020603050405020304"/>
                <a:cs typeface="Times New Roman" panose="02020603050405020304"/>
              </a:rPr>
              <a:t>CMR Technical Campus</a:t>
            </a:r>
            <a:br>
              <a:rPr lang="en-US" sz="3100" b="1" dirty="0">
                <a:latin typeface="Times New Roman" panose="02020603050405020304"/>
                <a:cs typeface="Times New Roman" panose="02020603050405020304"/>
              </a:rPr>
            </a:br>
            <a:r>
              <a:rPr lang="en-US" sz="3100" b="1" dirty="0">
                <a:latin typeface="Times New Roman" panose="02020603050405020304"/>
                <a:cs typeface="Times New Roman" panose="02020603050405020304"/>
              </a:rPr>
              <a:t>    </a:t>
            </a:r>
            <a:r>
              <a:rPr lang="en-US" sz="3100" b="1" dirty="0">
                <a:solidFill>
                  <a:srgbClr val="00B0F0"/>
                </a:solidFill>
                <a:latin typeface="Times New Roman" panose="02020603050405020304"/>
                <a:cs typeface="Times New Roman" panose="02020603050405020304"/>
              </a:rPr>
              <a:t>Department of Information Technology</a:t>
            </a:r>
            <a:br>
              <a:rPr lang="en-US" b="1" dirty="0">
                <a:solidFill>
                  <a:srgbClr val="00B0F0"/>
                </a:solidFill>
                <a:latin typeface="Times New Roman" panose="02020603050405020304"/>
                <a:cs typeface="Times New Roman" panose="02020603050405020304"/>
              </a:rPr>
            </a:br>
            <a:endParaRPr lang="en-US" dirty="0">
              <a:ea typeface="Calibri Light"/>
              <a:cs typeface="Calibri Light"/>
            </a:endParaRPr>
          </a:p>
        </p:txBody>
      </p:sp>
      <p:pic>
        <p:nvPicPr>
          <p:cNvPr id="8" name="Picture 7" descr="A logo with a flower&#10;&#10;Description automatically generated">
            <a:extLst>
              <a:ext uri="{FF2B5EF4-FFF2-40B4-BE49-F238E27FC236}">
                <a16:creationId xmlns:a16="http://schemas.microsoft.com/office/drawing/2014/main" id="{D109BE6C-3996-BE47-0A10-59AB2EC95D55}"/>
              </a:ext>
            </a:extLst>
          </p:cNvPr>
          <p:cNvPicPr>
            <a:picLocks noChangeAspect="1"/>
          </p:cNvPicPr>
          <p:nvPr/>
        </p:nvPicPr>
        <p:blipFill>
          <a:blip r:embed="rId2"/>
          <a:stretch>
            <a:fillRect/>
          </a:stretch>
        </p:blipFill>
        <p:spPr>
          <a:xfrm>
            <a:off x="527744" y="569580"/>
            <a:ext cx="1648967" cy="1429829"/>
          </a:xfrm>
          <a:prstGeom prst="rect">
            <a:avLst/>
          </a:prstGeom>
        </p:spPr>
      </p:pic>
      <p:sp>
        <p:nvSpPr>
          <p:cNvPr id="9" name="TextBox 8">
            <a:extLst>
              <a:ext uri="{FF2B5EF4-FFF2-40B4-BE49-F238E27FC236}">
                <a16:creationId xmlns:a16="http://schemas.microsoft.com/office/drawing/2014/main" id="{55BCDD74-7E19-5387-D422-AA1AEAD9DD47}"/>
              </a:ext>
            </a:extLst>
          </p:cNvPr>
          <p:cNvSpPr txBox="1"/>
          <p:nvPr/>
        </p:nvSpPr>
        <p:spPr>
          <a:xfrm>
            <a:off x="2259281" y="1575701"/>
            <a:ext cx="6933941"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b="1" dirty="0">
                <a:solidFill>
                  <a:srgbClr val="7030A0"/>
                </a:solidFill>
                <a:latin typeface="Times New Roman"/>
              </a:rPr>
              <a:t>          </a:t>
            </a:r>
            <a:r>
              <a:rPr lang="en-US" sz="2800" b="1" dirty="0">
                <a:solidFill>
                  <a:schemeClr val="tx2">
                    <a:lumMod val="75000"/>
                  </a:schemeClr>
                </a:solidFill>
                <a:latin typeface="Times New Roman"/>
              </a:rPr>
              <a:t>Major Project Stage – II</a:t>
            </a:r>
          </a:p>
          <a:p>
            <a:pPr algn="ctr"/>
            <a:r>
              <a:rPr lang="en-US" sz="2800" b="1" dirty="0">
                <a:solidFill>
                  <a:schemeClr val="tx2">
                    <a:lumMod val="75000"/>
                  </a:schemeClr>
                </a:solidFill>
                <a:latin typeface="Times New Roman"/>
              </a:rPr>
              <a:t>    Final Review</a:t>
            </a:r>
            <a:endParaRPr lang="en-US" sz="2800" dirty="0">
              <a:solidFill>
                <a:schemeClr val="tx2">
                  <a:lumMod val="75000"/>
                </a:schemeClr>
              </a:solidFill>
            </a:endParaRPr>
          </a:p>
        </p:txBody>
      </p:sp>
      <p:sp>
        <p:nvSpPr>
          <p:cNvPr id="10" name="TextBox 9">
            <a:extLst>
              <a:ext uri="{FF2B5EF4-FFF2-40B4-BE49-F238E27FC236}">
                <a16:creationId xmlns:a16="http://schemas.microsoft.com/office/drawing/2014/main" id="{7066A200-9B7D-E7B0-4F49-C56421449A11}"/>
              </a:ext>
            </a:extLst>
          </p:cNvPr>
          <p:cNvSpPr txBox="1"/>
          <p:nvPr/>
        </p:nvSpPr>
        <p:spPr>
          <a:xfrm>
            <a:off x="1241716" y="3112475"/>
            <a:ext cx="9599110"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latin typeface="Times New Roman"/>
                <a:cs typeface="Times New Roman"/>
              </a:rPr>
              <a:t>Summarizing legal and financial documents by ranking the sentences using NLP &amp; AI Models</a:t>
            </a:r>
          </a:p>
        </p:txBody>
      </p:sp>
      <p:sp>
        <p:nvSpPr>
          <p:cNvPr id="11" name="TextBox 10">
            <a:extLst>
              <a:ext uri="{FF2B5EF4-FFF2-40B4-BE49-F238E27FC236}">
                <a16:creationId xmlns:a16="http://schemas.microsoft.com/office/drawing/2014/main" id="{1DB776BB-9EC3-F020-0C9C-5116E1CF1E1A}"/>
              </a:ext>
            </a:extLst>
          </p:cNvPr>
          <p:cNvSpPr txBox="1"/>
          <p:nvPr/>
        </p:nvSpPr>
        <p:spPr>
          <a:xfrm>
            <a:off x="999879" y="4265056"/>
            <a:ext cx="3997798"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solidFill>
                  <a:srgbClr val="00B0F0"/>
                </a:solidFill>
                <a:latin typeface="Times New Roman"/>
                <a:cs typeface="Segoe UI"/>
              </a:rPr>
              <a:t>Project Supervisor:</a:t>
            </a:r>
            <a:r>
              <a:rPr lang="en-US" sz="2000" dirty="0">
                <a:latin typeface="Times New Roman"/>
                <a:cs typeface="Segoe UI"/>
              </a:rPr>
              <a:t>​</a:t>
            </a:r>
          </a:p>
          <a:p>
            <a:r>
              <a:rPr lang="en-US" sz="2000" b="1" dirty="0">
                <a:solidFill>
                  <a:srgbClr val="002060"/>
                </a:solidFill>
                <a:latin typeface="Times New Roman"/>
                <a:cs typeface="Segoe UI"/>
              </a:rPr>
              <a:t>Name:</a:t>
            </a:r>
            <a:r>
              <a:rPr lang="en-US" sz="2000" dirty="0">
                <a:latin typeface="Times New Roman"/>
                <a:cs typeface="Segoe UI"/>
              </a:rPr>
              <a:t>​ </a:t>
            </a:r>
            <a:r>
              <a:rPr lang="en-US" sz="2000" dirty="0" err="1">
                <a:latin typeface="Times New Roman"/>
                <a:cs typeface="Segoe UI"/>
              </a:rPr>
              <a:t>K.Srinu</a:t>
            </a:r>
            <a:r>
              <a:rPr lang="en-US" sz="2000" dirty="0">
                <a:latin typeface="Times New Roman"/>
                <a:cs typeface="Segoe UI"/>
              </a:rPr>
              <a:t> </a:t>
            </a:r>
          </a:p>
          <a:p>
            <a:r>
              <a:rPr lang="en-US" sz="2000" b="1" dirty="0">
                <a:solidFill>
                  <a:srgbClr val="002060"/>
                </a:solidFill>
                <a:latin typeface="Times New Roman"/>
                <a:cs typeface="Segoe UI"/>
              </a:rPr>
              <a:t>Designation:</a:t>
            </a:r>
            <a:r>
              <a:rPr lang="en-US" sz="2000" dirty="0">
                <a:solidFill>
                  <a:srgbClr val="002060"/>
                </a:solidFill>
                <a:latin typeface="Times New Roman"/>
                <a:cs typeface="Segoe UI"/>
              </a:rPr>
              <a:t> Assistant Professor</a:t>
            </a:r>
            <a:endParaRPr lang="en-IN" sz="2000" dirty="0">
              <a:latin typeface="Times New Roman"/>
              <a:cs typeface="Segoe UI"/>
            </a:endParaRPr>
          </a:p>
        </p:txBody>
      </p:sp>
      <p:sp>
        <p:nvSpPr>
          <p:cNvPr id="2" name="TextBox 1">
            <a:extLst>
              <a:ext uri="{FF2B5EF4-FFF2-40B4-BE49-F238E27FC236}">
                <a16:creationId xmlns:a16="http://schemas.microsoft.com/office/drawing/2014/main" id="{BE17693B-E2CF-CEEF-1B82-D016D7D2C75A}"/>
              </a:ext>
            </a:extLst>
          </p:cNvPr>
          <p:cNvSpPr txBox="1"/>
          <p:nvPr/>
        </p:nvSpPr>
        <p:spPr>
          <a:xfrm>
            <a:off x="4940478" y="3927053"/>
            <a:ext cx="6376505"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solidFill>
                  <a:srgbClr val="00B0F0"/>
                </a:solidFill>
                <a:latin typeface="Times New Roman"/>
                <a:cs typeface="Segoe UI"/>
              </a:rPr>
              <a:t>Presented By:</a:t>
            </a:r>
            <a:r>
              <a:rPr lang="en-US" dirty="0">
                <a:latin typeface="Times New Roman"/>
                <a:cs typeface="Segoe UI"/>
              </a:rPr>
              <a:t>​</a:t>
            </a:r>
          </a:p>
          <a:p>
            <a:r>
              <a:rPr lang="en-US" dirty="0">
                <a:latin typeface="Times New Roman"/>
                <a:cs typeface="Segoe UI"/>
              </a:rPr>
              <a:t>Batch No: 07</a:t>
            </a:r>
          </a:p>
          <a:p>
            <a:pPr marL="342900" indent="-342900">
              <a:buFont typeface=""/>
              <a:buAutoNum type="arabicPeriod"/>
            </a:pPr>
            <a:r>
              <a:rPr lang="en-US" dirty="0">
                <a:latin typeface="Times New Roman"/>
                <a:cs typeface="Arial"/>
              </a:rPr>
              <a:t>H. No: 227R1A1231                    Name: </a:t>
            </a:r>
            <a:r>
              <a:rPr lang="en-US" dirty="0" err="1">
                <a:latin typeface="Times New Roman"/>
                <a:cs typeface="Arial"/>
              </a:rPr>
              <a:t>K.Akshaya</a:t>
            </a:r>
            <a:r>
              <a:rPr lang="en-US" dirty="0">
                <a:latin typeface="Times New Roman"/>
                <a:cs typeface="Arial"/>
              </a:rPr>
              <a:t> </a:t>
            </a:r>
          </a:p>
          <a:p>
            <a:pPr marL="342900" indent="-342900">
              <a:buFont typeface=""/>
              <a:buAutoNum type="arabicPeriod"/>
            </a:pPr>
            <a:r>
              <a:rPr lang="en-US" dirty="0">
                <a:latin typeface="Times New Roman"/>
                <a:cs typeface="Arial"/>
              </a:rPr>
              <a:t>H. No: 237R5A1205                    Name: </a:t>
            </a:r>
            <a:r>
              <a:rPr lang="en-US" dirty="0" err="1">
                <a:latin typeface="Times New Roman"/>
                <a:cs typeface="Arial"/>
              </a:rPr>
              <a:t>D.Nikhil</a:t>
            </a:r>
            <a:endParaRPr lang="en-US" dirty="0">
              <a:latin typeface="Times New Roman"/>
              <a:cs typeface="Arial"/>
            </a:endParaRPr>
          </a:p>
          <a:p>
            <a:pPr marL="342900" indent="-342900">
              <a:buFont typeface=""/>
              <a:buAutoNum type="arabicPeriod"/>
            </a:pPr>
            <a:r>
              <a:rPr lang="en-US" dirty="0">
                <a:latin typeface="Times New Roman"/>
                <a:cs typeface="Arial"/>
              </a:rPr>
              <a:t>H. No: 227R1A1226                    Name: </a:t>
            </a:r>
            <a:r>
              <a:rPr lang="en-US" dirty="0" err="1">
                <a:latin typeface="Times New Roman"/>
                <a:cs typeface="Arial"/>
              </a:rPr>
              <a:t>K.Phanindra</a:t>
            </a:r>
            <a:r>
              <a:rPr lang="en-US" dirty="0">
                <a:latin typeface="Times New Roman"/>
                <a:cs typeface="Arial"/>
              </a:rPr>
              <a:t>   </a:t>
            </a:r>
          </a:p>
          <a:p>
            <a:pPr marL="342900" indent="-342900">
              <a:buFont typeface=""/>
              <a:buAutoNum type="arabicPeriod"/>
            </a:pPr>
            <a:r>
              <a:rPr lang="en-US" dirty="0">
                <a:latin typeface="Times New Roman"/>
                <a:cs typeface="Arial"/>
              </a:rPr>
              <a:t>H. No: 217R1A12A6                   Name: </a:t>
            </a:r>
            <a:r>
              <a:rPr lang="en-US" dirty="0" err="1">
                <a:latin typeface="Times New Roman"/>
                <a:cs typeface="Arial"/>
              </a:rPr>
              <a:t>M.Sathwik</a:t>
            </a:r>
            <a:endParaRPr lang="en-US" dirty="0">
              <a:latin typeface="Times New Roman"/>
              <a:cs typeface="Arial"/>
            </a:endParaRPr>
          </a:p>
          <a:p>
            <a:r>
              <a:rPr lang="en-US" dirty="0">
                <a:latin typeface="Times New Roman"/>
                <a:cs typeface="Segoe UI"/>
              </a:rPr>
              <a:t>​</a:t>
            </a:r>
          </a:p>
        </p:txBody>
      </p:sp>
      <p:sp>
        <p:nvSpPr>
          <p:cNvPr id="3" name="TextBox 2">
            <a:extLst>
              <a:ext uri="{FF2B5EF4-FFF2-40B4-BE49-F238E27FC236}">
                <a16:creationId xmlns:a16="http://schemas.microsoft.com/office/drawing/2014/main" id="{E5F7A3F7-2348-3ACB-91E1-EF7E3F49DC1E}"/>
              </a:ext>
            </a:extLst>
          </p:cNvPr>
          <p:cNvSpPr txBox="1"/>
          <p:nvPr/>
        </p:nvSpPr>
        <p:spPr>
          <a:xfrm>
            <a:off x="4738110" y="2615512"/>
            <a:ext cx="1976284"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Project Title :</a:t>
            </a:r>
          </a:p>
        </p:txBody>
      </p:sp>
      <p:sp>
        <p:nvSpPr>
          <p:cNvPr id="4" name="Rectangle 3">
            <a:extLst>
              <a:ext uri="{FF2B5EF4-FFF2-40B4-BE49-F238E27FC236}">
                <a16:creationId xmlns:a16="http://schemas.microsoft.com/office/drawing/2014/main" id="{E6126EEA-D431-CA77-1016-F0031003518D}"/>
              </a:ext>
            </a:extLst>
          </p:cNvPr>
          <p:cNvSpPr/>
          <p:nvPr/>
        </p:nvSpPr>
        <p:spPr>
          <a:xfrm rot="16200000">
            <a:off x="6091182" y="-5836658"/>
            <a:ext cx="264160" cy="11937476"/>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en-IN" dirty="0">
              <a:solidFill>
                <a:schemeClr val="tx1"/>
              </a:solidFill>
            </a:endParaRPr>
          </a:p>
        </p:txBody>
      </p:sp>
      <p:sp>
        <p:nvSpPr>
          <p:cNvPr id="5" name="Rectangle 4">
            <a:extLst>
              <a:ext uri="{FF2B5EF4-FFF2-40B4-BE49-F238E27FC236}">
                <a16:creationId xmlns:a16="http://schemas.microsoft.com/office/drawing/2014/main" id="{FE0118E0-4928-E166-4DE3-4CDB07E7B2B3}"/>
              </a:ext>
            </a:extLst>
          </p:cNvPr>
          <p:cNvSpPr/>
          <p:nvPr/>
        </p:nvSpPr>
        <p:spPr>
          <a:xfrm rot="16200000">
            <a:off x="5836658" y="757183"/>
            <a:ext cx="264160" cy="119374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6" name="Rectangle 5">
            <a:extLst>
              <a:ext uri="{FF2B5EF4-FFF2-40B4-BE49-F238E27FC236}">
                <a16:creationId xmlns:a16="http://schemas.microsoft.com/office/drawing/2014/main" id="{A7238463-3C28-3D2C-5D45-6CDCDF535E22}"/>
              </a:ext>
            </a:extLst>
          </p:cNvPr>
          <p:cNvSpPr/>
          <p:nvPr/>
        </p:nvSpPr>
        <p:spPr>
          <a:xfrm>
            <a:off x="-9427" y="0"/>
            <a:ext cx="25452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2" name="Rectangle 11">
            <a:extLst>
              <a:ext uri="{FF2B5EF4-FFF2-40B4-BE49-F238E27FC236}">
                <a16:creationId xmlns:a16="http://schemas.microsoft.com/office/drawing/2014/main" id="{D1852A3D-BCB6-5795-6C46-EB3F9431035B}"/>
              </a:ext>
            </a:extLst>
          </p:cNvPr>
          <p:cNvSpPr/>
          <p:nvPr/>
        </p:nvSpPr>
        <p:spPr>
          <a:xfrm>
            <a:off x="11937476" y="0"/>
            <a:ext cx="25452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BE7D9-79DA-2FC3-422B-CBFEF3CC7471}"/>
              </a:ext>
            </a:extLst>
          </p:cNvPr>
          <p:cNvSpPr>
            <a:spLocks noGrp="1"/>
          </p:cNvSpPr>
          <p:nvPr>
            <p:ph type="title"/>
          </p:nvPr>
        </p:nvSpPr>
        <p:spPr>
          <a:xfrm>
            <a:off x="649664" y="141482"/>
            <a:ext cx="1641050" cy="1325563"/>
          </a:xfrm>
        </p:spPr>
        <p:txBody>
          <a:bodyPr/>
          <a:lstStyle/>
          <a:p>
            <a:r>
              <a:rPr lang="en-US" dirty="0">
                <a:latin typeface="Times New Roman"/>
                <a:cs typeface="Times New Roman"/>
              </a:rPr>
              <a:t>Index</a:t>
            </a:r>
            <a:endParaRPr lang="en-US" dirty="0"/>
          </a:p>
        </p:txBody>
      </p:sp>
      <p:pic>
        <p:nvPicPr>
          <p:cNvPr id="4" name="Content Placeholder 3" descr="A logo with a flower&#10;&#10;Description automatically generated">
            <a:extLst>
              <a:ext uri="{FF2B5EF4-FFF2-40B4-BE49-F238E27FC236}">
                <a16:creationId xmlns:a16="http://schemas.microsoft.com/office/drawing/2014/main" id="{D6E4BB97-AC32-E28F-14E0-655A3A315D2B}"/>
              </a:ext>
            </a:extLst>
          </p:cNvPr>
          <p:cNvPicPr>
            <a:picLocks noGrp="1" noChangeAspect="1"/>
          </p:cNvPicPr>
          <p:nvPr>
            <p:ph idx="1"/>
          </p:nvPr>
        </p:nvPicPr>
        <p:blipFill>
          <a:blip r:embed="rId2"/>
          <a:stretch>
            <a:fillRect/>
          </a:stretch>
        </p:blipFill>
        <p:spPr>
          <a:xfrm>
            <a:off x="10460411" y="264161"/>
            <a:ext cx="1477065" cy="1251226"/>
          </a:xfrm>
        </p:spPr>
      </p:pic>
      <p:sp>
        <p:nvSpPr>
          <p:cNvPr id="3" name="TextBox 2">
            <a:extLst>
              <a:ext uri="{FF2B5EF4-FFF2-40B4-BE49-F238E27FC236}">
                <a16:creationId xmlns:a16="http://schemas.microsoft.com/office/drawing/2014/main" id="{4D7C4C30-2A91-5BCB-C82C-BBD558C245BF}"/>
              </a:ext>
            </a:extLst>
          </p:cNvPr>
          <p:cNvSpPr txBox="1"/>
          <p:nvPr/>
        </p:nvSpPr>
        <p:spPr>
          <a:xfrm>
            <a:off x="503549" y="1109324"/>
            <a:ext cx="4898010" cy="5450851"/>
          </a:xfrm>
          <a:prstGeom prst="rect">
            <a:avLst/>
          </a:prstGeom>
          <a:noFill/>
        </p:spPr>
        <p:txBody>
          <a:bodyPr wrap="square" rtlCol="0">
            <a:spAutoFit/>
          </a:bodyPr>
          <a:lstStyle/>
          <a:p>
            <a:pPr marL="285750" indent="-285750">
              <a:lnSpc>
                <a:spcPct val="150000"/>
              </a:lnSpc>
              <a:buFont typeface="Wingdings" panose="05000000000000000000" pitchFamily="2" charset="2"/>
              <a:buChar char="§"/>
            </a:pPr>
            <a:r>
              <a:rPr lang="en-US" dirty="0"/>
              <a:t>Introduction &amp; Overview</a:t>
            </a:r>
          </a:p>
          <a:p>
            <a:pPr marL="285750" indent="-285750">
              <a:lnSpc>
                <a:spcPct val="150000"/>
              </a:lnSpc>
              <a:buFont typeface="Wingdings" panose="05000000000000000000" pitchFamily="2" charset="2"/>
              <a:buChar char="§"/>
            </a:pPr>
            <a:r>
              <a:rPr lang="en-US" dirty="0"/>
              <a:t>Existing System</a:t>
            </a:r>
          </a:p>
          <a:p>
            <a:pPr marL="285750" indent="-285750">
              <a:lnSpc>
                <a:spcPct val="150000"/>
              </a:lnSpc>
              <a:buFont typeface="Wingdings" panose="05000000000000000000" pitchFamily="2" charset="2"/>
              <a:buChar char="§"/>
            </a:pPr>
            <a:r>
              <a:rPr lang="en-US" dirty="0"/>
              <a:t>Disadvantages</a:t>
            </a:r>
          </a:p>
          <a:p>
            <a:pPr marL="285750" indent="-285750">
              <a:lnSpc>
                <a:spcPct val="150000"/>
              </a:lnSpc>
              <a:buFont typeface="Wingdings" panose="05000000000000000000" pitchFamily="2" charset="2"/>
              <a:buChar char="§"/>
            </a:pPr>
            <a:r>
              <a:rPr lang="en-US" dirty="0"/>
              <a:t>Advantages</a:t>
            </a:r>
          </a:p>
          <a:p>
            <a:pPr marL="285750" indent="-285750">
              <a:lnSpc>
                <a:spcPct val="150000"/>
              </a:lnSpc>
              <a:buFont typeface="Wingdings" panose="05000000000000000000" pitchFamily="2" charset="2"/>
              <a:buChar char="§"/>
            </a:pPr>
            <a:r>
              <a:rPr lang="en-US" dirty="0"/>
              <a:t>Software and hardware requirements</a:t>
            </a:r>
          </a:p>
          <a:p>
            <a:pPr marL="285750" indent="-285750">
              <a:lnSpc>
                <a:spcPct val="150000"/>
              </a:lnSpc>
              <a:buFont typeface="Wingdings" panose="05000000000000000000" pitchFamily="2" charset="2"/>
              <a:buChar char="§"/>
            </a:pPr>
            <a:r>
              <a:rPr lang="en-US" dirty="0"/>
              <a:t>Novelty of the project</a:t>
            </a:r>
          </a:p>
          <a:p>
            <a:pPr marL="285750" indent="-285750">
              <a:lnSpc>
                <a:spcPct val="150000"/>
              </a:lnSpc>
              <a:buFont typeface="Wingdings" panose="05000000000000000000" pitchFamily="2" charset="2"/>
              <a:buChar char="§"/>
            </a:pPr>
            <a:r>
              <a:rPr lang="en-US" dirty="0"/>
              <a:t>Architecture</a:t>
            </a:r>
          </a:p>
          <a:p>
            <a:pPr marL="285750" indent="-285750">
              <a:lnSpc>
                <a:spcPct val="150000"/>
              </a:lnSpc>
              <a:buFont typeface="Wingdings" panose="05000000000000000000" pitchFamily="2" charset="2"/>
              <a:buChar char="§"/>
            </a:pPr>
            <a:r>
              <a:rPr lang="en-US" dirty="0"/>
              <a:t>Models</a:t>
            </a:r>
          </a:p>
          <a:p>
            <a:pPr marL="285750" indent="-285750">
              <a:lnSpc>
                <a:spcPct val="150000"/>
              </a:lnSpc>
              <a:buFont typeface="Wingdings" panose="05000000000000000000" pitchFamily="2" charset="2"/>
              <a:buChar char="§"/>
            </a:pPr>
            <a:r>
              <a:rPr lang="en-US" dirty="0"/>
              <a:t>UML diagrams</a:t>
            </a:r>
          </a:p>
          <a:p>
            <a:pPr marL="285750" indent="-285750">
              <a:lnSpc>
                <a:spcPct val="150000"/>
              </a:lnSpc>
              <a:buFont typeface="Wingdings" panose="05000000000000000000" pitchFamily="2" charset="2"/>
              <a:buChar char="§"/>
            </a:pPr>
            <a:r>
              <a:rPr lang="en-US" dirty="0"/>
              <a:t>Source Code</a:t>
            </a:r>
          </a:p>
          <a:p>
            <a:pPr marL="285750" indent="-285750">
              <a:lnSpc>
                <a:spcPct val="150000"/>
              </a:lnSpc>
              <a:buFont typeface="Wingdings" panose="05000000000000000000" pitchFamily="2" charset="2"/>
              <a:buChar char="§"/>
            </a:pPr>
            <a:r>
              <a:rPr lang="en-US" dirty="0"/>
              <a:t>Results</a:t>
            </a:r>
          </a:p>
          <a:p>
            <a:pPr marL="285750" indent="-285750">
              <a:lnSpc>
                <a:spcPct val="150000"/>
              </a:lnSpc>
              <a:buFont typeface="Wingdings" panose="05000000000000000000" pitchFamily="2" charset="2"/>
              <a:buChar char="§"/>
            </a:pPr>
            <a:r>
              <a:rPr lang="en-US" dirty="0"/>
              <a:t>Conclusion &amp; Future Enhancements</a:t>
            </a:r>
          </a:p>
          <a:p>
            <a:pPr marL="285750" indent="-285750">
              <a:lnSpc>
                <a:spcPct val="150000"/>
              </a:lnSpc>
              <a:buFont typeface="Wingdings" panose="05000000000000000000" pitchFamily="2" charset="2"/>
              <a:buChar char="§"/>
            </a:pPr>
            <a:r>
              <a:rPr lang="en-US" dirty="0"/>
              <a:t>References</a:t>
            </a:r>
            <a:endParaRPr lang="en-IN" dirty="0"/>
          </a:p>
        </p:txBody>
      </p:sp>
      <p:sp>
        <p:nvSpPr>
          <p:cNvPr id="6" name="Rectangle 5">
            <a:extLst>
              <a:ext uri="{FF2B5EF4-FFF2-40B4-BE49-F238E27FC236}">
                <a16:creationId xmlns:a16="http://schemas.microsoft.com/office/drawing/2014/main" id="{38D01CBB-E986-B702-931B-2EFAECA0DDDF}"/>
              </a:ext>
            </a:extLst>
          </p:cNvPr>
          <p:cNvSpPr/>
          <p:nvPr/>
        </p:nvSpPr>
        <p:spPr>
          <a:xfrm rot="16200000">
            <a:off x="6091182" y="-5836658"/>
            <a:ext cx="264160" cy="119374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7" name="Rectangle 6">
            <a:extLst>
              <a:ext uri="{FF2B5EF4-FFF2-40B4-BE49-F238E27FC236}">
                <a16:creationId xmlns:a16="http://schemas.microsoft.com/office/drawing/2014/main" id="{B25F801E-3D65-285C-D54F-2C567EBD894B}"/>
              </a:ext>
            </a:extLst>
          </p:cNvPr>
          <p:cNvSpPr/>
          <p:nvPr/>
        </p:nvSpPr>
        <p:spPr>
          <a:xfrm rot="16200000">
            <a:off x="5846818" y="757182"/>
            <a:ext cx="264160" cy="119374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8" name="Rectangle 7">
            <a:extLst>
              <a:ext uri="{FF2B5EF4-FFF2-40B4-BE49-F238E27FC236}">
                <a16:creationId xmlns:a16="http://schemas.microsoft.com/office/drawing/2014/main" id="{1AEBD3F2-448B-0559-CEA1-8DAB1CAF0BD0}"/>
              </a:ext>
            </a:extLst>
          </p:cNvPr>
          <p:cNvSpPr/>
          <p:nvPr/>
        </p:nvSpPr>
        <p:spPr>
          <a:xfrm>
            <a:off x="-9427" y="0"/>
            <a:ext cx="25452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9" name="Rectangle 8">
            <a:extLst>
              <a:ext uri="{FF2B5EF4-FFF2-40B4-BE49-F238E27FC236}">
                <a16:creationId xmlns:a16="http://schemas.microsoft.com/office/drawing/2014/main" id="{4D038880-C0D0-DEFA-B3B6-749B071EBC50}"/>
              </a:ext>
            </a:extLst>
          </p:cNvPr>
          <p:cNvSpPr/>
          <p:nvPr/>
        </p:nvSpPr>
        <p:spPr>
          <a:xfrm>
            <a:off x="11956329" y="0"/>
            <a:ext cx="25452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34594656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C808359-BB8A-8C59-7B3E-25E0CE39088F}"/>
              </a:ext>
            </a:extLst>
          </p:cNvPr>
          <p:cNvSpPr txBox="1"/>
          <p:nvPr/>
        </p:nvSpPr>
        <p:spPr>
          <a:xfrm>
            <a:off x="4500236" y="779018"/>
            <a:ext cx="9007462" cy="1938992"/>
          </a:xfrm>
          <a:prstGeom prst="rect">
            <a:avLst/>
          </a:prstGeom>
          <a:noFill/>
        </p:spPr>
        <p:txBody>
          <a:bodyPr wrap="square" rtlCol="0">
            <a:spAutoFit/>
          </a:bodyPr>
          <a:lstStyle/>
          <a:p>
            <a:r>
              <a:rPr lang="en-US" sz="2800" b="1" dirty="0">
                <a:latin typeface="Times New Roman"/>
                <a:cs typeface="Arial"/>
              </a:rPr>
              <a:t> </a:t>
            </a:r>
          </a:p>
          <a:p>
            <a:r>
              <a:rPr lang="en-US" sz="2800" b="1" dirty="0">
                <a:latin typeface="Times New Roman"/>
                <a:cs typeface="Arial"/>
              </a:rPr>
              <a:t>INTRODUCTION</a:t>
            </a:r>
          </a:p>
          <a:p>
            <a:endParaRPr lang="en-US" sz="2800" b="1" dirty="0">
              <a:latin typeface="Times New Roman"/>
              <a:cs typeface="Arial"/>
            </a:endParaRPr>
          </a:p>
          <a:p>
            <a:r>
              <a:rPr lang="en-US" sz="1800" dirty="0">
                <a:latin typeface="Times New Roman"/>
                <a:cs typeface="Arial"/>
              </a:rPr>
              <a:t>​</a:t>
            </a:r>
          </a:p>
          <a:p>
            <a:endParaRPr lang="en-IN" dirty="0"/>
          </a:p>
        </p:txBody>
      </p:sp>
      <p:pic>
        <p:nvPicPr>
          <p:cNvPr id="6" name="Content Placeholder 3" descr="A logo with a flower&#10;&#10;Description automatically generated">
            <a:extLst>
              <a:ext uri="{FF2B5EF4-FFF2-40B4-BE49-F238E27FC236}">
                <a16:creationId xmlns:a16="http://schemas.microsoft.com/office/drawing/2014/main" id="{E1A17D99-8DA7-B2E0-5452-22D597BC3B1D}"/>
              </a:ext>
            </a:extLst>
          </p:cNvPr>
          <p:cNvPicPr>
            <a:picLocks noChangeAspect="1"/>
          </p:cNvPicPr>
          <p:nvPr/>
        </p:nvPicPr>
        <p:blipFill>
          <a:blip r:embed="rId3"/>
          <a:stretch>
            <a:fillRect/>
          </a:stretch>
        </p:blipFill>
        <p:spPr>
          <a:xfrm>
            <a:off x="10460411" y="264161"/>
            <a:ext cx="1477065" cy="1251226"/>
          </a:xfrm>
          <a:prstGeom prst="rect">
            <a:avLst/>
          </a:prstGeom>
        </p:spPr>
      </p:pic>
      <p:sp>
        <p:nvSpPr>
          <p:cNvPr id="4" name="TextBox 3">
            <a:extLst>
              <a:ext uri="{FF2B5EF4-FFF2-40B4-BE49-F238E27FC236}">
                <a16:creationId xmlns:a16="http://schemas.microsoft.com/office/drawing/2014/main" id="{9F72D41A-D77C-1E41-3C08-8A1C0D2202FA}"/>
              </a:ext>
            </a:extLst>
          </p:cNvPr>
          <p:cNvSpPr txBox="1"/>
          <p:nvPr/>
        </p:nvSpPr>
        <p:spPr>
          <a:xfrm>
            <a:off x="754144" y="2030244"/>
            <a:ext cx="10517136" cy="3402855"/>
          </a:xfrm>
          <a:prstGeom prst="rect">
            <a:avLst/>
          </a:prstGeom>
          <a:noFill/>
        </p:spPr>
        <p:txBody>
          <a:bodyPr wrap="square">
            <a:spAutoFit/>
          </a:bodyPr>
          <a:lstStyle/>
          <a:p>
            <a:pPr algn="just"/>
            <a:endParaRPr lang="en-US" sz="1600" dirty="0"/>
          </a:p>
          <a:p>
            <a:pPr algn="just"/>
            <a:r>
              <a:rPr lang="en-US" dirty="0">
                <a:latin typeface="Times New Roman" panose="02020603050405020304" pitchFamily="18" charset="0"/>
                <a:cs typeface="Times New Roman" panose="02020603050405020304" pitchFamily="18" charset="0"/>
              </a:rPr>
              <a:t>Legal and financial documents are often lengthy and complex, making manual analysis slow and error-prone. This work presents an intelligent summarization system using advanced NLP and Transformer-based models. The system extracts text from PDFs and applies Sentence-BERT for extractive summarization, identifying key sentences, while BART generates abstractive, human-like summaries. </a:t>
            </a:r>
          </a:p>
          <a:p>
            <a:pPr algn="just"/>
            <a:endParaRPr lang="en-US" sz="1600" dirty="0"/>
          </a:p>
          <a:p>
            <a:pPr algn="just"/>
            <a:r>
              <a:rPr lang="en-US" dirty="0">
                <a:latin typeface="Times New Roman" panose="02020603050405020304" pitchFamily="18" charset="0"/>
                <a:cs typeface="Times New Roman" panose="02020603050405020304" pitchFamily="18" charset="0"/>
              </a:rPr>
              <a:t>Performance evaluation using ROUGE metrics, compression ratio, and sentence importance analysis shows improved accuracy and contextual relevance over traditional methods. An interactive web interface enables real-time document upload, summary generation, and visualization, significantly reducing review time, enhancing comprehension, and supporting efficient decision-making. The system is scalable and can be extended for domain-specific and multilingual applications in the future.</a:t>
            </a:r>
          </a:p>
          <a:p>
            <a:pPr algn="just">
              <a:lnSpc>
                <a:spcPct val="150000"/>
              </a:lnSpc>
              <a:buNone/>
            </a:pPr>
            <a:endParaRPr lang="en-IN" sz="1600" dirty="0">
              <a:effectLst/>
              <a:latin typeface="Times New Roman" panose="02020603050405020304" pitchFamily="18" charset="0"/>
              <a:ea typeface="Times New Roman" panose="02020603050405020304" pitchFamily="18" charset="0"/>
            </a:endParaRPr>
          </a:p>
        </p:txBody>
      </p:sp>
      <p:sp>
        <p:nvSpPr>
          <p:cNvPr id="2" name="Rectangle 1">
            <a:extLst>
              <a:ext uri="{FF2B5EF4-FFF2-40B4-BE49-F238E27FC236}">
                <a16:creationId xmlns:a16="http://schemas.microsoft.com/office/drawing/2014/main" id="{27DD1FA8-AF1C-E8A2-D81F-A8513BA90913}"/>
              </a:ext>
            </a:extLst>
          </p:cNvPr>
          <p:cNvSpPr/>
          <p:nvPr/>
        </p:nvSpPr>
        <p:spPr>
          <a:xfrm>
            <a:off x="-10160" y="0"/>
            <a:ext cx="25452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5" name="Rectangle 4">
            <a:extLst>
              <a:ext uri="{FF2B5EF4-FFF2-40B4-BE49-F238E27FC236}">
                <a16:creationId xmlns:a16="http://schemas.microsoft.com/office/drawing/2014/main" id="{91FD7F56-AB99-F8CC-539B-8BF50E9578B8}"/>
              </a:ext>
            </a:extLst>
          </p:cNvPr>
          <p:cNvSpPr/>
          <p:nvPr/>
        </p:nvSpPr>
        <p:spPr>
          <a:xfrm>
            <a:off x="11938000" y="0"/>
            <a:ext cx="25452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7" name="Rectangle 6">
            <a:extLst>
              <a:ext uri="{FF2B5EF4-FFF2-40B4-BE49-F238E27FC236}">
                <a16:creationId xmlns:a16="http://schemas.microsoft.com/office/drawing/2014/main" id="{342CCAC4-5D82-560E-37B1-2CD002CF5DE4}"/>
              </a:ext>
            </a:extLst>
          </p:cNvPr>
          <p:cNvSpPr/>
          <p:nvPr/>
        </p:nvSpPr>
        <p:spPr>
          <a:xfrm rot="16200000">
            <a:off x="6091182" y="-5836658"/>
            <a:ext cx="264160" cy="119374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8" name="Rectangle 7">
            <a:extLst>
              <a:ext uri="{FF2B5EF4-FFF2-40B4-BE49-F238E27FC236}">
                <a16:creationId xmlns:a16="http://schemas.microsoft.com/office/drawing/2014/main" id="{60037C37-5E5A-3C7E-0423-B7AEBD2C39BF}"/>
              </a:ext>
            </a:extLst>
          </p:cNvPr>
          <p:cNvSpPr/>
          <p:nvPr/>
        </p:nvSpPr>
        <p:spPr>
          <a:xfrm rot="16200000">
            <a:off x="5836658" y="757182"/>
            <a:ext cx="264160" cy="119374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Tree>
    <p:extLst>
      <p:ext uri="{BB962C8B-B14F-4D97-AF65-F5344CB8AC3E}">
        <p14:creationId xmlns:p14="http://schemas.microsoft.com/office/powerpoint/2010/main" val="7951527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AEDD66-E985-6589-9EC8-F4140894020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73C82FA-65C2-D15F-EC97-2283C824B33D}"/>
              </a:ext>
            </a:extLst>
          </p:cNvPr>
          <p:cNvSpPr txBox="1"/>
          <p:nvPr/>
        </p:nvSpPr>
        <p:spPr>
          <a:xfrm>
            <a:off x="3619893" y="791851"/>
            <a:ext cx="4193204" cy="1938992"/>
          </a:xfrm>
          <a:prstGeom prst="rect">
            <a:avLst/>
          </a:prstGeom>
          <a:noFill/>
        </p:spPr>
        <p:txBody>
          <a:bodyPr wrap="square" rtlCol="0">
            <a:spAutoFit/>
          </a:bodyPr>
          <a:lstStyle/>
          <a:p>
            <a:pPr algn="ctr"/>
            <a:r>
              <a:rPr lang="en-US" sz="2800" b="1" dirty="0">
                <a:latin typeface="Times New Roman"/>
                <a:cs typeface="Arial"/>
              </a:rPr>
              <a:t> </a:t>
            </a:r>
          </a:p>
          <a:p>
            <a:pPr algn="ctr"/>
            <a:r>
              <a:rPr lang="en-US" sz="2800" b="1" dirty="0">
                <a:latin typeface="Times New Roman"/>
                <a:cs typeface="Arial"/>
              </a:rPr>
              <a:t>  Existing System</a:t>
            </a:r>
          </a:p>
          <a:p>
            <a:pPr algn="ctr"/>
            <a:endParaRPr lang="en-US" sz="2800" b="1" dirty="0">
              <a:latin typeface="Times New Roman"/>
              <a:cs typeface="Arial"/>
            </a:endParaRPr>
          </a:p>
          <a:p>
            <a:pPr algn="ctr"/>
            <a:r>
              <a:rPr lang="en-US" sz="1800" dirty="0">
                <a:latin typeface="Times New Roman"/>
                <a:cs typeface="Arial"/>
              </a:rPr>
              <a:t>​</a:t>
            </a:r>
          </a:p>
          <a:p>
            <a:pPr algn="ctr"/>
            <a:endParaRPr lang="en-IN" dirty="0"/>
          </a:p>
        </p:txBody>
      </p:sp>
      <p:pic>
        <p:nvPicPr>
          <p:cNvPr id="6" name="Content Placeholder 3" descr="A logo with a flower&#10;&#10;Description automatically generated">
            <a:extLst>
              <a:ext uri="{FF2B5EF4-FFF2-40B4-BE49-F238E27FC236}">
                <a16:creationId xmlns:a16="http://schemas.microsoft.com/office/drawing/2014/main" id="{9EB3684E-26F8-F793-90DB-DBD85A001EC3}"/>
              </a:ext>
            </a:extLst>
          </p:cNvPr>
          <p:cNvPicPr>
            <a:picLocks noChangeAspect="1"/>
          </p:cNvPicPr>
          <p:nvPr/>
        </p:nvPicPr>
        <p:blipFill>
          <a:blip r:embed="rId3"/>
          <a:stretch>
            <a:fillRect/>
          </a:stretch>
        </p:blipFill>
        <p:spPr>
          <a:xfrm>
            <a:off x="10460412" y="300753"/>
            <a:ext cx="1477065" cy="1251226"/>
          </a:xfrm>
          <a:prstGeom prst="rect">
            <a:avLst/>
          </a:prstGeom>
        </p:spPr>
      </p:pic>
      <p:sp>
        <p:nvSpPr>
          <p:cNvPr id="4" name="TextBox 3">
            <a:extLst>
              <a:ext uri="{FF2B5EF4-FFF2-40B4-BE49-F238E27FC236}">
                <a16:creationId xmlns:a16="http://schemas.microsoft.com/office/drawing/2014/main" id="{509EC40A-6451-2D6B-9323-9A8495031129}"/>
              </a:ext>
            </a:extLst>
          </p:cNvPr>
          <p:cNvSpPr txBox="1"/>
          <p:nvPr/>
        </p:nvSpPr>
        <p:spPr>
          <a:xfrm>
            <a:off x="889684" y="2177592"/>
            <a:ext cx="10412631" cy="2831544"/>
          </a:xfrm>
          <a:prstGeom prst="rect">
            <a:avLst/>
          </a:prstGeom>
          <a:noFill/>
        </p:spPr>
        <p:txBody>
          <a:bodyPr wrap="square">
            <a:spAutoFit/>
          </a:bodyPr>
          <a:lstStyle/>
          <a:p>
            <a:pPr algn="just"/>
            <a:r>
              <a:rPr lang="en-US" dirty="0">
                <a:latin typeface="Times New Roman" panose="02020603050405020304" pitchFamily="18" charset="0"/>
                <a:cs typeface="Times New Roman" panose="02020603050405020304" pitchFamily="18" charset="0"/>
              </a:rPr>
              <a:t>Existing legal and financial document summarization systems mainly rely on traditional NLP and statistical methods, using extractive techniques based on word frequency, TF-IDF, sentence position, or keyword matching. Approaches like rule-based summarization, LSA, and Text Rank help reduce document length but lack semantic understanding, often producing disjointed and non-coherent summaries. </a:t>
            </a:r>
          </a:p>
          <a:p>
            <a:pPr algn="just"/>
            <a:endParaRPr lang="en-US" sz="1600" dirty="0"/>
          </a:p>
          <a:p>
            <a:pPr algn="just"/>
            <a:r>
              <a:rPr lang="en-US" dirty="0">
                <a:latin typeface="Times New Roman" panose="02020603050405020304" pitchFamily="18" charset="0"/>
                <a:cs typeface="Times New Roman" panose="02020603050405020304" pitchFamily="18" charset="0"/>
              </a:rPr>
              <a:t>Most tools are domain-independent, failing to capture critical legal or financial information such as obligations, conditions, and key decisions. Additionally, they typically do not provide performance evaluation metrics, visual insights, or interactive interfaces for document upload and analysis. Consequently, professionals like lawyers, financial analysts, and researchers continue to rely on manual reading, which is time-consuming, prone to errors, and limits efficiency.</a:t>
            </a:r>
          </a:p>
        </p:txBody>
      </p:sp>
      <p:sp>
        <p:nvSpPr>
          <p:cNvPr id="2" name="Rectangle 1">
            <a:extLst>
              <a:ext uri="{FF2B5EF4-FFF2-40B4-BE49-F238E27FC236}">
                <a16:creationId xmlns:a16="http://schemas.microsoft.com/office/drawing/2014/main" id="{41F627B2-3C66-BF67-43AD-D84466FB747E}"/>
              </a:ext>
            </a:extLst>
          </p:cNvPr>
          <p:cNvSpPr/>
          <p:nvPr/>
        </p:nvSpPr>
        <p:spPr>
          <a:xfrm>
            <a:off x="-9427" y="0"/>
            <a:ext cx="25452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5" name="Rectangle 4">
            <a:extLst>
              <a:ext uri="{FF2B5EF4-FFF2-40B4-BE49-F238E27FC236}">
                <a16:creationId xmlns:a16="http://schemas.microsoft.com/office/drawing/2014/main" id="{71B93972-FCF6-BD31-64C0-A3E7D7190F81}"/>
              </a:ext>
            </a:extLst>
          </p:cNvPr>
          <p:cNvSpPr/>
          <p:nvPr/>
        </p:nvSpPr>
        <p:spPr>
          <a:xfrm rot="16200000">
            <a:off x="6091182" y="757182"/>
            <a:ext cx="264160" cy="119374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7" name="Rectangle 6">
            <a:extLst>
              <a:ext uri="{FF2B5EF4-FFF2-40B4-BE49-F238E27FC236}">
                <a16:creationId xmlns:a16="http://schemas.microsoft.com/office/drawing/2014/main" id="{0828A72F-C19A-E25C-7B88-4EEA3CECF904}"/>
              </a:ext>
            </a:extLst>
          </p:cNvPr>
          <p:cNvSpPr/>
          <p:nvPr/>
        </p:nvSpPr>
        <p:spPr>
          <a:xfrm rot="16200000">
            <a:off x="6091182" y="-5846085"/>
            <a:ext cx="264160" cy="119374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8" name="Rectangle 7">
            <a:extLst>
              <a:ext uri="{FF2B5EF4-FFF2-40B4-BE49-F238E27FC236}">
                <a16:creationId xmlns:a16="http://schemas.microsoft.com/office/drawing/2014/main" id="{C4A0FB63-08AE-F2EF-25C4-40D8F838FBCD}"/>
              </a:ext>
            </a:extLst>
          </p:cNvPr>
          <p:cNvSpPr/>
          <p:nvPr/>
        </p:nvSpPr>
        <p:spPr>
          <a:xfrm>
            <a:off x="11937477" y="0"/>
            <a:ext cx="25452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26179261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2FCC5C-A088-BFFF-3095-F6EC6A16C82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ACCE4F0-33A4-2A9F-C57B-E19008B361F8}"/>
              </a:ext>
            </a:extLst>
          </p:cNvPr>
          <p:cNvSpPr txBox="1"/>
          <p:nvPr/>
        </p:nvSpPr>
        <p:spPr>
          <a:xfrm>
            <a:off x="4255977" y="751966"/>
            <a:ext cx="3934570" cy="1938992"/>
          </a:xfrm>
          <a:prstGeom prst="rect">
            <a:avLst/>
          </a:prstGeom>
          <a:noFill/>
        </p:spPr>
        <p:txBody>
          <a:bodyPr wrap="square" rtlCol="0">
            <a:spAutoFit/>
          </a:bodyPr>
          <a:lstStyle/>
          <a:p>
            <a:r>
              <a:rPr lang="en-US" sz="2800" b="1" dirty="0">
                <a:latin typeface="Times New Roman"/>
                <a:cs typeface="Arial"/>
              </a:rPr>
              <a:t> </a:t>
            </a:r>
          </a:p>
          <a:p>
            <a:pPr algn="ctr"/>
            <a:r>
              <a:rPr lang="en-US" sz="2800" b="1" dirty="0">
                <a:latin typeface="Times New Roman"/>
                <a:cs typeface="Arial"/>
              </a:rPr>
              <a:t>Disadvantages</a:t>
            </a:r>
          </a:p>
          <a:p>
            <a:endParaRPr lang="en-US" sz="2800" b="1" dirty="0">
              <a:latin typeface="Times New Roman"/>
              <a:cs typeface="Arial"/>
            </a:endParaRPr>
          </a:p>
          <a:p>
            <a:r>
              <a:rPr lang="en-US" sz="1800" dirty="0">
                <a:latin typeface="Times New Roman"/>
                <a:cs typeface="Arial"/>
              </a:rPr>
              <a:t>​</a:t>
            </a:r>
          </a:p>
          <a:p>
            <a:endParaRPr lang="en-IN" dirty="0"/>
          </a:p>
        </p:txBody>
      </p:sp>
      <p:pic>
        <p:nvPicPr>
          <p:cNvPr id="6" name="Content Placeholder 3" descr="A logo with a flower&#10;&#10;Description automatically generated">
            <a:extLst>
              <a:ext uri="{FF2B5EF4-FFF2-40B4-BE49-F238E27FC236}">
                <a16:creationId xmlns:a16="http://schemas.microsoft.com/office/drawing/2014/main" id="{E3880435-ED2E-8D36-DE46-39326435D7F0}"/>
              </a:ext>
            </a:extLst>
          </p:cNvPr>
          <p:cNvPicPr>
            <a:picLocks noChangeAspect="1"/>
          </p:cNvPicPr>
          <p:nvPr/>
        </p:nvPicPr>
        <p:blipFill>
          <a:blip r:embed="rId3"/>
          <a:stretch>
            <a:fillRect/>
          </a:stretch>
        </p:blipFill>
        <p:spPr>
          <a:xfrm>
            <a:off x="10460411" y="264161"/>
            <a:ext cx="1477065" cy="1251226"/>
          </a:xfrm>
          <a:prstGeom prst="rect">
            <a:avLst/>
          </a:prstGeom>
        </p:spPr>
      </p:pic>
      <p:sp>
        <p:nvSpPr>
          <p:cNvPr id="2" name="Rectangle 1">
            <a:extLst>
              <a:ext uri="{FF2B5EF4-FFF2-40B4-BE49-F238E27FC236}">
                <a16:creationId xmlns:a16="http://schemas.microsoft.com/office/drawing/2014/main" id="{91B438CE-99E4-3FA5-88CD-62D564FD7C5C}"/>
              </a:ext>
            </a:extLst>
          </p:cNvPr>
          <p:cNvSpPr>
            <a:spLocks noChangeArrowheads="1"/>
          </p:cNvSpPr>
          <p:nvPr/>
        </p:nvSpPr>
        <p:spPr bwMode="auto">
          <a:xfrm>
            <a:off x="1219793" y="2077647"/>
            <a:ext cx="9007462" cy="3366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Relies mainly on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keyword-based and statistical extractive methods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defTabSz="914400" rtl="0" eaLnBrk="0" fontAlgn="base" latinLnBrk="0" hangingPunct="0">
              <a:lnSpc>
                <a:spcPct val="15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Lacks semantic and contextual understanding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of legal and financial text.</a:t>
            </a:r>
          </a:p>
          <a:p>
            <a:pPr marL="0" marR="0" lvl="0" indent="0"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Produces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non-coherent summaries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by copying sentences directly.</a:t>
            </a:r>
          </a:p>
          <a:p>
            <a:pPr marL="0" marR="0" lvl="0" indent="0"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May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miss critical legal clauses and financial obligations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Cannot generate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human-like abstractive summaries.</a:t>
            </a:r>
          </a:p>
          <a:p>
            <a:pPr marL="0" marR="0" lvl="0" indent="0"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Not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domain-specific,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leading to poor handling of complex terminology.</a:t>
            </a:r>
          </a:p>
          <a:p>
            <a:pPr marL="0" marR="0" lvl="0" indent="0" defTabSz="914400" rtl="0" eaLnBrk="0" fontAlgn="base" latinLnBrk="0" hangingPunct="0">
              <a:lnSpc>
                <a:spcPct val="15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 evaluation metrics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measure summary accuracy.</a:t>
            </a:r>
          </a:p>
          <a:p>
            <a:pPr marL="0" marR="0" lvl="0" indent="0"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Limited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interaction and visualization support.</a:t>
            </a:r>
          </a:p>
        </p:txBody>
      </p:sp>
      <p:sp>
        <p:nvSpPr>
          <p:cNvPr id="4" name="Rectangle 3">
            <a:extLst>
              <a:ext uri="{FF2B5EF4-FFF2-40B4-BE49-F238E27FC236}">
                <a16:creationId xmlns:a16="http://schemas.microsoft.com/office/drawing/2014/main" id="{79DB6048-5D39-31B6-00EC-0C36BB924534}"/>
              </a:ext>
            </a:extLst>
          </p:cNvPr>
          <p:cNvSpPr/>
          <p:nvPr/>
        </p:nvSpPr>
        <p:spPr>
          <a:xfrm rot="16200000">
            <a:off x="6091182" y="-5836658"/>
            <a:ext cx="264160" cy="119374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5" name="Rectangle 4">
            <a:extLst>
              <a:ext uri="{FF2B5EF4-FFF2-40B4-BE49-F238E27FC236}">
                <a16:creationId xmlns:a16="http://schemas.microsoft.com/office/drawing/2014/main" id="{4D75D65B-02A4-423E-A3F0-06D98F2288F4}"/>
              </a:ext>
            </a:extLst>
          </p:cNvPr>
          <p:cNvSpPr/>
          <p:nvPr/>
        </p:nvSpPr>
        <p:spPr>
          <a:xfrm rot="16200000">
            <a:off x="5836658" y="757182"/>
            <a:ext cx="264160" cy="119374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7" name="Rectangle 6">
            <a:extLst>
              <a:ext uri="{FF2B5EF4-FFF2-40B4-BE49-F238E27FC236}">
                <a16:creationId xmlns:a16="http://schemas.microsoft.com/office/drawing/2014/main" id="{08EDA454-FA41-0AAC-68E6-7B9DBD04D5DC}"/>
              </a:ext>
            </a:extLst>
          </p:cNvPr>
          <p:cNvSpPr/>
          <p:nvPr/>
        </p:nvSpPr>
        <p:spPr>
          <a:xfrm>
            <a:off x="0" y="0"/>
            <a:ext cx="25452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8" name="Rectangle 7">
            <a:extLst>
              <a:ext uri="{FF2B5EF4-FFF2-40B4-BE49-F238E27FC236}">
                <a16:creationId xmlns:a16="http://schemas.microsoft.com/office/drawing/2014/main" id="{08936DE7-C74E-823A-2227-1EBFB66F1C20}"/>
              </a:ext>
            </a:extLst>
          </p:cNvPr>
          <p:cNvSpPr/>
          <p:nvPr/>
        </p:nvSpPr>
        <p:spPr>
          <a:xfrm>
            <a:off x="11937476" y="-2"/>
            <a:ext cx="25452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41419824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EB8459-7765-E294-CA8C-65C277C5321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C3F6AF9-6A70-02FA-9998-179BC4CEE46E}"/>
              </a:ext>
            </a:extLst>
          </p:cNvPr>
          <p:cNvSpPr txBox="1"/>
          <p:nvPr/>
        </p:nvSpPr>
        <p:spPr>
          <a:xfrm>
            <a:off x="950182" y="1875934"/>
            <a:ext cx="10291636" cy="4801314"/>
          </a:xfrm>
          <a:prstGeom prst="rect">
            <a:avLst/>
          </a:prstGeom>
          <a:noFill/>
        </p:spPr>
        <p:txBody>
          <a:bodyPr wrap="square" rtlCol="0">
            <a:spAutoFit/>
          </a:bodyPr>
          <a:lstStyle/>
          <a:p>
            <a:pPr algn="just"/>
            <a:r>
              <a:rPr lang="en-US" sz="1800" dirty="0">
                <a:latin typeface="Times New Roman"/>
                <a:cs typeface="Arial"/>
              </a:rPr>
              <a:t>​</a:t>
            </a:r>
            <a:r>
              <a:rPr lang="en-US" dirty="0">
                <a:latin typeface="Times New Roman" panose="02020603050405020304" pitchFamily="18" charset="0"/>
                <a:cs typeface="Times New Roman" panose="02020603050405020304" pitchFamily="18" charset="0"/>
              </a:rPr>
              <a:t>The proposed system, Legal and Financial Document Summarizer using NLP and AI Models, is designed to overcome the limitations of traditional summarization methods by using advanced Natural Language Processing (NLP) and Transformer-based deep learning models. The system performs extractive summarization using Sentence-BERT, which ranks sentences based on semantic similarity and contextual importance.</a:t>
            </a:r>
          </a:p>
          <a:p>
            <a:pPr algn="just"/>
            <a:endParaRPr lang="en-US" dirty="0"/>
          </a:p>
          <a:p>
            <a:pPr algn="just"/>
            <a:r>
              <a:rPr lang="en-US" dirty="0">
                <a:latin typeface="Times New Roman" panose="02020603050405020304" pitchFamily="18" charset="0"/>
                <a:cs typeface="Times New Roman" panose="02020603050405020304" pitchFamily="18" charset="0"/>
              </a:rPr>
              <a:t>In addition, the system applies abstractive summarization using the</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BART Transformer model to generate coherent and human-like summaries while preserving the original meaning of the document. The system supports automatic PDF upload and text extraction, making it easy to process large legal and financial documents.</a:t>
            </a:r>
          </a:p>
          <a:p>
            <a:pPr algn="just"/>
            <a:endParaRPr lang="en-US" dirty="0"/>
          </a:p>
          <a:p>
            <a:pPr algn="just"/>
            <a:r>
              <a:rPr lang="en-US" dirty="0">
                <a:latin typeface="Times New Roman" panose="02020603050405020304" pitchFamily="18" charset="0"/>
                <a:cs typeface="Times New Roman" panose="02020603050405020304" pitchFamily="18" charset="0"/>
              </a:rPr>
              <a:t>It also provides visual analytics such as sentence importance ranking, text compression comparison, and ROUGE evaluation metrics to measure summary quality. A user-friendly web interface allows users to view summaries and download structured PDF reports, helping legal professionals and financial analysts save time and improve productivity.</a:t>
            </a:r>
          </a:p>
          <a:p>
            <a:pPr algn="just"/>
            <a:endParaRPr lang="en-US" sz="1800" dirty="0">
              <a:latin typeface="Times New Roman"/>
              <a:cs typeface="Arial"/>
            </a:endParaRPr>
          </a:p>
          <a:p>
            <a:pPr algn="just"/>
            <a:endParaRPr lang="en-IN" dirty="0"/>
          </a:p>
        </p:txBody>
      </p:sp>
      <p:pic>
        <p:nvPicPr>
          <p:cNvPr id="6" name="Content Placeholder 3" descr="A logo with a flower&#10;&#10;Description automatically generated">
            <a:extLst>
              <a:ext uri="{FF2B5EF4-FFF2-40B4-BE49-F238E27FC236}">
                <a16:creationId xmlns:a16="http://schemas.microsoft.com/office/drawing/2014/main" id="{21BBBCD7-D8CC-A0B4-4B28-EEAB6F2F27E6}"/>
              </a:ext>
            </a:extLst>
          </p:cNvPr>
          <p:cNvPicPr>
            <a:picLocks noChangeAspect="1"/>
          </p:cNvPicPr>
          <p:nvPr/>
        </p:nvPicPr>
        <p:blipFill>
          <a:blip r:embed="rId3"/>
          <a:stretch>
            <a:fillRect/>
          </a:stretch>
        </p:blipFill>
        <p:spPr>
          <a:xfrm>
            <a:off x="10241260" y="338123"/>
            <a:ext cx="1477065" cy="1251226"/>
          </a:xfrm>
          <a:prstGeom prst="rect">
            <a:avLst/>
          </a:prstGeom>
        </p:spPr>
      </p:pic>
      <p:sp>
        <p:nvSpPr>
          <p:cNvPr id="4" name="TextBox 3">
            <a:extLst>
              <a:ext uri="{FF2B5EF4-FFF2-40B4-BE49-F238E27FC236}">
                <a16:creationId xmlns:a16="http://schemas.microsoft.com/office/drawing/2014/main" id="{2CA9BC00-E78B-425F-94EC-F96C26FF263A}"/>
              </a:ext>
            </a:extLst>
          </p:cNvPr>
          <p:cNvSpPr txBox="1"/>
          <p:nvPr/>
        </p:nvSpPr>
        <p:spPr>
          <a:xfrm>
            <a:off x="4045638" y="798716"/>
            <a:ext cx="3174843" cy="1077218"/>
          </a:xfrm>
          <a:prstGeom prst="rect">
            <a:avLst/>
          </a:prstGeom>
          <a:noFill/>
        </p:spPr>
        <p:txBody>
          <a:bodyPr wrap="none" rtlCol="0">
            <a:spAutoFit/>
          </a:bodyPr>
          <a:lstStyle/>
          <a:p>
            <a:r>
              <a:rPr lang="en-US" sz="3200" b="1" dirty="0">
                <a:latin typeface="Times New Roman" panose="02020603050405020304" pitchFamily="18" charset="0"/>
                <a:cs typeface="Times New Roman" panose="02020603050405020304" pitchFamily="18" charset="0"/>
              </a:rPr>
              <a:t>Proposed System</a:t>
            </a:r>
          </a:p>
          <a:p>
            <a:endParaRPr lang="en-IN" sz="3200" dirty="0">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70459903-53C2-3BC2-331D-610FFF8E3758}"/>
              </a:ext>
            </a:extLst>
          </p:cNvPr>
          <p:cNvSpPr/>
          <p:nvPr/>
        </p:nvSpPr>
        <p:spPr>
          <a:xfrm rot="16200000">
            <a:off x="6091182" y="-5846818"/>
            <a:ext cx="264160" cy="119374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5" name="Rectangle 4">
            <a:extLst>
              <a:ext uri="{FF2B5EF4-FFF2-40B4-BE49-F238E27FC236}">
                <a16:creationId xmlns:a16="http://schemas.microsoft.com/office/drawing/2014/main" id="{9D02A273-AA31-3DA6-C7F5-8ACF08E1897C}"/>
              </a:ext>
            </a:extLst>
          </p:cNvPr>
          <p:cNvSpPr/>
          <p:nvPr/>
        </p:nvSpPr>
        <p:spPr>
          <a:xfrm rot="16200000">
            <a:off x="5836658" y="757182"/>
            <a:ext cx="264160" cy="119374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7" name="Rectangle 6">
            <a:extLst>
              <a:ext uri="{FF2B5EF4-FFF2-40B4-BE49-F238E27FC236}">
                <a16:creationId xmlns:a16="http://schemas.microsoft.com/office/drawing/2014/main" id="{388BB65D-0145-C624-EEF7-F2C2DC158D78}"/>
              </a:ext>
            </a:extLst>
          </p:cNvPr>
          <p:cNvSpPr/>
          <p:nvPr/>
        </p:nvSpPr>
        <p:spPr>
          <a:xfrm>
            <a:off x="-10160" y="0"/>
            <a:ext cx="25452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8" name="Rectangle 7">
            <a:extLst>
              <a:ext uri="{FF2B5EF4-FFF2-40B4-BE49-F238E27FC236}">
                <a16:creationId xmlns:a16="http://schemas.microsoft.com/office/drawing/2014/main" id="{4CC76CEE-2B88-3203-C51D-30BD69AAF532}"/>
              </a:ext>
            </a:extLst>
          </p:cNvPr>
          <p:cNvSpPr/>
          <p:nvPr/>
        </p:nvSpPr>
        <p:spPr>
          <a:xfrm>
            <a:off x="11937476" y="2843"/>
            <a:ext cx="25452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26977794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4E4CA0-2BEC-9CED-7F52-ABFF0E6D823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EEE4202-C96F-30CD-BB5A-3D0BD290390B}"/>
              </a:ext>
            </a:extLst>
          </p:cNvPr>
          <p:cNvSpPr txBox="1"/>
          <p:nvPr/>
        </p:nvSpPr>
        <p:spPr>
          <a:xfrm>
            <a:off x="4109504" y="551522"/>
            <a:ext cx="8692830" cy="1938992"/>
          </a:xfrm>
          <a:prstGeom prst="rect">
            <a:avLst/>
          </a:prstGeom>
          <a:noFill/>
        </p:spPr>
        <p:txBody>
          <a:bodyPr wrap="square" rtlCol="0">
            <a:spAutoFit/>
          </a:bodyPr>
          <a:lstStyle/>
          <a:p>
            <a:r>
              <a:rPr lang="en-US" sz="2800" b="1" dirty="0">
                <a:latin typeface="Times New Roman"/>
                <a:cs typeface="Arial"/>
              </a:rPr>
              <a:t> </a:t>
            </a:r>
          </a:p>
          <a:p>
            <a:r>
              <a:rPr lang="en-US" sz="2800" b="1" dirty="0">
                <a:latin typeface="Times New Roman"/>
                <a:cs typeface="Arial"/>
              </a:rPr>
              <a:t>Advantages</a:t>
            </a:r>
          </a:p>
          <a:p>
            <a:endParaRPr lang="en-US" sz="2800" b="1" dirty="0">
              <a:latin typeface="Times New Roman"/>
              <a:cs typeface="Arial"/>
            </a:endParaRPr>
          </a:p>
          <a:p>
            <a:r>
              <a:rPr lang="en-US" sz="1800" dirty="0">
                <a:latin typeface="Times New Roman"/>
                <a:cs typeface="Arial"/>
              </a:rPr>
              <a:t>​</a:t>
            </a:r>
          </a:p>
          <a:p>
            <a:endParaRPr lang="en-IN" dirty="0"/>
          </a:p>
        </p:txBody>
      </p:sp>
      <p:pic>
        <p:nvPicPr>
          <p:cNvPr id="6" name="Content Placeholder 3" descr="A logo with a flower&#10;&#10;Description automatically generated">
            <a:extLst>
              <a:ext uri="{FF2B5EF4-FFF2-40B4-BE49-F238E27FC236}">
                <a16:creationId xmlns:a16="http://schemas.microsoft.com/office/drawing/2014/main" id="{CB2AD4BA-C2B0-B3C1-0C6C-A62A19D4AA25}"/>
              </a:ext>
            </a:extLst>
          </p:cNvPr>
          <p:cNvPicPr>
            <a:picLocks noChangeAspect="1"/>
          </p:cNvPicPr>
          <p:nvPr/>
        </p:nvPicPr>
        <p:blipFill>
          <a:blip r:embed="rId3"/>
          <a:stretch>
            <a:fillRect/>
          </a:stretch>
        </p:blipFill>
        <p:spPr>
          <a:xfrm>
            <a:off x="10289455" y="355993"/>
            <a:ext cx="1477065" cy="1251226"/>
          </a:xfrm>
          <a:prstGeom prst="rect">
            <a:avLst/>
          </a:prstGeom>
        </p:spPr>
      </p:pic>
      <p:sp>
        <p:nvSpPr>
          <p:cNvPr id="7" name="Rectangle 3">
            <a:extLst>
              <a:ext uri="{FF2B5EF4-FFF2-40B4-BE49-F238E27FC236}">
                <a16:creationId xmlns:a16="http://schemas.microsoft.com/office/drawing/2014/main" id="{2B36858C-1829-CD47-3D1B-14053F267B1C}"/>
              </a:ext>
            </a:extLst>
          </p:cNvPr>
          <p:cNvSpPr>
            <a:spLocks noChangeArrowheads="1"/>
          </p:cNvSpPr>
          <p:nvPr/>
        </p:nvSpPr>
        <p:spPr bwMode="auto">
          <a:xfrm>
            <a:off x="1274402" y="1607219"/>
            <a:ext cx="9440533" cy="364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2" eaLnBrk="0" fontAlgn="base" hangingPunct="0">
              <a:spcBef>
                <a:spcPct val="0"/>
              </a:spcBef>
              <a:spcAft>
                <a:spcPct val="0"/>
              </a:spcAf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Generates both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extractive and abstractive summaries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improving clarity and readability.</a:t>
            </a:r>
          </a:p>
          <a:p>
            <a:pPr eaLnBrk="0" fontAlgn="base" hangingPunct="0">
              <a:lnSpc>
                <a:spcPct val="150000"/>
              </a:lnSpc>
              <a:spcBef>
                <a:spcPct val="0"/>
              </a:spcBef>
              <a:spcAft>
                <a:spcPct val="0"/>
              </a:spcAft>
              <a:buFontTx/>
              <a:buChar char="•"/>
            </a:pPr>
            <a:r>
              <a:rPr lang="en-US" altLang="en-US" dirty="0">
                <a:latin typeface="Times New Roman" panose="02020603050405020304" pitchFamily="18" charset="0"/>
                <a:cs typeface="Times New Roman" panose="02020603050405020304" pitchFamily="18" charset="0"/>
              </a:rPr>
              <a:t>Uses advanced NLP and Transformer-based models for accurate and context-aware summarization.</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Preserves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important legal clauses and financial insights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without information loss.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Provides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ROUGE evaluation metrics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measure summary accuracy and performance.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Offers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visual analytics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such as sentence importance and compression comparison.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Supports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automatic PDF upload and text extraction,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reducing manual effort.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Includes a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user-friendly web interface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for easy interaction and report download.</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Scalable for future enhancements like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multilingual and domain-specific summarization.</a:t>
            </a:r>
          </a:p>
        </p:txBody>
      </p:sp>
      <p:sp>
        <p:nvSpPr>
          <p:cNvPr id="2" name="Rectangle 1">
            <a:extLst>
              <a:ext uri="{FF2B5EF4-FFF2-40B4-BE49-F238E27FC236}">
                <a16:creationId xmlns:a16="http://schemas.microsoft.com/office/drawing/2014/main" id="{88094193-C341-D93E-1DCC-A9E4DA8A5037}"/>
              </a:ext>
            </a:extLst>
          </p:cNvPr>
          <p:cNvSpPr/>
          <p:nvPr/>
        </p:nvSpPr>
        <p:spPr>
          <a:xfrm rot="16200000">
            <a:off x="6070862" y="-5836658"/>
            <a:ext cx="264160" cy="119374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4" name="Rectangle 3">
            <a:extLst>
              <a:ext uri="{FF2B5EF4-FFF2-40B4-BE49-F238E27FC236}">
                <a16:creationId xmlns:a16="http://schemas.microsoft.com/office/drawing/2014/main" id="{FAF62778-E886-A452-1E64-7471FD674F25}"/>
              </a:ext>
            </a:extLst>
          </p:cNvPr>
          <p:cNvSpPr/>
          <p:nvPr/>
        </p:nvSpPr>
        <p:spPr>
          <a:xfrm rot="16200000">
            <a:off x="5862588" y="757182"/>
            <a:ext cx="264160" cy="119374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5" name="Rectangle 4">
            <a:extLst>
              <a:ext uri="{FF2B5EF4-FFF2-40B4-BE49-F238E27FC236}">
                <a16:creationId xmlns:a16="http://schemas.microsoft.com/office/drawing/2014/main" id="{31AFC3E5-53F4-9EA2-6A93-B916455674BB}"/>
              </a:ext>
            </a:extLst>
          </p:cNvPr>
          <p:cNvSpPr/>
          <p:nvPr/>
        </p:nvSpPr>
        <p:spPr>
          <a:xfrm>
            <a:off x="-20320" y="0"/>
            <a:ext cx="25452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8" name="Rectangle 7">
            <a:extLst>
              <a:ext uri="{FF2B5EF4-FFF2-40B4-BE49-F238E27FC236}">
                <a16:creationId xmlns:a16="http://schemas.microsoft.com/office/drawing/2014/main" id="{B70C45FE-A1E3-D170-3364-7EE1043B2A8F}"/>
              </a:ext>
            </a:extLst>
          </p:cNvPr>
          <p:cNvSpPr/>
          <p:nvPr/>
        </p:nvSpPr>
        <p:spPr>
          <a:xfrm>
            <a:off x="11963406" y="2843"/>
            <a:ext cx="25452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3767665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045B8EA-5964-E85C-DE6D-5C3BE628743E}"/>
              </a:ext>
            </a:extLst>
          </p:cNvPr>
          <p:cNvSpPr txBox="1"/>
          <p:nvPr/>
        </p:nvSpPr>
        <p:spPr>
          <a:xfrm>
            <a:off x="1176042" y="1418869"/>
            <a:ext cx="9839915" cy="498663"/>
          </a:xfrm>
          <a:prstGeom prst="rect">
            <a:avLst/>
          </a:prstGeom>
          <a:noFill/>
        </p:spPr>
        <p:txBody>
          <a:bodyPr wrap="square" rtlCol="0">
            <a:spAutoFit/>
          </a:bodyPr>
          <a:lstStyle/>
          <a:p>
            <a:pPr algn="just">
              <a:lnSpc>
                <a:spcPct val="150000"/>
              </a:lnSpc>
            </a:pPr>
            <a:endParaRPr lang="en-US" sz="20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9C7C0D8D-08A4-AE27-8575-2AD4E65D6B45}"/>
              </a:ext>
            </a:extLst>
          </p:cNvPr>
          <p:cNvSpPr txBox="1"/>
          <p:nvPr/>
        </p:nvSpPr>
        <p:spPr>
          <a:xfrm>
            <a:off x="2672417" y="531646"/>
            <a:ext cx="6474447" cy="52322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Hardware &amp; Software Requirements</a:t>
            </a:r>
            <a:endParaRPr lang="en-IN" sz="2800" dirty="0">
              <a:latin typeface="Times New Roman" panose="02020603050405020304" pitchFamily="18" charset="0"/>
              <a:cs typeface="Times New Roman" panose="02020603050405020304" pitchFamily="18" charset="0"/>
            </a:endParaRPr>
          </a:p>
        </p:txBody>
      </p:sp>
      <p:pic>
        <p:nvPicPr>
          <p:cNvPr id="5" name="Content Placeholder 3" descr="A logo with a flower&#10;&#10;Description automatically generated">
            <a:extLst>
              <a:ext uri="{FF2B5EF4-FFF2-40B4-BE49-F238E27FC236}">
                <a16:creationId xmlns:a16="http://schemas.microsoft.com/office/drawing/2014/main" id="{30B7D960-525E-6B68-B253-AEADA9287E73}"/>
              </a:ext>
            </a:extLst>
          </p:cNvPr>
          <p:cNvPicPr>
            <a:picLocks noChangeAspect="1"/>
          </p:cNvPicPr>
          <p:nvPr/>
        </p:nvPicPr>
        <p:blipFill>
          <a:blip r:embed="rId2"/>
          <a:stretch>
            <a:fillRect/>
          </a:stretch>
        </p:blipFill>
        <p:spPr>
          <a:xfrm>
            <a:off x="10501051" y="360833"/>
            <a:ext cx="1477065" cy="1251226"/>
          </a:xfrm>
          <a:prstGeom prst="rect">
            <a:avLst/>
          </a:prstGeom>
        </p:spPr>
      </p:pic>
      <p:sp>
        <p:nvSpPr>
          <p:cNvPr id="8" name="TextBox 7">
            <a:extLst>
              <a:ext uri="{FF2B5EF4-FFF2-40B4-BE49-F238E27FC236}">
                <a16:creationId xmlns:a16="http://schemas.microsoft.com/office/drawing/2014/main" id="{E5ACCC0F-854C-BDF3-8C68-DA8254DBA208}"/>
              </a:ext>
            </a:extLst>
          </p:cNvPr>
          <p:cNvSpPr txBox="1"/>
          <p:nvPr/>
        </p:nvSpPr>
        <p:spPr>
          <a:xfrm>
            <a:off x="682907" y="1092574"/>
            <a:ext cx="10995949" cy="5355312"/>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SOFTWARE REQUIREMENTS</a:t>
            </a:r>
          </a:p>
          <a:p>
            <a:r>
              <a:rPr lang="en-IN" dirty="0">
                <a:latin typeface="Times New Roman" panose="02020603050405020304" pitchFamily="18" charset="0"/>
                <a:cs typeface="Times New Roman" panose="02020603050405020304" pitchFamily="18" charset="0"/>
              </a:rPr>
              <a:t>Operating System : Windows 10 / Windows 11 / Linux</a:t>
            </a:r>
          </a:p>
          <a:p>
            <a:r>
              <a:rPr lang="en-IN" dirty="0">
                <a:latin typeface="Times New Roman" panose="02020603050405020304" pitchFamily="18" charset="0"/>
                <a:cs typeface="Times New Roman" panose="02020603050405020304" pitchFamily="18" charset="0"/>
              </a:rPr>
              <a:t>Programming Language : Python 3.8 or above</a:t>
            </a:r>
          </a:p>
          <a:p>
            <a:r>
              <a:rPr lang="en-IN" dirty="0">
                <a:latin typeface="Times New Roman" panose="02020603050405020304" pitchFamily="18" charset="0"/>
                <a:cs typeface="Times New Roman" panose="02020603050405020304" pitchFamily="18" charset="0"/>
              </a:rPr>
              <a:t>Front-End : </a:t>
            </a:r>
            <a:r>
              <a:rPr lang="en-IN" dirty="0" err="1">
                <a:latin typeface="Times New Roman" panose="02020603050405020304" pitchFamily="18" charset="0"/>
                <a:cs typeface="Times New Roman" panose="02020603050405020304" pitchFamily="18" charset="0"/>
              </a:rPr>
              <a:t>Streamlit</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Back-End : Python</a:t>
            </a:r>
          </a:p>
          <a:p>
            <a:r>
              <a:rPr lang="en-IN" dirty="0">
                <a:latin typeface="Times New Roman" panose="02020603050405020304" pitchFamily="18" charset="0"/>
                <a:cs typeface="Times New Roman" panose="02020603050405020304" pitchFamily="18" charset="0"/>
              </a:rPr>
              <a:t>Libraries &amp; Frameworks :</a:t>
            </a:r>
          </a:p>
          <a:p>
            <a:pPr lvl="1"/>
            <a:r>
              <a:rPr lang="en-IN" dirty="0">
                <a:latin typeface="Times New Roman" panose="02020603050405020304" pitchFamily="18" charset="0"/>
                <a:cs typeface="Times New Roman" panose="02020603050405020304" pitchFamily="18" charset="0"/>
              </a:rPr>
              <a:t>NLP: NLTK, Sentence-Transformers</a:t>
            </a:r>
          </a:p>
          <a:p>
            <a:pPr lvl="1"/>
            <a:r>
              <a:rPr lang="en-IN" dirty="0">
                <a:latin typeface="Times New Roman" panose="02020603050405020304" pitchFamily="18" charset="0"/>
                <a:cs typeface="Times New Roman" panose="02020603050405020304" pitchFamily="18" charset="0"/>
              </a:rPr>
              <a:t>Deep Learning: Hugging Face Transformers (BART)</a:t>
            </a:r>
          </a:p>
          <a:p>
            <a:pPr lvl="1"/>
            <a:r>
              <a:rPr lang="en-IN" dirty="0">
                <a:latin typeface="Times New Roman" panose="02020603050405020304" pitchFamily="18" charset="0"/>
                <a:cs typeface="Times New Roman" panose="02020603050405020304" pitchFamily="18" charset="0"/>
              </a:rPr>
              <a:t>PDF Processing: </a:t>
            </a:r>
            <a:r>
              <a:rPr lang="en-IN" dirty="0" err="1">
                <a:latin typeface="Times New Roman" panose="02020603050405020304" pitchFamily="18" charset="0"/>
                <a:cs typeface="Times New Roman" panose="02020603050405020304" pitchFamily="18" charset="0"/>
              </a:rPr>
              <a:t>PyMuPDF</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fitz</a:t>
            </a:r>
            <a:r>
              <a:rPr lang="en-IN" dirty="0">
                <a:latin typeface="Times New Roman" panose="02020603050405020304" pitchFamily="18" charset="0"/>
                <a:cs typeface="Times New Roman" panose="02020603050405020304" pitchFamily="18" charset="0"/>
              </a:rPr>
              <a:t>), FPDF</a:t>
            </a:r>
          </a:p>
          <a:p>
            <a:pPr lvl="1"/>
            <a:r>
              <a:rPr lang="en-IN" dirty="0">
                <a:latin typeface="Times New Roman" panose="02020603050405020304" pitchFamily="18" charset="0"/>
                <a:cs typeface="Times New Roman" panose="02020603050405020304" pitchFamily="18" charset="0"/>
              </a:rPr>
              <a:t>Data Handling: NumPy, Pandas</a:t>
            </a:r>
          </a:p>
          <a:p>
            <a:pPr lvl="1"/>
            <a:r>
              <a:rPr lang="en-IN" dirty="0">
                <a:latin typeface="Times New Roman" panose="02020603050405020304" pitchFamily="18" charset="0"/>
                <a:cs typeface="Times New Roman" panose="02020603050405020304" pitchFamily="18" charset="0"/>
              </a:rPr>
              <a:t>Visualization: Matplotlib, Seaborn</a:t>
            </a:r>
          </a:p>
          <a:p>
            <a:r>
              <a:rPr lang="en-IN" dirty="0">
                <a:latin typeface="Times New Roman" panose="02020603050405020304" pitchFamily="18" charset="0"/>
                <a:cs typeface="Times New Roman" panose="02020603050405020304" pitchFamily="18" charset="0"/>
              </a:rPr>
              <a:t>Development Environment : VS Code / PyCharm / </a:t>
            </a:r>
            <a:r>
              <a:rPr lang="en-IN" dirty="0" err="1">
                <a:latin typeface="Times New Roman" panose="02020603050405020304" pitchFamily="18" charset="0"/>
                <a:cs typeface="Times New Roman" panose="02020603050405020304" pitchFamily="18" charset="0"/>
              </a:rPr>
              <a:t>Jupyter</a:t>
            </a:r>
            <a:r>
              <a:rPr lang="en-IN" dirty="0">
                <a:latin typeface="Times New Roman" panose="02020603050405020304" pitchFamily="18" charset="0"/>
                <a:cs typeface="Times New Roman" panose="02020603050405020304" pitchFamily="18" charset="0"/>
              </a:rPr>
              <a:t> Notebook</a:t>
            </a:r>
          </a:p>
          <a:p>
            <a:endParaRPr lang="en-US" dirty="0"/>
          </a:p>
          <a:p>
            <a:r>
              <a:rPr lang="en-IN" b="1" dirty="0">
                <a:latin typeface="Times New Roman" panose="02020603050405020304" pitchFamily="18" charset="0"/>
                <a:cs typeface="Times New Roman" panose="02020603050405020304" pitchFamily="18" charset="0"/>
              </a:rPr>
              <a:t>HARDWARE REQUIREMENTS</a:t>
            </a:r>
          </a:p>
          <a:p>
            <a:r>
              <a:rPr lang="en-IN" dirty="0">
                <a:latin typeface="Times New Roman" panose="02020603050405020304" pitchFamily="18" charset="0"/>
                <a:cs typeface="Times New Roman" panose="02020603050405020304" pitchFamily="18" charset="0"/>
              </a:rPr>
              <a:t>Processor : Intel i5 / AMD </a:t>
            </a:r>
            <a:r>
              <a:rPr lang="en-IN" dirty="0" err="1">
                <a:latin typeface="Times New Roman" panose="02020603050405020304" pitchFamily="18" charset="0"/>
                <a:cs typeface="Times New Roman" panose="02020603050405020304" pitchFamily="18" charset="0"/>
              </a:rPr>
              <a:t>Ryzen</a:t>
            </a:r>
            <a:r>
              <a:rPr lang="en-IN" dirty="0">
                <a:latin typeface="Times New Roman" panose="02020603050405020304" pitchFamily="18" charset="0"/>
                <a:cs typeface="Times New Roman" panose="02020603050405020304" pitchFamily="18" charset="0"/>
              </a:rPr>
              <a:t> 5 or higher</a:t>
            </a:r>
          </a:p>
          <a:p>
            <a:r>
              <a:rPr lang="en-IN" dirty="0">
                <a:latin typeface="Times New Roman" panose="02020603050405020304" pitchFamily="18" charset="0"/>
                <a:cs typeface="Times New Roman" panose="02020603050405020304" pitchFamily="18" charset="0"/>
              </a:rPr>
              <a:t>RAM : Minimum 8 GB (16 GB recommended for faster processing)</a:t>
            </a:r>
          </a:p>
          <a:p>
            <a:r>
              <a:rPr lang="en-IN" dirty="0">
                <a:latin typeface="Times New Roman" panose="02020603050405020304" pitchFamily="18" charset="0"/>
                <a:cs typeface="Times New Roman" panose="02020603050405020304" pitchFamily="18" charset="0"/>
              </a:rPr>
              <a:t>Hard Disk : Minimum 20 GB free space</a:t>
            </a:r>
          </a:p>
          <a:p>
            <a:endParaRPr lang="en-US" dirty="0">
              <a:latin typeface="Times New Roman" panose="02020603050405020304" pitchFamily="18" charset="0"/>
              <a:cs typeface="Times New Roman" panose="02020603050405020304" pitchFamily="18" charset="0"/>
            </a:endParaRPr>
          </a:p>
          <a:p>
            <a:pPr algn="just">
              <a:buNone/>
            </a:pPr>
            <a:endParaRPr lang="en-US" dirty="0">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766129F2-C459-4A7C-7EA7-04116AD49BCD}"/>
              </a:ext>
            </a:extLst>
          </p:cNvPr>
          <p:cNvSpPr/>
          <p:nvPr/>
        </p:nvSpPr>
        <p:spPr>
          <a:xfrm rot="16200000">
            <a:off x="6091182" y="-5836658"/>
            <a:ext cx="264160" cy="119374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6" name="Rectangle 5">
            <a:extLst>
              <a:ext uri="{FF2B5EF4-FFF2-40B4-BE49-F238E27FC236}">
                <a16:creationId xmlns:a16="http://schemas.microsoft.com/office/drawing/2014/main" id="{D0AA8121-A239-A34A-4B1F-B1E6548D8E70}"/>
              </a:ext>
            </a:extLst>
          </p:cNvPr>
          <p:cNvSpPr/>
          <p:nvPr/>
        </p:nvSpPr>
        <p:spPr>
          <a:xfrm rot="16200000">
            <a:off x="5877298" y="766923"/>
            <a:ext cx="264160" cy="119374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7" name="Rectangle 6">
            <a:extLst>
              <a:ext uri="{FF2B5EF4-FFF2-40B4-BE49-F238E27FC236}">
                <a16:creationId xmlns:a16="http://schemas.microsoft.com/office/drawing/2014/main" id="{E3DC689F-ADAE-D73B-E53F-6533EE6BDE24}"/>
              </a:ext>
            </a:extLst>
          </p:cNvPr>
          <p:cNvSpPr/>
          <p:nvPr/>
        </p:nvSpPr>
        <p:spPr>
          <a:xfrm>
            <a:off x="-10160" y="0"/>
            <a:ext cx="25452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9" name="Rectangle 8">
            <a:extLst>
              <a:ext uri="{FF2B5EF4-FFF2-40B4-BE49-F238E27FC236}">
                <a16:creationId xmlns:a16="http://schemas.microsoft.com/office/drawing/2014/main" id="{5E829835-AFED-16EE-484D-217F4E9905DD}"/>
              </a:ext>
            </a:extLst>
          </p:cNvPr>
          <p:cNvSpPr/>
          <p:nvPr/>
        </p:nvSpPr>
        <p:spPr>
          <a:xfrm>
            <a:off x="11993041" y="-2"/>
            <a:ext cx="25452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38484854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9EBB89F-4EC7-6EE2-3A93-D687E9295918}"/>
              </a:ext>
            </a:extLst>
          </p:cNvPr>
          <p:cNvSpPr txBox="1"/>
          <p:nvPr/>
        </p:nvSpPr>
        <p:spPr>
          <a:xfrm>
            <a:off x="4390765" y="772401"/>
            <a:ext cx="2123157" cy="1368067"/>
          </a:xfrm>
          <a:prstGeom prst="rect">
            <a:avLst/>
          </a:prstGeom>
          <a:noFill/>
        </p:spPr>
        <p:txBody>
          <a:bodyPr wrap="square" rtlCol="0">
            <a:spAutoFit/>
          </a:bodyPr>
          <a:lstStyle/>
          <a:p>
            <a:pPr algn="just">
              <a:lnSpc>
                <a:spcPct val="200000"/>
              </a:lnSpc>
              <a:buNone/>
            </a:pPr>
            <a:r>
              <a:rPr lang="en-US" sz="2800" b="1" dirty="0">
                <a:latin typeface="Times New Roman" panose="02020603050405020304" pitchFamily="18" charset="0"/>
                <a:cs typeface="Times New Roman" panose="02020603050405020304" pitchFamily="18" charset="0"/>
              </a:rPr>
              <a:t> NOVELTY</a:t>
            </a:r>
          </a:p>
          <a:p>
            <a:pPr algn="just">
              <a:lnSpc>
                <a:spcPct val="150000"/>
              </a:lnSpc>
            </a:pPr>
            <a:endParaRPr lang="en-US" sz="2000" dirty="0"/>
          </a:p>
        </p:txBody>
      </p:sp>
      <p:pic>
        <p:nvPicPr>
          <p:cNvPr id="2" name="Content Placeholder 3" descr="A logo with a flower&#10;&#10;Description automatically generated">
            <a:extLst>
              <a:ext uri="{FF2B5EF4-FFF2-40B4-BE49-F238E27FC236}">
                <a16:creationId xmlns:a16="http://schemas.microsoft.com/office/drawing/2014/main" id="{9A3D3A46-0754-AF47-B350-86576370BFE6}"/>
              </a:ext>
            </a:extLst>
          </p:cNvPr>
          <p:cNvPicPr>
            <a:picLocks noChangeAspect="1"/>
          </p:cNvPicPr>
          <p:nvPr/>
        </p:nvPicPr>
        <p:blipFill>
          <a:blip r:embed="rId2"/>
          <a:stretch>
            <a:fillRect/>
          </a:stretch>
        </p:blipFill>
        <p:spPr>
          <a:xfrm>
            <a:off x="10460411" y="293513"/>
            <a:ext cx="1477065" cy="1251226"/>
          </a:xfrm>
          <a:prstGeom prst="rect">
            <a:avLst/>
          </a:prstGeom>
        </p:spPr>
      </p:pic>
      <p:sp>
        <p:nvSpPr>
          <p:cNvPr id="5" name="TextBox 4">
            <a:extLst>
              <a:ext uri="{FF2B5EF4-FFF2-40B4-BE49-F238E27FC236}">
                <a16:creationId xmlns:a16="http://schemas.microsoft.com/office/drawing/2014/main" id="{015B8A68-C08C-6180-9580-B0A9F754867E}"/>
              </a:ext>
            </a:extLst>
          </p:cNvPr>
          <p:cNvSpPr txBox="1"/>
          <p:nvPr/>
        </p:nvSpPr>
        <p:spPr>
          <a:xfrm>
            <a:off x="782091" y="1909987"/>
            <a:ext cx="10013764" cy="3693319"/>
          </a:xfrm>
          <a:prstGeom prst="rect">
            <a:avLst/>
          </a:prstGeom>
          <a:noFill/>
        </p:spPr>
        <p:txBody>
          <a:bodyPr wrap="square">
            <a:spAutoFit/>
          </a:bodyPr>
          <a:lstStyle/>
          <a:p>
            <a:pPr algn="just"/>
            <a:r>
              <a:rPr lang="en-US" dirty="0">
                <a:latin typeface="Times New Roman" panose="02020603050405020304" pitchFamily="18" charset="0"/>
                <a:cs typeface="Times New Roman" panose="02020603050405020304" pitchFamily="18" charset="0"/>
              </a:rPr>
              <a:t>The novelty of this project lies in combining extractive and abstractive summarization specifically for legal and financial documents using advanced NLP and Transformer-based models. Sentence-BERT captures semantic similarity to rank sentences by contextual importance, while BART generates coherent, human-like summaries that preserve the meaning of complex clauses and financial statements.</a:t>
            </a:r>
          </a:p>
          <a:p>
            <a:pPr algn="just"/>
            <a:endParaRPr lang="en-US" dirty="0"/>
          </a:p>
          <a:p>
            <a:pPr algn="just"/>
            <a:r>
              <a:rPr lang="en-US" dirty="0">
                <a:latin typeface="Times New Roman" panose="02020603050405020304" pitchFamily="18" charset="0"/>
                <a:cs typeface="Times New Roman" panose="02020603050405020304" pitchFamily="18" charset="0"/>
              </a:rPr>
              <a:t> The system provides visual analytics, including sentence importance ranking, compression comparison, and ROUGE evaluation metrics, enabling users to assess summary quality and accuracy. A user-friendly web interface allows PDF uploads, real-time summary generation, result analysis, and structured report downloads. </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By integrating context-aware summarization, performance evaluation, and interactive visualization, this system offers a more accurate, efficient, and practical solution than existing document summarization tools. It is also scalable for domain-specific and multilingual applications in the future.</a:t>
            </a:r>
            <a:endParaRPr lang="en-IN"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FF7CD024-9300-2146-36C1-C7E12E4B722E}"/>
              </a:ext>
            </a:extLst>
          </p:cNvPr>
          <p:cNvSpPr/>
          <p:nvPr/>
        </p:nvSpPr>
        <p:spPr>
          <a:xfrm rot="16200000">
            <a:off x="6070862" y="-5836658"/>
            <a:ext cx="264160" cy="119374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6" name="Rectangle 5">
            <a:extLst>
              <a:ext uri="{FF2B5EF4-FFF2-40B4-BE49-F238E27FC236}">
                <a16:creationId xmlns:a16="http://schemas.microsoft.com/office/drawing/2014/main" id="{76747889-5525-46CB-F7CB-AD30931A1A78}"/>
              </a:ext>
            </a:extLst>
          </p:cNvPr>
          <p:cNvSpPr/>
          <p:nvPr/>
        </p:nvSpPr>
        <p:spPr>
          <a:xfrm rot="16200000">
            <a:off x="5836658" y="757510"/>
            <a:ext cx="264160" cy="119374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7" name="Rectangle 6">
            <a:extLst>
              <a:ext uri="{FF2B5EF4-FFF2-40B4-BE49-F238E27FC236}">
                <a16:creationId xmlns:a16="http://schemas.microsoft.com/office/drawing/2014/main" id="{3A1EE016-38EC-C514-5B72-9B2EE26852AC}"/>
              </a:ext>
            </a:extLst>
          </p:cNvPr>
          <p:cNvSpPr/>
          <p:nvPr/>
        </p:nvSpPr>
        <p:spPr>
          <a:xfrm>
            <a:off x="-20320" y="0"/>
            <a:ext cx="25452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8" name="Rectangle 7">
            <a:extLst>
              <a:ext uri="{FF2B5EF4-FFF2-40B4-BE49-F238E27FC236}">
                <a16:creationId xmlns:a16="http://schemas.microsoft.com/office/drawing/2014/main" id="{10758CF0-6DF5-DBC8-CF29-639D36BCCAC0}"/>
              </a:ext>
            </a:extLst>
          </p:cNvPr>
          <p:cNvSpPr/>
          <p:nvPr/>
        </p:nvSpPr>
        <p:spPr>
          <a:xfrm>
            <a:off x="11946735" y="328"/>
            <a:ext cx="25452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21589752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3" descr="A logo with a flower&#10;&#10;Description automatically generated">
            <a:extLst>
              <a:ext uri="{FF2B5EF4-FFF2-40B4-BE49-F238E27FC236}">
                <a16:creationId xmlns:a16="http://schemas.microsoft.com/office/drawing/2014/main" id="{2939E4CA-5685-6CE4-535F-046C7E2F3D5E}"/>
              </a:ext>
            </a:extLst>
          </p:cNvPr>
          <p:cNvPicPr>
            <a:picLocks noChangeAspect="1"/>
          </p:cNvPicPr>
          <p:nvPr/>
        </p:nvPicPr>
        <p:blipFill>
          <a:blip r:embed="rId2"/>
          <a:stretch>
            <a:fillRect/>
          </a:stretch>
        </p:blipFill>
        <p:spPr>
          <a:xfrm>
            <a:off x="10501051" y="311984"/>
            <a:ext cx="1477065" cy="1251226"/>
          </a:xfrm>
          <a:prstGeom prst="rect">
            <a:avLst/>
          </a:prstGeom>
        </p:spPr>
      </p:pic>
      <p:sp>
        <p:nvSpPr>
          <p:cNvPr id="3" name="TextBox 2">
            <a:extLst>
              <a:ext uri="{FF2B5EF4-FFF2-40B4-BE49-F238E27FC236}">
                <a16:creationId xmlns:a16="http://schemas.microsoft.com/office/drawing/2014/main" id="{038FA628-A18C-5D96-F86D-AA3BB3FD4824}"/>
              </a:ext>
            </a:extLst>
          </p:cNvPr>
          <p:cNvSpPr txBox="1"/>
          <p:nvPr/>
        </p:nvSpPr>
        <p:spPr>
          <a:xfrm>
            <a:off x="4410118" y="815049"/>
            <a:ext cx="3371763" cy="1144993"/>
          </a:xfrm>
          <a:prstGeom prst="rect">
            <a:avLst/>
          </a:prstGeom>
          <a:noFill/>
        </p:spPr>
        <p:txBody>
          <a:bodyPr wrap="square" rtlCol="0">
            <a:spAutoFit/>
          </a:bodyPr>
          <a:lstStyle/>
          <a:p>
            <a:pPr>
              <a:lnSpc>
                <a:spcPct val="150000"/>
              </a:lnSpc>
            </a:pPr>
            <a:r>
              <a:rPr lang="en-US" sz="2800" b="1" dirty="0">
                <a:latin typeface="Times New Roman" panose="02020603050405020304" pitchFamily="18" charset="0"/>
                <a:cs typeface="Times New Roman" panose="02020603050405020304" pitchFamily="18" charset="0"/>
              </a:rPr>
              <a:t> Architecture​</a:t>
            </a:r>
          </a:p>
          <a:p>
            <a:pPr>
              <a:lnSpc>
                <a:spcPct val="150000"/>
              </a:lnSpc>
            </a:pPr>
            <a:endParaRPr lang="en-US" sz="2000" dirty="0">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AA153647-C6B3-AE59-1C54-410B89FD0DE9}"/>
              </a:ext>
            </a:extLst>
          </p:cNvPr>
          <p:cNvSpPr/>
          <p:nvPr/>
        </p:nvSpPr>
        <p:spPr>
          <a:xfrm rot="16200000">
            <a:off x="6091182" y="-5846085"/>
            <a:ext cx="264160" cy="119374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6" name="Rectangle 5">
            <a:extLst>
              <a:ext uri="{FF2B5EF4-FFF2-40B4-BE49-F238E27FC236}">
                <a16:creationId xmlns:a16="http://schemas.microsoft.com/office/drawing/2014/main" id="{4492C278-E769-52FC-9754-E42CE07CE17C}"/>
              </a:ext>
            </a:extLst>
          </p:cNvPr>
          <p:cNvSpPr/>
          <p:nvPr/>
        </p:nvSpPr>
        <p:spPr>
          <a:xfrm rot="16200000">
            <a:off x="5877298" y="757182"/>
            <a:ext cx="264160" cy="119374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7" name="Rectangle 6">
            <a:extLst>
              <a:ext uri="{FF2B5EF4-FFF2-40B4-BE49-F238E27FC236}">
                <a16:creationId xmlns:a16="http://schemas.microsoft.com/office/drawing/2014/main" id="{7BE9F310-5EE9-CD23-BD3C-E577DC1FEED1}"/>
              </a:ext>
            </a:extLst>
          </p:cNvPr>
          <p:cNvSpPr/>
          <p:nvPr/>
        </p:nvSpPr>
        <p:spPr>
          <a:xfrm>
            <a:off x="-9427" y="-9427"/>
            <a:ext cx="25452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8" name="Rectangle 7">
            <a:extLst>
              <a:ext uri="{FF2B5EF4-FFF2-40B4-BE49-F238E27FC236}">
                <a16:creationId xmlns:a16="http://schemas.microsoft.com/office/drawing/2014/main" id="{4F19347C-F884-4B2B-33C6-C5E6984CAF30}"/>
              </a:ext>
            </a:extLst>
          </p:cNvPr>
          <p:cNvSpPr/>
          <p:nvPr/>
        </p:nvSpPr>
        <p:spPr>
          <a:xfrm>
            <a:off x="11989373" y="0"/>
            <a:ext cx="25452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pic>
        <p:nvPicPr>
          <p:cNvPr id="10" name="Picture 9">
            <a:extLst>
              <a:ext uri="{FF2B5EF4-FFF2-40B4-BE49-F238E27FC236}">
                <a16:creationId xmlns:a16="http://schemas.microsoft.com/office/drawing/2014/main" id="{15097C1F-75EE-64D8-772F-E75FC1D6D404}"/>
              </a:ext>
            </a:extLst>
          </p:cNvPr>
          <p:cNvPicPr>
            <a:picLocks noChangeAspect="1"/>
          </p:cNvPicPr>
          <p:nvPr/>
        </p:nvPicPr>
        <p:blipFill>
          <a:blip r:embed="rId3"/>
          <a:stretch>
            <a:fillRect/>
          </a:stretch>
        </p:blipFill>
        <p:spPr>
          <a:xfrm>
            <a:off x="1906548" y="1767754"/>
            <a:ext cx="8430802" cy="3772164"/>
          </a:xfrm>
          <a:prstGeom prst="rect">
            <a:avLst/>
          </a:prstGeom>
        </p:spPr>
      </p:pic>
    </p:spTree>
    <p:extLst>
      <p:ext uri="{BB962C8B-B14F-4D97-AF65-F5344CB8AC3E}">
        <p14:creationId xmlns:p14="http://schemas.microsoft.com/office/powerpoint/2010/main" val="18046730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056C7-2731-E189-9A15-BC557D823BE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5B556C8-C463-E648-BBE3-5684BA722170}"/>
              </a:ext>
            </a:extLst>
          </p:cNvPr>
          <p:cNvSpPr txBox="1"/>
          <p:nvPr/>
        </p:nvSpPr>
        <p:spPr>
          <a:xfrm>
            <a:off x="753453" y="282410"/>
            <a:ext cx="9851923" cy="1368067"/>
          </a:xfrm>
          <a:prstGeom prst="rect">
            <a:avLst/>
          </a:prstGeom>
          <a:noFill/>
        </p:spPr>
        <p:txBody>
          <a:bodyPr wrap="square" rtlCol="0">
            <a:spAutoFit/>
          </a:bodyPr>
          <a:lstStyle/>
          <a:p>
            <a:pPr algn="just">
              <a:lnSpc>
                <a:spcPct val="200000"/>
              </a:lnSpc>
              <a:buNone/>
            </a:pPr>
            <a:r>
              <a:rPr lang="en-US" sz="2800" b="1" dirty="0">
                <a:latin typeface="Times New Roman" panose="02020603050405020304" pitchFamily="18" charset="0"/>
                <a:cs typeface="Times New Roman" panose="02020603050405020304" pitchFamily="18" charset="0"/>
              </a:rPr>
              <a:t> MODULES</a:t>
            </a:r>
          </a:p>
          <a:p>
            <a:pPr algn="just">
              <a:lnSpc>
                <a:spcPct val="150000"/>
              </a:lnSpc>
            </a:pPr>
            <a:endParaRPr lang="en-US" sz="2000" dirty="0"/>
          </a:p>
        </p:txBody>
      </p:sp>
      <p:pic>
        <p:nvPicPr>
          <p:cNvPr id="2" name="Content Placeholder 3" descr="A logo with a flower&#10;&#10;Description automatically generated">
            <a:extLst>
              <a:ext uri="{FF2B5EF4-FFF2-40B4-BE49-F238E27FC236}">
                <a16:creationId xmlns:a16="http://schemas.microsoft.com/office/drawing/2014/main" id="{F782C7D3-4D17-168E-B933-3332A1C13B12}"/>
              </a:ext>
            </a:extLst>
          </p:cNvPr>
          <p:cNvPicPr>
            <a:picLocks noChangeAspect="1"/>
          </p:cNvPicPr>
          <p:nvPr/>
        </p:nvPicPr>
        <p:blipFill>
          <a:blip r:embed="rId2"/>
          <a:stretch>
            <a:fillRect/>
          </a:stretch>
        </p:blipFill>
        <p:spPr>
          <a:xfrm>
            <a:off x="10460411" y="272250"/>
            <a:ext cx="1477065" cy="1251226"/>
          </a:xfrm>
          <a:prstGeom prst="rect">
            <a:avLst/>
          </a:prstGeom>
        </p:spPr>
      </p:pic>
      <p:sp>
        <p:nvSpPr>
          <p:cNvPr id="5" name="TextBox 4">
            <a:extLst>
              <a:ext uri="{FF2B5EF4-FFF2-40B4-BE49-F238E27FC236}">
                <a16:creationId xmlns:a16="http://schemas.microsoft.com/office/drawing/2014/main" id="{1A57B5CC-8F6C-5195-80D9-92C021206431}"/>
              </a:ext>
            </a:extLst>
          </p:cNvPr>
          <p:cNvSpPr txBox="1"/>
          <p:nvPr/>
        </p:nvSpPr>
        <p:spPr>
          <a:xfrm>
            <a:off x="753453" y="1261058"/>
            <a:ext cx="10013764" cy="5355312"/>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1. Document Upload and Text Extraction Module</a:t>
            </a:r>
          </a:p>
          <a:p>
            <a:r>
              <a:rPr lang="en-IN" dirty="0">
                <a:latin typeface="Times New Roman" panose="02020603050405020304" pitchFamily="18" charset="0"/>
                <a:cs typeface="Times New Roman" panose="02020603050405020304" pitchFamily="18" charset="0"/>
              </a:rPr>
              <a:t>Allows users to upload PDF documents and extracts readable text for processing.</a:t>
            </a:r>
          </a:p>
          <a:p>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2. Extractive Summarization Module</a:t>
            </a:r>
          </a:p>
          <a:p>
            <a:r>
              <a:rPr lang="en-IN" dirty="0">
                <a:latin typeface="Times New Roman" panose="02020603050405020304" pitchFamily="18" charset="0"/>
                <a:cs typeface="Times New Roman" panose="02020603050405020304" pitchFamily="18" charset="0"/>
              </a:rPr>
              <a:t>Identifies and ranks important sentences using NLP and Sentence-BERT embeddings.</a:t>
            </a:r>
          </a:p>
          <a:p>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3. Abstractive Summarization Module</a:t>
            </a:r>
          </a:p>
          <a:p>
            <a:r>
              <a:rPr lang="en-IN" dirty="0">
                <a:latin typeface="Times New Roman" panose="02020603050405020304" pitchFamily="18" charset="0"/>
                <a:cs typeface="Times New Roman" panose="02020603050405020304" pitchFamily="18" charset="0"/>
              </a:rPr>
              <a:t>Generates concise, human-like summaries using the BART Transformer model.</a:t>
            </a:r>
          </a:p>
          <a:p>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4. Visualization and Analytics Module</a:t>
            </a:r>
          </a:p>
          <a:p>
            <a:r>
              <a:rPr lang="en-IN" dirty="0">
                <a:latin typeface="Times New Roman" panose="02020603050405020304" pitchFamily="18" charset="0"/>
                <a:cs typeface="Times New Roman" panose="02020603050405020304" pitchFamily="18" charset="0"/>
              </a:rPr>
              <a:t>Displays sentence importance, compression ratio, and ROUGE evaluation metrics.</a:t>
            </a:r>
          </a:p>
          <a:p>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5. PDF Report Generation Module</a:t>
            </a:r>
          </a:p>
          <a:p>
            <a:r>
              <a:rPr lang="en-IN" dirty="0">
                <a:latin typeface="Times New Roman" panose="02020603050405020304" pitchFamily="18" charset="0"/>
                <a:cs typeface="Times New Roman" panose="02020603050405020304" pitchFamily="18" charset="0"/>
              </a:rPr>
              <a:t>Creates downloadable PDF reports containing summarized results.</a:t>
            </a:r>
          </a:p>
          <a:p>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6. User Interface Module</a:t>
            </a:r>
          </a:p>
          <a:p>
            <a:r>
              <a:rPr lang="en-IN" dirty="0">
                <a:latin typeface="Times New Roman" panose="02020603050405020304" pitchFamily="18" charset="0"/>
                <a:cs typeface="Times New Roman" panose="02020603050405020304" pitchFamily="18" charset="0"/>
              </a:rPr>
              <a:t>Provides a simple and interactive web interface for user interaction</a:t>
            </a:r>
          </a:p>
          <a:p>
            <a:endParaRPr lang="en-US" dirty="0">
              <a:latin typeface="Times New Roman" panose="02020603050405020304" pitchFamily="18" charset="0"/>
              <a:cs typeface="Times New Roman" panose="02020603050405020304" pitchFamily="18" charset="0"/>
            </a:endParaRPr>
          </a:p>
          <a:p>
            <a:endParaRPr lang="en-IN"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33BA2991-C60D-F68A-16E0-69DBA5466875}"/>
              </a:ext>
            </a:extLst>
          </p:cNvPr>
          <p:cNvSpPr/>
          <p:nvPr/>
        </p:nvSpPr>
        <p:spPr>
          <a:xfrm rot="16200000">
            <a:off x="6081022" y="-5851099"/>
            <a:ext cx="264160" cy="119374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6" name="Rectangle 5">
            <a:extLst>
              <a:ext uri="{FF2B5EF4-FFF2-40B4-BE49-F238E27FC236}">
                <a16:creationId xmlns:a16="http://schemas.microsoft.com/office/drawing/2014/main" id="{98A3C434-3719-01E1-5E9F-839A5777AB05}"/>
              </a:ext>
            </a:extLst>
          </p:cNvPr>
          <p:cNvSpPr/>
          <p:nvPr/>
        </p:nvSpPr>
        <p:spPr>
          <a:xfrm rot="16200000">
            <a:off x="5836658" y="779712"/>
            <a:ext cx="264160" cy="119374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7" name="Rectangle 6">
            <a:extLst>
              <a:ext uri="{FF2B5EF4-FFF2-40B4-BE49-F238E27FC236}">
                <a16:creationId xmlns:a16="http://schemas.microsoft.com/office/drawing/2014/main" id="{3E71C71F-C8CA-A912-75F2-0990EE9EAE60}"/>
              </a:ext>
            </a:extLst>
          </p:cNvPr>
          <p:cNvSpPr/>
          <p:nvPr/>
        </p:nvSpPr>
        <p:spPr>
          <a:xfrm>
            <a:off x="-10160" y="-10160"/>
            <a:ext cx="25452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8" name="Rectangle 7">
            <a:extLst>
              <a:ext uri="{FF2B5EF4-FFF2-40B4-BE49-F238E27FC236}">
                <a16:creationId xmlns:a16="http://schemas.microsoft.com/office/drawing/2014/main" id="{E8FB92B9-4FDC-6F15-FD69-A83D0E54217A}"/>
              </a:ext>
            </a:extLst>
          </p:cNvPr>
          <p:cNvSpPr/>
          <p:nvPr/>
        </p:nvSpPr>
        <p:spPr>
          <a:xfrm>
            <a:off x="11937476" y="12370"/>
            <a:ext cx="25452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40300744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484364-39AB-2DD2-31F5-C4BF3DA8BFE0}"/>
            </a:ext>
          </a:extLst>
        </p:cNvPr>
        <p:cNvGrpSpPr/>
        <p:nvPr/>
      </p:nvGrpSpPr>
      <p:grpSpPr>
        <a:xfrm>
          <a:off x="0" y="0"/>
          <a:ext cx="0" cy="0"/>
          <a:chOff x="0" y="0"/>
          <a:chExt cx="0" cy="0"/>
        </a:xfrm>
      </p:grpSpPr>
      <p:pic>
        <p:nvPicPr>
          <p:cNvPr id="2" name="Content Placeholder 3" descr="A logo with a flower&#10;&#10;Description automatically generated">
            <a:extLst>
              <a:ext uri="{FF2B5EF4-FFF2-40B4-BE49-F238E27FC236}">
                <a16:creationId xmlns:a16="http://schemas.microsoft.com/office/drawing/2014/main" id="{4E5F4B9F-F981-4E1B-7F2D-4B5FFD8710AE}"/>
              </a:ext>
            </a:extLst>
          </p:cNvPr>
          <p:cNvPicPr>
            <a:picLocks noChangeAspect="1"/>
          </p:cNvPicPr>
          <p:nvPr/>
        </p:nvPicPr>
        <p:blipFill>
          <a:blip r:embed="rId2"/>
          <a:stretch>
            <a:fillRect/>
          </a:stretch>
        </p:blipFill>
        <p:spPr>
          <a:xfrm>
            <a:off x="10490601" y="264161"/>
            <a:ext cx="1477065" cy="1251226"/>
          </a:xfrm>
          <a:prstGeom prst="rect">
            <a:avLst/>
          </a:prstGeom>
        </p:spPr>
      </p:pic>
      <p:sp>
        <p:nvSpPr>
          <p:cNvPr id="3" name="TextBox 2">
            <a:extLst>
              <a:ext uri="{FF2B5EF4-FFF2-40B4-BE49-F238E27FC236}">
                <a16:creationId xmlns:a16="http://schemas.microsoft.com/office/drawing/2014/main" id="{E5EAA6FD-41DC-8C36-C21A-7E6606F86C56}"/>
              </a:ext>
            </a:extLst>
          </p:cNvPr>
          <p:cNvSpPr txBox="1"/>
          <p:nvPr/>
        </p:nvSpPr>
        <p:spPr>
          <a:xfrm>
            <a:off x="612842" y="106233"/>
            <a:ext cx="8172955" cy="1144993"/>
          </a:xfrm>
          <a:prstGeom prst="rect">
            <a:avLst/>
          </a:prstGeom>
          <a:noFill/>
        </p:spPr>
        <p:txBody>
          <a:bodyPr wrap="square" rtlCol="0">
            <a:spAutoFit/>
          </a:bodyPr>
          <a:lstStyle/>
          <a:p>
            <a:pPr>
              <a:lnSpc>
                <a:spcPct val="150000"/>
              </a:lnSpc>
            </a:pPr>
            <a:r>
              <a:rPr lang="en-US" sz="2800" b="1" dirty="0">
                <a:latin typeface="Times New Roman" panose="02020603050405020304" pitchFamily="18" charset="0"/>
                <a:cs typeface="Times New Roman" panose="02020603050405020304" pitchFamily="18" charset="0"/>
              </a:rPr>
              <a:t>UML Diagrams​</a:t>
            </a:r>
          </a:p>
          <a:p>
            <a:pPr>
              <a:lnSpc>
                <a:spcPct val="150000"/>
              </a:lnSpc>
            </a:pPr>
            <a:endParaRPr lang="en-US" sz="20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DEE711C8-BB96-922C-0B87-DC274071DC18}"/>
              </a:ext>
            </a:extLst>
          </p:cNvPr>
          <p:cNvPicPr>
            <a:picLocks noChangeAspect="1"/>
          </p:cNvPicPr>
          <p:nvPr/>
        </p:nvPicPr>
        <p:blipFill>
          <a:blip r:embed="rId3"/>
          <a:stretch>
            <a:fillRect/>
          </a:stretch>
        </p:blipFill>
        <p:spPr>
          <a:xfrm>
            <a:off x="3579060" y="1251226"/>
            <a:ext cx="5090160" cy="4686587"/>
          </a:xfrm>
          <a:prstGeom prst="rect">
            <a:avLst/>
          </a:prstGeom>
        </p:spPr>
      </p:pic>
      <p:sp>
        <p:nvSpPr>
          <p:cNvPr id="4" name="TextBox 3">
            <a:extLst>
              <a:ext uri="{FF2B5EF4-FFF2-40B4-BE49-F238E27FC236}">
                <a16:creationId xmlns:a16="http://schemas.microsoft.com/office/drawing/2014/main" id="{A311558B-3A52-DAE3-6C3C-61FBA2CD0CF0}"/>
              </a:ext>
            </a:extLst>
          </p:cNvPr>
          <p:cNvSpPr txBox="1"/>
          <p:nvPr/>
        </p:nvSpPr>
        <p:spPr>
          <a:xfrm>
            <a:off x="4646416" y="809320"/>
            <a:ext cx="2113936" cy="646331"/>
          </a:xfrm>
          <a:prstGeom prst="rect">
            <a:avLst/>
          </a:prstGeom>
          <a:noFill/>
        </p:spPr>
        <p:txBody>
          <a:bodyPr wrap="square" rtlCol="0">
            <a:spAutoFit/>
          </a:bodyPr>
          <a:lstStyle/>
          <a:p>
            <a:r>
              <a:rPr lang="en-IN" b="1" dirty="0"/>
              <a:t>USE CASE DIAGRAM</a:t>
            </a:r>
            <a:endParaRPr lang="en-IN" dirty="0"/>
          </a:p>
          <a:p>
            <a:endParaRPr lang="en-IN" dirty="0"/>
          </a:p>
        </p:txBody>
      </p:sp>
      <p:sp>
        <p:nvSpPr>
          <p:cNvPr id="5" name="TextBox 4">
            <a:extLst>
              <a:ext uri="{FF2B5EF4-FFF2-40B4-BE49-F238E27FC236}">
                <a16:creationId xmlns:a16="http://schemas.microsoft.com/office/drawing/2014/main" id="{C76AEA9B-D405-C911-857D-5FBFBBC826EF}"/>
              </a:ext>
            </a:extLst>
          </p:cNvPr>
          <p:cNvSpPr txBox="1"/>
          <p:nvPr/>
        </p:nvSpPr>
        <p:spPr>
          <a:xfrm>
            <a:off x="7063676" y="1192221"/>
            <a:ext cx="2025445" cy="646331"/>
          </a:xfrm>
          <a:prstGeom prst="rect">
            <a:avLst/>
          </a:prstGeom>
          <a:noFill/>
        </p:spPr>
        <p:txBody>
          <a:bodyPr wrap="square" rtlCol="0">
            <a:spAutoFit/>
          </a:bodyPr>
          <a:lstStyle/>
          <a:p>
            <a:endParaRPr lang="en-IN" dirty="0"/>
          </a:p>
          <a:p>
            <a:endParaRPr lang="en-IN" dirty="0"/>
          </a:p>
        </p:txBody>
      </p:sp>
      <p:sp>
        <p:nvSpPr>
          <p:cNvPr id="6" name="Rectangle 5">
            <a:extLst>
              <a:ext uri="{FF2B5EF4-FFF2-40B4-BE49-F238E27FC236}">
                <a16:creationId xmlns:a16="http://schemas.microsoft.com/office/drawing/2014/main" id="{00D04AB4-2956-707E-CFA8-DF2F0C1A8264}"/>
              </a:ext>
            </a:extLst>
          </p:cNvPr>
          <p:cNvSpPr/>
          <p:nvPr/>
        </p:nvSpPr>
        <p:spPr>
          <a:xfrm rot="16200000">
            <a:off x="6091182" y="-5836658"/>
            <a:ext cx="264160" cy="119374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7" name="Rectangle 6">
            <a:extLst>
              <a:ext uri="{FF2B5EF4-FFF2-40B4-BE49-F238E27FC236}">
                <a16:creationId xmlns:a16="http://schemas.microsoft.com/office/drawing/2014/main" id="{A605DE2F-E7A5-7F8B-7309-21BC7CE9FDD8}"/>
              </a:ext>
            </a:extLst>
          </p:cNvPr>
          <p:cNvSpPr/>
          <p:nvPr/>
        </p:nvSpPr>
        <p:spPr>
          <a:xfrm rot="16200000">
            <a:off x="6091182" y="752549"/>
            <a:ext cx="264160" cy="119374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10" name="Rectangle 9">
            <a:extLst>
              <a:ext uri="{FF2B5EF4-FFF2-40B4-BE49-F238E27FC236}">
                <a16:creationId xmlns:a16="http://schemas.microsoft.com/office/drawing/2014/main" id="{4FF4FD5C-4FC9-8926-C598-8DC9AE7334C5}"/>
              </a:ext>
            </a:extLst>
          </p:cNvPr>
          <p:cNvSpPr/>
          <p:nvPr/>
        </p:nvSpPr>
        <p:spPr>
          <a:xfrm>
            <a:off x="0" y="0"/>
            <a:ext cx="25452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1" name="Rectangle 10">
            <a:extLst>
              <a:ext uri="{FF2B5EF4-FFF2-40B4-BE49-F238E27FC236}">
                <a16:creationId xmlns:a16="http://schemas.microsoft.com/office/drawing/2014/main" id="{0348C90B-D719-1E45-A7E3-603BD5E6BE68}"/>
              </a:ext>
            </a:extLst>
          </p:cNvPr>
          <p:cNvSpPr/>
          <p:nvPr/>
        </p:nvSpPr>
        <p:spPr>
          <a:xfrm>
            <a:off x="11937999" y="-9970"/>
            <a:ext cx="25452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Tree>
    <p:extLst>
      <p:ext uri="{BB962C8B-B14F-4D97-AF65-F5344CB8AC3E}">
        <p14:creationId xmlns:p14="http://schemas.microsoft.com/office/powerpoint/2010/main" val="10133207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3276B-17E3-B91F-1733-4F690B4CD60B}"/>
            </a:ext>
          </a:extLst>
        </p:cNvPr>
        <p:cNvGrpSpPr/>
        <p:nvPr/>
      </p:nvGrpSpPr>
      <p:grpSpPr>
        <a:xfrm>
          <a:off x="0" y="0"/>
          <a:ext cx="0" cy="0"/>
          <a:chOff x="0" y="0"/>
          <a:chExt cx="0" cy="0"/>
        </a:xfrm>
      </p:grpSpPr>
      <p:pic>
        <p:nvPicPr>
          <p:cNvPr id="2" name="Content Placeholder 3" descr="A logo with a flower&#10;&#10;Description automatically generated">
            <a:extLst>
              <a:ext uri="{FF2B5EF4-FFF2-40B4-BE49-F238E27FC236}">
                <a16:creationId xmlns:a16="http://schemas.microsoft.com/office/drawing/2014/main" id="{6B5F5F42-B3A3-9A79-1467-D78756094D2D}"/>
              </a:ext>
            </a:extLst>
          </p:cNvPr>
          <p:cNvPicPr>
            <a:picLocks noChangeAspect="1"/>
          </p:cNvPicPr>
          <p:nvPr/>
        </p:nvPicPr>
        <p:blipFill>
          <a:blip r:embed="rId2"/>
          <a:stretch>
            <a:fillRect/>
          </a:stretch>
        </p:blipFill>
        <p:spPr>
          <a:xfrm>
            <a:off x="10490601" y="264161"/>
            <a:ext cx="1477065" cy="1251226"/>
          </a:xfrm>
          <a:prstGeom prst="rect">
            <a:avLst/>
          </a:prstGeom>
        </p:spPr>
      </p:pic>
      <p:sp>
        <p:nvSpPr>
          <p:cNvPr id="3" name="TextBox 2">
            <a:extLst>
              <a:ext uri="{FF2B5EF4-FFF2-40B4-BE49-F238E27FC236}">
                <a16:creationId xmlns:a16="http://schemas.microsoft.com/office/drawing/2014/main" id="{748024A9-12E8-453A-5436-908D000C6B1A}"/>
              </a:ext>
            </a:extLst>
          </p:cNvPr>
          <p:cNvSpPr txBox="1"/>
          <p:nvPr/>
        </p:nvSpPr>
        <p:spPr>
          <a:xfrm>
            <a:off x="396532" y="259987"/>
            <a:ext cx="8172955" cy="1144993"/>
          </a:xfrm>
          <a:prstGeom prst="rect">
            <a:avLst/>
          </a:prstGeom>
          <a:noFill/>
        </p:spPr>
        <p:txBody>
          <a:bodyPr wrap="square" rtlCol="0">
            <a:spAutoFit/>
          </a:bodyPr>
          <a:lstStyle/>
          <a:p>
            <a:pPr>
              <a:lnSpc>
                <a:spcPct val="150000"/>
              </a:lnSpc>
            </a:pPr>
            <a:r>
              <a:rPr lang="en-US" sz="2800" b="1" dirty="0">
                <a:latin typeface="Times New Roman" panose="02020603050405020304" pitchFamily="18" charset="0"/>
                <a:cs typeface="Times New Roman" panose="02020603050405020304" pitchFamily="18" charset="0"/>
              </a:rPr>
              <a:t>UML Diagrams​</a:t>
            </a:r>
          </a:p>
          <a:p>
            <a:pPr>
              <a:lnSpc>
                <a:spcPct val="150000"/>
              </a:lnSpc>
            </a:pPr>
            <a:endParaRPr lang="en-US" sz="20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BDAC2B7C-EC50-5133-0C77-BC016436B281}"/>
              </a:ext>
            </a:extLst>
          </p:cNvPr>
          <p:cNvPicPr>
            <a:picLocks noChangeAspect="1"/>
          </p:cNvPicPr>
          <p:nvPr/>
        </p:nvPicPr>
        <p:blipFill>
          <a:blip r:embed="rId3"/>
          <a:stretch>
            <a:fillRect/>
          </a:stretch>
        </p:blipFill>
        <p:spPr>
          <a:xfrm>
            <a:off x="3326040" y="1664968"/>
            <a:ext cx="5090159" cy="4236334"/>
          </a:xfrm>
          <a:prstGeom prst="rect">
            <a:avLst/>
          </a:prstGeom>
        </p:spPr>
      </p:pic>
      <p:sp>
        <p:nvSpPr>
          <p:cNvPr id="5" name="TextBox 4">
            <a:extLst>
              <a:ext uri="{FF2B5EF4-FFF2-40B4-BE49-F238E27FC236}">
                <a16:creationId xmlns:a16="http://schemas.microsoft.com/office/drawing/2014/main" id="{F7F952EB-691A-6791-AD3D-6338AF535CAF}"/>
              </a:ext>
            </a:extLst>
          </p:cNvPr>
          <p:cNvSpPr txBox="1"/>
          <p:nvPr/>
        </p:nvSpPr>
        <p:spPr>
          <a:xfrm>
            <a:off x="4630930" y="1112726"/>
            <a:ext cx="2025445" cy="646331"/>
          </a:xfrm>
          <a:prstGeom prst="rect">
            <a:avLst/>
          </a:prstGeom>
          <a:noFill/>
        </p:spPr>
        <p:txBody>
          <a:bodyPr wrap="square" rtlCol="0">
            <a:spAutoFit/>
          </a:bodyPr>
          <a:lstStyle/>
          <a:p>
            <a:r>
              <a:rPr lang="en-IN" b="1" dirty="0"/>
              <a:t>CLASS DIAGRAM</a:t>
            </a:r>
            <a:endParaRPr lang="en-IN" dirty="0"/>
          </a:p>
          <a:p>
            <a:endParaRPr lang="en-IN" dirty="0"/>
          </a:p>
        </p:txBody>
      </p:sp>
      <p:sp>
        <p:nvSpPr>
          <p:cNvPr id="6" name="Rectangle 5">
            <a:extLst>
              <a:ext uri="{FF2B5EF4-FFF2-40B4-BE49-F238E27FC236}">
                <a16:creationId xmlns:a16="http://schemas.microsoft.com/office/drawing/2014/main" id="{A9D2AEF3-8A6F-716F-4E5C-3B3E8DB9241F}"/>
              </a:ext>
            </a:extLst>
          </p:cNvPr>
          <p:cNvSpPr/>
          <p:nvPr/>
        </p:nvSpPr>
        <p:spPr>
          <a:xfrm rot="16200000">
            <a:off x="6091182" y="-5836658"/>
            <a:ext cx="264160" cy="119374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7" name="Rectangle 6">
            <a:extLst>
              <a:ext uri="{FF2B5EF4-FFF2-40B4-BE49-F238E27FC236}">
                <a16:creationId xmlns:a16="http://schemas.microsoft.com/office/drawing/2014/main" id="{2AB961A2-FBA1-760F-7012-27409E6DB230}"/>
              </a:ext>
            </a:extLst>
          </p:cNvPr>
          <p:cNvSpPr/>
          <p:nvPr/>
        </p:nvSpPr>
        <p:spPr>
          <a:xfrm rot="16200000">
            <a:off x="6091182" y="752549"/>
            <a:ext cx="264160" cy="119374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10" name="Rectangle 9">
            <a:extLst>
              <a:ext uri="{FF2B5EF4-FFF2-40B4-BE49-F238E27FC236}">
                <a16:creationId xmlns:a16="http://schemas.microsoft.com/office/drawing/2014/main" id="{048E7513-BA30-CFFD-3997-B133D3DB3A27}"/>
              </a:ext>
            </a:extLst>
          </p:cNvPr>
          <p:cNvSpPr/>
          <p:nvPr/>
        </p:nvSpPr>
        <p:spPr>
          <a:xfrm>
            <a:off x="0" y="0"/>
            <a:ext cx="25452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1" name="Rectangle 10">
            <a:extLst>
              <a:ext uri="{FF2B5EF4-FFF2-40B4-BE49-F238E27FC236}">
                <a16:creationId xmlns:a16="http://schemas.microsoft.com/office/drawing/2014/main" id="{D8AA5A38-745C-0AF6-D481-4EE0E086FAB4}"/>
              </a:ext>
            </a:extLst>
          </p:cNvPr>
          <p:cNvSpPr/>
          <p:nvPr/>
        </p:nvSpPr>
        <p:spPr>
          <a:xfrm>
            <a:off x="11937999" y="-9970"/>
            <a:ext cx="25452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Tree>
    <p:extLst>
      <p:ext uri="{BB962C8B-B14F-4D97-AF65-F5344CB8AC3E}">
        <p14:creationId xmlns:p14="http://schemas.microsoft.com/office/powerpoint/2010/main" val="10077234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A03896-5A41-1742-2EAA-547A6FC58509}"/>
            </a:ext>
          </a:extLst>
        </p:cNvPr>
        <p:cNvGrpSpPr/>
        <p:nvPr/>
      </p:nvGrpSpPr>
      <p:grpSpPr>
        <a:xfrm>
          <a:off x="0" y="0"/>
          <a:ext cx="0" cy="0"/>
          <a:chOff x="0" y="0"/>
          <a:chExt cx="0" cy="0"/>
        </a:xfrm>
      </p:grpSpPr>
      <p:pic>
        <p:nvPicPr>
          <p:cNvPr id="2" name="Content Placeholder 3" descr="A logo with a flower&#10;&#10;Description automatically generated">
            <a:extLst>
              <a:ext uri="{FF2B5EF4-FFF2-40B4-BE49-F238E27FC236}">
                <a16:creationId xmlns:a16="http://schemas.microsoft.com/office/drawing/2014/main" id="{FE86FC4C-F431-7240-EB04-0DDAE4B5D8BB}"/>
              </a:ext>
            </a:extLst>
          </p:cNvPr>
          <p:cNvPicPr>
            <a:picLocks noChangeAspect="1"/>
          </p:cNvPicPr>
          <p:nvPr/>
        </p:nvPicPr>
        <p:blipFill>
          <a:blip r:embed="rId2"/>
          <a:stretch>
            <a:fillRect/>
          </a:stretch>
        </p:blipFill>
        <p:spPr>
          <a:xfrm>
            <a:off x="10458687" y="256539"/>
            <a:ext cx="1477065" cy="1251226"/>
          </a:xfrm>
          <a:prstGeom prst="rect">
            <a:avLst/>
          </a:prstGeom>
        </p:spPr>
      </p:pic>
      <p:sp>
        <p:nvSpPr>
          <p:cNvPr id="3" name="TextBox 2">
            <a:extLst>
              <a:ext uri="{FF2B5EF4-FFF2-40B4-BE49-F238E27FC236}">
                <a16:creationId xmlns:a16="http://schemas.microsoft.com/office/drawing/2014/main" id="{EF25D2E7-190C-0F71-A0C2-1AA3D4659E8A}"/>
              </a:ext>
            </a:extLst>
          </p:cNvPr>
          <p:cNvSpPr txBox="1"/>
          <p:nvPr/>
        </p:nvSpPr>
        <p:spPr>
          <a:xfrm>
            <a:off x="612842" y="309656"/>
            <a:ext cx="8172955" cy="1144993"/>
          </a:xfrm>
          <a:prstGeom prst="rect">
            <a:avLst/>
          </a:prstGeom>
          <a:noFill/>
        </p:spPr>
        <p:txBody>
          <a:bodyPr wrap="square" rtlCol="0">
            <a:spAutoFit/>
          </a:bodyPr>
          <a:lstStyle/>
          <a:p>
            <a:pPr>
              <a:lnSpc>
                <a:spcPct val="150000"/>
              </a:lnSpc>
            </a:pPr>
            <a:r>
              <a:rPr lang="en-US" sz="2800" b="1" dirty="0">
                <a:latin typeface="Times New Roman" panose="02020603050405020304" pitchFamily="18" charset="0"/>
                <a:cs typeface="Times New Roman" panose="02020603050405020304" pitchFamily="18" charset="0"/>
              </a:rPr>
              <a:t>UML Diagrams</a:t>
            </a:r>
          </a:p>
          <a:p>
            <a:pPr>
              <a:lnSpc>
                <a:spcPct val="150000"/>
              </a:lnSpc>
            </a:pPr>
            <a:endParaRPr lang="en-US" sz="20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2F1D7640-33B1-0CB6-A3D2-C29993FCD1D4}"/>
              </a:ext>
            </a:extLst>
          </p:cNvPr>
          <p:cNvPicPr>
            <a:picLocks noChangeAspect="1"/>
          </p:cNvPicPr>
          <p:nvPr/>
        </p:nvPicPr>
        <p:blipFill>
          <a:blip r:embed="rId3"/>
          <a:stretch>
            <a:fillRect/>
          </a:stretch>
        </p:blipFill>
        <p:spPr>
          <a:xfrm>
            <a:off x="3651760" y="1585414"/>
            <a:ext cx="5010930" cy="4247910"/>
          </a:xfrm>
          <a:prstGeom prst="rect">
            <a:avLst/>
          </a:prstGeom>
        </p:spPr>
      </p:pic>
      <p:sp>
        <p:nvSpPr>
          <p:cNvPr id="4" name="TextBox 3">
            <a:extLst>
              <a:ext uri="{FF2B5EF4-FFF2-40B4-BE49-F238E27FC236}">
                <a16:creationId xmlns:a16="http://schemas.microsoft.com/office/drawing/2014/main" id="{561BDD11-3CF6-A05C-EC0A-6C22C9A9CB18}"/>
              </a:ext>
            </a:extLst>
          </p:cNvPr>
          <p:cNvSpPr txBox="1"/>
          <p:nvPr/>
        </p:nvSpPr>
        <p:spPr>
          <a:xfrm>
            <a:off x="4576421" y="1024676"/>
            <a:ext cx="2497393" cy="369332"/>
          </a:xfrm>
          <a:prstGeom prst="rect">
            <a:avLst/>
          </a:prstGeom>
          <a:noFill/>
        </p:spPr>
        <p:txBody>
          <a:bodyPr wrap="square" rtlCol="0">
            <a:spAutoFit/>
          </a:bodyPr>
          <a:lstStyle/>
          <a:p>
            <a:r>
              <a:rPr lang="en-IN" b="1" dirty="0"/>
              <a:t>SEQUENCE DIAGRAM</a:t>
            </a:r>
            <a:endParaRPr lang="en-IN" dirty="0"/>
          </a:p>
        </p:txBody>
      </p:sp>
      <p:sp>
        <p:nvSpPr>
          <p:cNvPr id="6" name="Rectangle 5">
            <a:extLst>
              <a:ext uri="{FF2B5EF4-FFF2-40B4-BE49-F238E27FC236}">
                <a16:creationId xmlns:a16="http://schemas.microsoft.com/office/drawing/2014/main" id="{9E11D0E6-6083-6C10-9B49-82320FD07286}"/>
              </a:ext>
            </a:extLst>
          </p:cNvPr>
          <p:cNvSpPr/>
          <p:nvPr/>
        </p:nvSpPr>
        <p:spPr>
          <a:xfrm>
            <a:off x="0" y="0"/>
            <a:ext cx="25452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7" name="Rectangle 6">
            <a:extLst>
              <a:ext uri="{FF2B5EF4-FFF2-40B4-BE49-F238E27FC236}">
                <a16:creationId xmlns:a16="http://schemas.microsoft.com/office/drawing/2014/main" id="{F8F75D3C-8B40-15AA-1B51-A0DDA6D8783E}"/>
              </a:ext>
            </a:extLst>
          </p:cNvPr>
          <p:cNvSpPr/>
          <p:nvPr/>
        </p:nvSpPr>
        <p:spPr>
          <a:xfrm>
            <a:off x="11941863" y="0"/>
            <a:ext cx="25452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0" name="Rectangle 9">
            <a:extLst>
              <a:ext uri="{FF2B5EF4-FFF2-40B4-BE49-F238E27FC236}">
                <a16:creationId xmlns:a16="http://schemas.microsoft.com/office/drawing/2014/main" id="{1922799D-DAD2-FF97-653C-D438AC2A5014}"/>
              </a:ext>
            </a:extLst>
          </p:cNvPr>
          <p:cNvSpPr/>
          <p:nvPr/>
        </p:nvSpPr>
        <p:spPr>
          <a:xfrm rot="16200000">
            <a:off x="6091182" y="-5836658"/>
            <a:ext cx="264160" cy="119374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11" name="Rectangle 10">
            <a:extLst>
              <a:ext uri="{FF2B5EF4-FFF2-40B4-BE49-F238E27FC236}">
                <a16:creationId xmlns:a16="http://schemas.microsoft.com/office/drawing/2014/main" id="{BA0FB244-7D89-B930-5428-D99A2C5F09DA}"/>
              </a:ext>
            </a:extLst>
          </p:cNvPr>
          <p:cNvSpPr/>
          <p:nvPr/>
        </p:nvSpPr>
        <p:spPr>
          <a:xfrm rot="16200000">
            <a:off x="6091182" y="757182"/>
            <a:ext cx="264160" cy="119374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Tree>
    <p:extLst>
      <p:ext uri="{BB962C8B-B14F-4D97-AF65-F5344CB8AC3E}">
        <p14:creationId xmlns:p14="http://schemas.microsoft.com/office/powerpoint/2010/main" val="15203780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30B30-3CA9-D22E-5089-E5E996D17DC7}"/>
            </a:ext>
          </a:extLst>
        </p:cNvPr>
        <p:cNvGrpSpPr/>
        <p:nvPr/>
      </p:nvGrpSpPr>
      <p:grpSpPr>
        <a:xfrm>
          <a:off x="0" y="0"/>
          <a:ext cx="0" cy="0"/>
          <a:chOff x="0" y="0"/>
          <a:chExt cx="0" cy="0"/>
        </a:xfrm>
      </p:grpSpPr>
      <p:pic>
        <p:nvPicPr>
          <p:cNvPr id="2" name="Content Placeholder 3" descr="A logo with a flower&#10;&#10;Description automatically generated">
            <a:extLst>
              <a:ext uri="{FF2B5EF4-FFF2-40B4-BE49-F238E27FC236}">
                <a16:creationId xmlns:a16="http://schemas.microsoft.com/office/drawing/2014/main" id="{D4F35FE4-06A6-5D77-AF5C-6807F87BFC85}"/>
              </a:ext>
            </a:extLst>
          </p:cNvPr>
          <p:cNvPicPr>
            <a:picLocks noChangeAspect="1"/>
          </p:cNvPicPr>
          <p:nvPr/>
        </p:nvPicPr>
        <p:blipFill>
          <a:blip r:embed="rId2"/>
          <a:stretch>
            <a:fillRect/>
          </a:stretch>
        </p:blipFill>
        <p:spPr>
          <a:xfrm>
            <a:off x="10458687" y="256539"/>
            <a:ext cx="1477065" cy="1251226"/>
          </a:xfrm>
          <a:prstGeom prst="rect">
            <a:avLst/>
          </a:prstGeom>
        </p:spPr>
      </p:pic>
      <p:sp>
        <p:nvSpPr>
          <p:cNvPr id="3" name="TextBox 2">
            <a:extLst>
              <a:ext uri="{FF2B5EF4-FFF2-40B4-BE49-F238E27FC236}">
                <a16:creationId xmlns:a16="http://schemas.microsoft.com/office/drawing/2014/main" id="{D9842286-5177-D54E-AE0F-DE24A5D3689F}"/>
              </a:ext>
            </a:extLst>
          </p:cNvPr>
          <p:cNvSpPr txBox="1"/>
          <p:nvPr/>
        </p:nvSpPr>
        <p:spPr>
          <a:xfrm>
            <a:off x="612842" y="309656"/>
            <a:ext cx="8172955" cy="1144993"/>
          </a:xfrm>
          <a:prstGeom prst="rect">
            <a:avLst/>
          </a:prstGeom>
          <a:noFill/>
        </p:spPr>
        <p:txBody>
          <a:bodyPr wrap="square" rtlCol="0">
            <a:spAutoFit/>
          </a:bodyPr>
          <a:lstStyle/>
          <a:p>
            <a:pPr>
              <a:lnSpc>
                <a:spcPct val="150000"/>
              </a:lnSpc>
            </a:pPr>
            <a:r>
              <a:rPr lang="en-US" sz="2800" b="1" dirty="0">
                <a:latin typeface="Times New Roman" panose="02020603050405020304" pitchFamily="18" charset="0"/>
                <a:cs typeface="Times New Roman" panose="02020603050405020304" pitchFamily="18" charset="0"/>
              </a:rPr>
              <a:t>UML Diagrams</a:t>
            </a:r>
          </a:p>
          <a:p>
            <a:pPr>
              <a:lnSpc>
                <a:spcPct val="150000"/>
              </a:lnSpc>
            </a:pPr>
            <a:endParaRPr lang="en-US" sz="20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35EDEDDB-2BB5-5399-E4CC-F824112DEDDD}"/>
              </a:ext>
            </a:extLst>
          </p:cNvPr>
          <p:cNvPicPr>
            <a:picLocks noChangeAspect="1"/>
          </p:cNvPicPr>
          <p:nvPr/>
        </p:nvPicPr>
        <p:blipFill>
          <a:blip r:embed="rId3"/>
          <a:stretch>
            <a:fillRect/>
          </a:stretch>
        </p:blipFill>
        <p:spPr>
          <a:xfrm>
            <a:off x="2625213" y="1454649"/>
            <a:ext cx="4881294" cy="4247910"/>
          </a:xfrm>
          <a:prstGeom prst="rect">
            <a:avLst/>
          </a:prstGeom>
        </p:spPr>
      </p:pic>
      <p:sp>
        <p:nvSpPr>
          <p:cNvPr id="5" name="TextBox 4">
            <a:extLst>
              <a:ext uri="{FF2B5EF4-FFF2-40B4-BE49-F238E27FC236}">
                <a16:creationId xmlns:a16="http://schemas.microsoft.com/office/drawing/2014/main" id="{BB10186F-1659-4A07-4D9A-B880399DEC4A}"/>
              </a:ext>
            </a:extLst>
          </p:cNvPr>
          <p:cNvSpPr txBox="1"/>
          <p:nvPr/>
        </p:nvSpPr>
        <p:spPr>
          <a:xfrm>
            <a:off x="3725868" y="984961"/>
            <a:ext cx="2497393" cy="369332"/>
          </a:xfrm>
          <a:prstGeom prst="rect">
            <a:avLst/>
          </a:prstGeom>
          <a:noFill/>
        </p:spPr>
        <p:txBody>
          <a:bodyPr wrap="square" rtlCol="0">
            <a:spAutoFit/>
          </a:bodyPr>
          <a:lstStyle/>
          <a:p>
            <a:r>
              <a:rPr lang="en-IN" b="1" dirty="0"/>
              <a:t>FLOWCHART DIAGRAM</a:t>
            </a:r>
            <a:endParaRPr lang="en-IN" dirty="0"/>
          </a:p>
        </p:txBody>
      </p:sp>
      <p:sp>
        <p:nvSpPr>
          <p:cNvPr id="6" name="Rectangle 5">
            <a:extLst>
              <a:ext uri="{FF2B5EF4-FFF2-40B4-BE49-F238E27FC236}">
                <a16:creationId xmlns:a16="http://schemas.microsoft.com/office/drawing/2014/main" id="{8D52CFD6-32CC-7FE2-119A-28BD54214646}"/>
              </a:ext>
            </a:extLst>
          </p:cNvPr>
          <p:cNvSpPr/>
          <p:nvPr/>
        </p:nvSpPr>
        <p:spPr>
          <a:xfrm>
            <a:off x="0" y="0"/>
            <a:ext cx="25452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7" name="Rectangle 6">
            <a:extLst>
              <a:ext uri="{FF2B5EF4-FFF2-40B4-BE49-F238E27FC236}">
                <a16:creationId xmlns:a16="http://schemas.microsoft.com/office/drawing/2014/main" id="{9A819783-A826-6B91-653F-8C8DC9CF26D9}"/>
              </a:ext>
            </a:extLst>
          </p:cNvPr>
          <p:cNvSpPr/>
          <p:nvPr/>
        </p:nvSpPr>
        <p:spPr>
          <a:xfrm>
            <a:off x="11941863" y="0"/>
            <a:ext cx="25452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0" name="Rectangle 9">
            <a:extLst>
              <a:ext uri="{FF2B5EF4-FFF2-40B4-BE49-F238E27FC236}">
                <a16:creationId xmlns:a16="http://schemas.microsoft.com/office/drawing/2014/main" id="{1F01AA5E-F4CC-E106-A26A-938C9241B838}"/>
              </a:ext>
            </a:extLst>
          </p:cNvPr>
          <p:cNvSpPr/>
          <p:nvPr/>
        </p:nvSpPr>
        <p:spPr>
          <a:xfrm rot="16200000">
            <a:off x="6091182" y="-5836658"/>
            <a:ext cx="264160" cy="119374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11" name="Rectangle 10">
            <a:extLst>
              <a:ext uri="{FF2B5EF4-FFF2-40B4-BE49-F238E27FC236}">
                <a16:creationId xmlns:a16="http://schemas.microsoft.com/office/drawing/2014/main" id="{C554D286-A95E-83BF-F503-BE9157358110}"/>
              </a:ext>
            </a:extLst>
          </p:cNvPr>
          <p:cNvSpPr/>
          <p:nvPr/>
        </p:nvSpPr>
        <p:spPr>
          <a:xfrm rot="16200000">
            <a:off x="6091182" y="757182"/>
            <a:ext cx="264160" cy="119374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Tree>
    <p:extLst>
      <p:ext uri="{BB962C8B-B14F-4D97-AF65-F5344CB8AC3E}">
        <p14:creationId xmlns:p14="http://schemas.microsoft.com/office/powerpoint/2010/main" val="2631228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8CD8F4-51AB-D5C3-96C3-B3744B2C1AEE}"/>
            </a:ext>
          </a:extLst>
        </p:cNvPr>
        <p:cNvGrpSpPr/>
        <p:nvPr/>
      </p:nvGrpSpPr>
      <p:grpSpPr>
        <a:xfrm>
          <a:off x="0" y="0"/>
          <a:ext cx="0" cy="0"/>
          <a:chOff x="0" y="0"/>
          <a:chExt cx="0" cy="0"/>
        </a:xfrm>
      </p:grpSpPr>
      <p:pic>
        <p:nvPicPr>
          <p:cNvPr id="2" name="Content Placeholder 3" descr="A logo with a flower&#10;&#10;Description automatically generated">
            <a:extLst>
              <a:ext uri="{FF2B5EF4-FFF2-40B4-BE49-F238E27FC236}">
                <a16:creationId xmlns:a16="http://schemas.microsoft.com/office/drawing/2014/main" id="{DA114F1C-7A9A-1AAB-2179-5A30569FDC1D}"/>
              </a:ext>
            </a:extLst>
          </p:cNvPr>
          <p:cNvPicPr>
            <a:picLocks noChangeAspect="1"/>
          </p:cNvPicPr>
          <p:nvPr/>
        </p:nvPicPr>
        <p:blipFill>
          <a:blip r:embed="rId2"/>
          <a:stretch>
            <a:fillRect/>
          </a:stretch>
        </p:blipFill>
        <p:spPr>
          <a:xfrm>
            <a:off x="10460411" y="264161"/>
            <a:ext cx="1477065" cy="1251226"/>
          </a:xfrm>
          <a:prstGeom prst="rect">
            <a:avLst/>
          </a:prstGeom>
        </p:spPr>
      </p:pic>
      <p:sp>
        <p:nvSpPr>
          <p:cNvPr id="3" name="TextBox 2">
            <a:extLst>
              <a:ext uri="{FF2B5EF4-FFF2-40B4-BE49-F238E27FC236}">
                <a16:creationId xmlns:a16="http://schemas.microsoft.com/office/drawing/2014/main" id="{A9A3F900-6519-B692-6339-396D6B6F5137}"/>
              </a:ext>
            </a:extLst>
          </p:cNvPr>
          <p:cNvSpPr txBox="1"/>
          <p:nvPr/>
        </p:nvSpPr>
        <p:spPr>
          <a:xfrm>
            <a:off x="580459" y="317218"/>
            <a:ext cx="8172955" cy="1144993"/>
          </a:xfrm>
          <a:prstGeom prst="rect">
            <a:avLst/>
          </a:prstGeom>
          <a:noFill/>
        </p:spPr>
        <p:txBody>
          <a:bodyPr wrap="square" rtlCol="0">
            <a:spAutoFit/>
          </a:bodyPr>
          <a:lstStyle/>
          <a:p>
            <a:pPr>
              <a:lnSpc>
                <a:spcPct val="150000"/>
              </a:lnSpc>
            </a:pPr>
            <a:r>
              <a:rPr lang="en-US" sz="2800" b="1" dirty="0">
                <a:latin typeface="Times New Roman" panose="02020603050405020304" pitchFamily="18" charset="0"/>
                <a:cs typeface="Times New Roman" panose="02020603050405020304" pitchFamily="18" charset="0"/>
              </a:rPr>
              <a:t>UML Diagrams</a:t>
            </a:r>
          </a:p>
          <a:p>
            <a:pPr>
              <a:lnSpc>
                <a:spcPct val="150000"/>
              </a:lnSpc>
            </a:pPr>
            <a:endParaRPr lang="en-US" sz="20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B030D972-1A16-C3BC-5243-39F4DF8E93A4}"/>
              </a:ext>
            </a:extLst>
          </p:cNvPr>
          <p:cNvPicPr>
            <a:picLocks noChangeAspect="1"/>
          </p:cNvPicPr>
          <p:nvPr/>
        </p:nvPicPr>
        <p:blipFill>
          <a:blip r:embed="rId3"/>
          <a:stretch>
            <a:fillRect/>
          </a:stretch>
        </p:blipFill>
        <p:spPr>
          <a:xfrm>
            <a:off x="3256209" y="1637451"/>
            <a:ext cx="5196840" cy="4266565"/>
          </a:xfrm>
          <a:prstGeom prst="rect">
            <a:avLst/>
          </a:prstGeom>
        </p:spPr>
      </p:pic>
      <p:sp>
        <p:nvSpPr>
          <p:cNvPr id="5" name="TextBox 4">
            <a:extLst>
              <a:ext uri="{FF2B5EF4-FFF2-40B4-BE49-F238E27FC236}">
                <a16:creationId xmlns:a16="http://schemas.microsoft.com/office/drawing/2014/main" id="{C099B6A4-48AD-DFA6-0312-5C09281B48C4}"/>
              </a:ext>
            </a:extLst>
          </p:cNvPr>
          <p:cNvSpPr txBox="1"/>
          <p:nvPr/>
        </p:nvSpPr>
        <p:spPr>
          <a:xfrm>
            <a:off x="4365042" y="1092879"/>
            <a:ext cx="2979174" cy="369332"/>
          </a:xfrm>
          <a:prstGeom prst="rect">
            <a:avLst/>
          </a:prstGeom>
          <a:noFill/>
        </p:spPr>
        <p:txBody>
          <a:bodyPr wrap="square" rtlCol="0">
            <a:spAutoFit/>
          </a:bodyPr>
          <a:lstStyle/>
          <a:p>
            <a:r>
              <a:rPr lang="en-IN" b="1" dirty="0"/>
              <a:t>DATAFLOW DIAGRAM</a:t>
            </a:r>
            <a:endParaRPr lang="en-IN" dirty="0"/>
          </a:p>
        </p:txBody>
      </p:sp>
      <p:sp>
        <p:nvSpPr>
          <p:cNvPr id="6" name="Rectangle 5">
            <a:extLst>
              <a:ext uri="{FF2B5EF4-FFF2-40B4-BE49-F238E27FC236}">
                <a16:creationId xmlns:a16="http://schemas.microsoft.com/office/drawing/2014/main" id="{14C57774-0250-239E-9E13-887CCD4C0DA6}"/>
              </a:ext>
            </a:extLst>
          </p:cNvPr>
          <p:cNvSpPr/>
          <p:nvPr/>
        </p:nvSpPr>
        <p:spPr>
          <a:xfrm rot="16200000">
            <a:off x="6091182" y="-5836658"/>
            <a:ext cx="264160" cy="119374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7" name="Rectangle 6">
            <a:extLst>
              <a:ext uri="{FF2B5EF4-FFF2-40B4-BE49-F238E27FC236}">
                <a16:creationId xmlns:a16="http://schemas.microsoft.com/office/drawing/2014/main" id="{2FBB0458-E8C2-1DAA-B7B4-497AD054CDAB}"/>
              </a:ext>
            </a:extLst>
          </p:cNvPr>
          <p:cNvSpPr/>
          <p:nvPr/>
        </p:nvSpPr>
        <p:spPr>
          <a:xfrm rot="16200000">
            <a:off x="5846818" y="747685"/>
            <a:ext cx="264160" cy="119374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8" name="Rectangle 7">
            <a:extLst>
              <a:ext uri="{FF2B5EF4-FFF2-40B4-BE49-F238E27FC236}">
                <a16:creationId xmlns:a16="http://schemas.microsoft.com/office/drawing/2014/main" id="{E243FF26-196F-83A9-84B6-E80D516AD1D2}"/>
              </a:ext>
            </a:extLst>
          </p:cNvPr>
          <p:cNvSpPr/>
          <p:nvPr/>
        </p:nvSpPr>
        <p:spPr>
          <a:xfrm>
            <a:off x="0" y="0"/>
            <a:ext cx="25452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9" name="Rectangle 8">
            <a:extLst>
              <a:ext uri="{FF2B5EF4-FFF2-40B4-BE49-F238E27FC236}">
                <a16:creationId xmlns:a16="http://schemas.microsoft.com/office/drawing/2014/main" id="{E0BBD934-C0BA-3884-9FD7-6571FEDE8879}"/>
              </a:ext>
            </a:extLst>
          </p:cNvPr>
          <p:cNvSpPr/>
          <p:nvPr/>
        </p:nvSpPr>
        <p:spPr>
          <a:xfrm>
            <a:off x="11947636" y="-9497"/>
            <a:ext cx="25452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25679864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93F0ED-0E42-AE17-33A9-D1701DB8F534}"/>
            </a:ext>
          </a:extLst>
        </p:cNvPr>
        <p:cNvGrpSpPr/>
        <p:nvPr/>
      </p:nvGrpSpPr>
      <p:grpSpPr>
        <a:xfrm>
          <a:off x="0" y="0"/>
          <a:ext cx="0" cy="0"/>
          <a:chOff x="0" y="0"/>
          <a:chExt cx="0" cy="0"/>
        </a:xfrm>
      </p:grpSpPr>
      <p:pic>
        <p:nvPicPr>
          <p:cNvPr id="2" name="Content Placeholder 3" descr="A logo with a flower&#10;&#10;Description automatically generated">
            <a:extLst>
              <a:ext uri="{FF2B5EF4-FFF2-40B4-BE49-F238E27FC236}">
                <a16:creationId xmlns:a16="http://schemas.microsoft.com/office/drawing/2014/main" id="{BAE57253-DB50-4B3F-78D7-ECB3FD5D45A0}"/>
              </a:ext>
            </a:extLst>
          </p:cNvPr>
          <p:cNvPicPr>
            <a:picLocks noChangeAspect="1"/>
          </p:cNvPicPr>
          <p:nvPr/>
        </p:nvPicPr>
        <p:blipFill>
          <a:blip r:embed="rId2"/>
          <a:stretch>
            <a:fillRect/>
          </a:stretch>
        </p:blipFill>
        <p:spPr>
          <a:xfrm>
            <a:off x="10460411" y="264161"/>
            <a:ext cx="1477065" cy="1251226"/>
          </a:xfrm>
          <a:prstGeom prst="rect">
            <a:avLst/>
          </a:prstGeom>
        </p:spPr>
      </p:pic>
      <p:sp>
        <p:nvSpPr>
          <p:cNvPr id="3" name="TextBox 2">
            <a:extLst>
              <a:ext uri="{FF2B5EF4-FFF2-40B4-BE49-F238E27FC236}">
                <a16:creationId xmlns:a16="http://schemas.microsoft.com/office/drawing/2014/main" id="{79763C47-19C4-72EA-50C7-F07B5FD3D82C}"/>
              </a:ext>
            </a:extLst>
          </p:cNvPr>
          <p:cNvSpPr txBox="1"/>
          <p:nvPr/>
        </p:nvSpPr>
        <p:spPr>
          <a:xfrm>
            <a:off x="580459" y="317218"/>
            <a:ext cx="8172955" cy="661207"/>
          </a:xfrm>
          <a:prstGeom prst="rect">
            <a:avLst/>
          </a:prstGeom>
          <a:noFill/>
        </p:spPr>
        <p:txBody>
          <a:bodyPr wrap="square" rtlCol="0">
            <a:spAutoFit/>
          </a:bodyPr>
          <a:lstStyle/>
          <a:p>
            <a:pPr>
              <a:lnSpc>
                <a:spcPct val="150000"/>
              </a:lnSpc>
            </a:pPr>
            <a:r>
              <a:rPr lang="en-US" sz="2800" b="1" dirty="0">
                <a:latin typeface="Times New Roman" panose="02020603050405020304" pitchFamily="18" charset="0"/>
                <a:cs typeface="Times New Roman" panose="02020603050405020304" pitchFamily="18" charset="0"/>
              </a:rPr>
              <a:t>Source Code</a:t>
            </a:r>
          </a:p>
        </p:txBody>
      </p:sp>
      <p:sp>
        <p:nvSpPr>
          <p:cNvPr id="5" name="TextBox 4">
            <a:extLst>
              <a:ext uri="{FF2B5EF4-FFF2-40B4-BE49-F238E27FC236}">
                <a16:creationId xmlns:a16="http://schemas.microsoft.com/office/drawing/2014/main" id="{D9C44CF0-74C8-FF2C-9E8D-3DEEDC5727BC}"/>
              </a:ext>
            </a:extLst>
          </p:cNvPr>
          <p:cNvSpPr txBox="1"/>
          <p:nvPr/>
        </p:nvSpPr>
        <p:spPr>
          <a:xfrm>
            <a:off x="1002409" y="889774"/>
            <a:ext cx="6735577" cy="6186309"/>
          </a:xfrm>
          <a:prstGeom prst="rect">
            <a:avLst/>
          </a:prstGeom>
          <a:noFill/>
        </p:spPr>
        <p:txBody>
          <a:bodyPr wrap="square" rtlCol="0">
            <a:spAutoFit/>
          </a:bodyPr>
          <a:lstStyle/>
          <a:p>
            <a:r>
              <a:rPr lang="en-IN" dirty="0"/>
              <a:t>import </a:t>
            </a:r>
            <a:r>
              <a:rPr lang="en-IN" dirty="0" err="1"/>
              <a:t>streamlit</a:t>
            </a:r>
            <a:r>
              <a:rPr lang="en-IN" dirty="0"/>
              <a:t> as </a:t>
            </a:r>
            <a:r>
              <a:rPr lang="en-IN" dirty="0" err="1"/>
              <a:t>st</a:t>
            </a:r>
            <a:endParaRPr lang="en-IN" dirty="0"/>
          </a:p>
          <a:p>
            <a:r>
              <a:rPr lang="en-IN" dirty="0"/>
              <a:t>import pandas as pd</a:t>
            </a:r>
          </a:p>
          <a:p>
            <a:r>
              <a:rPr lang="en-IN" dirty="0"/>
              <a:t>import </a:t>
            </a:r>
            <a:r>
              <a:rPr lang="en-IN" dirty="0" err="1"/>
              <a:t>os</a:t>
            </a:r>
            <a:endParaRPr lang="en-IN" dirty="0"/>
          </a:p>
          <a:p>
            <a:r>
              <a:rPr lang="en-IN" dirty="0"/>
              <a:t>import </a:t>
            </a:r>
            <a:r>
              <a:rPr lang="en-IN" dirty="0" err="1"/>
              <a:t>fitz</a:t>
            </a:r>
            <a:endParaRPr lang="en-IN" dirty="0"/>
          </a:p>
          <a:p>
            <a:r>
              <a:rPr lang="en-IN" dirty="0"/>
              <a:t>import </a:t>
            </a:r>
            <a:r>
              <a:rPr lang="en-IN" dirty="0" err="1"/>
              <a:t>nltk</a:t>
            </a:r>
            <a:endParaRPr lang="en-IN" dirty="0"/>
          </a:p>
          <a:p>
            <a:r>
              <a:rPr lang="en-IN" dirty="0"/>
              <a:t>import torch</a:t>
            </a:r>
          </a:p>
          <a:p>
            <a:r>
              <a:rPr lang="en-IN" dirty="0"/>
              <a:t>import </a:t>
            </a:r>
            <a:r>
              <a:rPr lang="en-IN" dirty="0" err="1"/>
              <a:t>matplotlib.pyplot</a:t>
            </a:r>
            <a:r>
              <a:rPr lang="en-IN" dirty="0"/>
              <a:t> as </a:t>
            </a:r>
            <a:r>
              <a:rPr lang="en-IN" dirty="0" err="1"/>
              <a:t>plt</a:t>
            </a:r>
            <a:endParaRPr lang="en-IN" dirty="0"/>
          </a:p>
          <a:p>
            <a:r>
              <a:rPr lang="en-IN" dirty="0"/>
              <a:t>import seaborn as </a:t>
            </a:r>
            <a:r>
              <a:rPr lang="en-IN" dirty="0" err="1"/>
              <a:t>sns</a:t>
            </a:r>
            <a:endParaRPr lang="en-IN" dirty="0"/>
          </a:p>
          <a:p>
            <a:r>
              <a:rPr lang="en-IN" dirty="0"/>
              <a:t>import re</a:t>
            </a:r>
          </a:p>
          <a:p>
            <a:r>
              <a:rPr lang="en-IN" dirty="0"/>
              <a:t>import </a:t>
            </a:r>
            <a:r>
              <a:rPr lang="en-IN" dirty="0" err="1"/>
              <a:t>numpy</a:t>
            </a:r>
            <a:r>
              <a:rPr lang="en-IN" dirty="0"/>
              <a:t> as np</a:t>
            </a:r>
          </a:p>
          <a:p>
            <a:r>
              <a:rPr lang="en-IN" dirty="0"/>
              <a:t>from </a:t>
            </a:r>
            <a:r>
              <a:rPr lang="en-IN" dirty="0" err="1"/>
              <a:t>nltk.tokenize</a:t>
            </a:r>
            <a:r>
              <a:rPr lang="en-IN" dirty="0"/>
              <a:t> import </a:t>
            </a:r>
            <a:r>
              <a:rPr lang="en-IN" dirty="0" err="1"/>
              <a:t>sent_tokenize</a:t>
            </a:r>
            <a:endParaRPr lang="en-IN" dirty="0"/>
          </a:p>
          <a:p>
            <a:r>
              <a:rPr lang="en-IN" dirty="0"/>
              <a:t>from </a:t>
            </a:r>
            <a:r>
              <a:rPr lang="en-IN" dirty="0" err="1"/>
              <a:t>sentence_transformers</a:t>
            </a:r>
            <a:r>
              <a:rPr lang="en-IN" dirty="0"/>
              <a:t> import </a:t>
            </a:r>
            <a:r>
              <a:rPr lang="en-IN" dirty="0" err="1"/>
              <a:t>SentenceTransformer</a:t>
            </a:r>
            <a:r>
              <a:rPr lang="en-IN" dirty="0"/>
              <a:t>, util</a:t>
            </a:r>
          </a:p>
          <a:p>
            <a:r>
              <a:rPr lang="en-IN" dirty="0"/>
              <a:t>from </a:t>
            </a:r>
            <a:r>
              <a:rPr lang="en-IN" dirty="0" err="1"/>
              <a:t>rouge_score</a:t>
            </a:r>
            <a:r>
              <a:rPr lang="en-IN" dirty="0"/>
              <a:t> import </a:t>
            </a:r>
            <a:r>
              <a:rPr lang="en-IN" dirty="0" err="1"/>
              <a:t>rouge_scorer</a:t>
            </a:r>
            <a:endParaRPr lang="en-IN" dirty="0"/>
          </a:p>
          <a:p>
            <a:r>
              <a:rPr lang="en-IN" dirty="0"/>
              <a:t>from </a:t>
            </a:r>
            <a:r>
              <a:rPr lang="en-IN" dirty="0" err="1"/>
              <a:t>fpdf</a:t>
            </a:r>
            <a:r>
              <a:rPr lang="en-IN" dirty="0"/>
              <a:t> import FPDF</a:t>
            </a:r>
          </a:p>
          <a:p>
            <a:r>
              <a:rPr lang="en-IN" dirty="0"/>
              <a:t>import </a:t>
            </a:r>
            <a:r>
              <a:rPr lang="en-IN" dirty="0" err="1"/>
              <a:t>hashlib</a:t>
            </a:r>
            <a:r>
              <a:rPr lang="en-IN" dirty="0"/>
              <a:t>  # ✅ for password hashing</a:t>
            </a:r>
          </a:p>
          <a:p>
            <a:r>
              <a:rPr lang="en-IN" dirty="0" err="1"/>
              <a:t>st.set_page_config</a:t>
            </a:r>
            <a:r>
              <a:rPr lang="en-IN" dirty="0"/>
              <a:t>(</a:t>
            </a:r>
            <a:r>
              <a:rPr lang="en-IN" dirty="0" err="1"/>
              <a:t>page_title</a:t>
            </a:r>
            <a:r>
              <a:rPr lang="en-IN" dirty="0"/>
              <a:t>="Legal &amp; Financial Document Summarizer", layout="wide")</a:t>
            </a:r>
          </a:p>
          <a:p>
            <a:r>
              <a:rPr lang="en-IN" dirty="0" err="1"/>
              <a:t>nltk.download</a:t>
            </a:r>
            <a:r>
              <a:rPr lang="en-IN" dirty="0"/>
              <a:t>('</a:t>
            </a:r>
            <a:r>
              <a:rPr lang="en-IN" dirty="0" err="1"/>
              <a:t>punkt</a:t>
            </a:r>
            <a:r>
              <a:rPr lang="en-IN" dirty="0"/>
              <a:t>', quiet=True)</a:t>
            </a:r>
          </a:p>
          <a:p>
            <a:r>
              <a:rPr lang="en-IN" dirty="0" err="1"/>
              <a:t>nltk.download</a:t>
            </a:r>
            <a:r>
              <a:rPr lang="en-IN" dirty="0"/>
              <a:t>('</a:t>
            </a:r>
            <a:r>
              <a:rPr lang="en-IN" dirty="0" err="1"/>
              <a:t>punkt_tab</a:t>
            </a:r>
            <a:r>
              <a:rPr lang="en-IN" dirty="0"/>
              <a:t>', quiet=True)</a:t>
            </a:r>
          </a:p>
          <a:p>
            <a:br>
              <a:rPr lang="en-IN" dirty="0"/>
            </a:br>
            <a:endParaRPr lang="en-IN" dirty="0"/>
          </a:p>
          <a:p>
            <a:endParaRPr lang="en-IN" dirty="0"/>
          </a:p>
        </p:txBody>
      </p:sp>
      <p:sp>
        <p:nvSpPr>
          <p:cNvPr id="6" name="Rectangle 5">
            <a:extLst>
              <a:ext uri="{FF2B5EF4-FFF2-40B4-BE49-F238E27FC236}">
                <a16:creationId xmlns:a16="http://schemas.microsoft.com/office/drawing/2014/main" id="{335E5D55-426C-8709-99F1-978DD18B9C8D}"/>
              </a:ext>
            </a:extLst>
          </p:cNvPr>
          <p:cNvSpPr/>
          <p:nvPr/>
        </p:nvSpPr>
        <p:spPr>
          <a:xfrm rot="16200000">
            <a:off x="6091182" y="-5836658"/>
            <a:ext cx="264160" cy="119374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7" name="Rectangle 6">
            <a:extLst>
              <a:ext uri="{FF2B5EF4-FFF2-40B4-BE49-F238E27FC236}">
                <a16:creationId xmlns:a16="http://schemas.microsoft.com/office/drawing/2014/main" id="{F81BB957-B953-49C2-95AD-43C3F9408E04}"/>
              </a:ext>
            </a:extLst>
          </p:cNvPr>
          <p:cNvSpPr/>
          <p:nvPr/>
        </p:nvSpPr>
        <p:spPr>
          <a:xfrm rot="16200000">
            <a:off x="5846818" y="747685"/>
            <a:ext cx="264160" cy="119374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8" name="Rectangle 7">
            <a:extLst>
              <a:ext uri="{FF2B5EF4-FFF2-40B4-BE49-F238E27FC236}">
                <a16:creationId xmlns:a16="http://schemas.microsoft.com/office/drawing/2014/main" id="{55E2B1FF-FB1D-9375-8BDA-2638F9469E27}"/>
              </a:ext>
            </a:extLst>
          </p:cNvPr>
          <p:cNvSpPr/>
          <p:nvPr/>
        </p:nvSpPr>
        <p:spPr>
          <a:xfrm>
            <a:off x="0" y="0"/>
            <a:ext cx="25452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9" name="Rectangle 8">
            <a:extLst>
              <a:ext uri="{FF2B5EF4-FFF2-40B4-BE49-F238E27FC236}">
                <a16:creationId xmlns:a16="http://schemas.microsoft.com/office/drawing/2014/main" id="{B8553B9E-ECB5-D32F-0894-0DC7B506E08A}"/>
              </a:ext>
            </a:extLst>
          </p:cNvPr>
          <p:cNvSpPr/>
          <p:nvPr/>
        </p:nvSpPr>
        <p:spPr>
          <a:xfrm>
            <a:off x="11947636" y="-9497"/>
            <a:ext cx="25452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5418607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38C432-4C3E-83C3-0F9A-E60D8FA20E5C}"/>
            </a:ext>
          </a:extLst>
        </p:cNvPr>
        <p:cNvGrpSpPr/>
        <p:nvPr/>
      </p:nvGrpSpPr>
      <p:grpSpPr>
        <a:xfrm>
          <a:off x="0" y="0"/>
          <a:ext cx="0" cy="0"/>
          <a:chOff x="0" y="0"/>
          <a:chExt cx="0" cy="0"/>
        </a:xfrm>
      </p:grpSpPr>
      <p:pic>
        <p:nvPicPr>
          <p:cNvPr id="2" name="Content Placeholder 3" descr="A logo with a flower&#10;&#10;Description automatically generated">
            <a:extLst>
              <a:ext uri="{FF2B5EF4-FFF2-40B4-BE49-F238E27FC236}">
                <a16:creationId xmlns:a16="http://schemas.microsoft.com/office/drawing/2014/main" id="{E450C394-151B-DD9E-94C0-91828FA95E2D}"/>
              </a:ext>
            </a:extLst>
          </p:cNvPr>
          <p:cNvPicPr>
            <a:picLocks noChangeAspect="1"/>
          </p:cNvPicPr>
          <p:nvPr/>
        </p:nvPicPr>
        <p:blipFill>
          <a:blip r:embed="rId2"/>
          <a:stretch>
            <a:fillRect/>
          </a:stretch>
        </p:blipFill>
        <p:spPr>
          <a:xfrm>
            <a:off x="10460411" y="264161"/>
            <a:ext cx="1477065" cy="1251226"/>
          </a:xfrm>
          <a:prstGeom prst="rect">
            <a:avLst/>
          </a:prstGeom>
        </p:spPr>
      </p:pic>
      <p:sp>
        <p:nvSpPr>
          <p:cNvPr id="3" name="TextBox 2">
            <a:extLst>
              <a:ext uri="{FF2B5EF4-FFF2-40B4-BE49-F238E27FC236}">
                <a16:creationId xmlns:a16="http://schemas.microsoft.com/office/drawing/2014/main" id="{66C697B5-0020-3313-FE6F-5986A792AEA3}"/>
              </a:ext>
            </a:extLst>
          </p:cNvPr>
          <p:cNvSpPr txBox="1"/>
          <p:nvPr/>
        </p:nvSpPr>
        <p:spPr>
          <a:xfrm>
            <a:off x="580459" y="317218"/>
            <a:ext cx="8172955" cy="661207"/>
          </a:xfrm>
          <a:prstGeom prst="rect">
            <a:avLst/>
          </a:prstGeom>
          <a:noFill/>
        </p:spPr>
        <p:txBody>
          <a:bodyPr wrap="square" rtlCol="0">
            <a:spAutoFit/>
          </a:bodyPr>
          <a:lstStyle/>
          <a:p>
            <a:pPr>
              <a:lnSpc>
                <a:spcPct val="150000"/>
              </a:lnSpc>
            </a:pPr>
            <a:r>
              <a:rPr lang="en-US" sz="2800" b="1" dirty="0">
                <a:latin typeface="Times New Roman" panose="02020603050405020304" pitchFamily="18" charset="0"/>
                <a:cs typeface="Times New Roman" panose="02020603050405020304" pitchFamily="18" charset="0"/>
              </a:rPr>
              <a:t>Source Code</a:t>
            </a:r>
          </a:p>
        </p:txBody>
      </p:sp>
      <p:sp>
        <p:nvSpPr>
          <p:cNvPr id="5" name="TextBox 4">
            <a:extLst>
              <a:ext uri="{FF2B5EF4-FFF2-40B4-BE49-F238E27FC236}">
                <a16:creationId xmlns:a16="http://schemas.microsoft.com/office/drawing/2014/main" id="{302FDCDE-C8A6-C435-873C-B37B156F920C}"/>
              </a:ext>
            </a:extLst>
          </p:cNvPr>
          <p:cNvSpPr txBox="1"/>
          <p:nvPr/>
        </p:nvSpPr>
        <p:spPr>
          <a:xfrm>
            <a:off x="766916" y="889774"/>
            <a:ext cx="10215716" cy="5909310"/>
          </a:xfrm>
          <a:prstGeom prst="rect">
            <a:avLst/>
          </a:prstGeom>
          <a:noFill/>
        </p:spPr>
        <p:txBody>
          <a:bodyPr wrap="square" rtlCol="0">
            <a:spAutoFit/>
          </a:bodyPr>
          <a:lstStyle/>
          <a:p>
            <a:r>
              <a:rPr lang="en-IN" dirty="0"/>
              <a:t>BASE_DIR = </a:t>
            </a:r>
            <a:r>
              <a:rPr lang="en-IN" dirty="0" err="1"/>
              <a:t>os.path.dirname</a:t>
            </a:r>
            <a:r>
              <a:rPr lang="en-IN" dirty="0"/>
              <a:t>(</a:t>
            </a:r>
            <a:r>
              <a:rPr lang="en-IN" dirty="0" err="1"/>
              <a:t>os.path.abspath</a:t>
            </a:r>
            <a:r>
              <a:rPr lang="en-IN" dirty="0"/>
              <a:t>(__file__))</a:t>
            </a:r>
          </a:p>
          <a:p>
            <a:r>
              <a:rPr lang="en-IN" dirty="0"/>
              <a:t>USERS_FILE = </a:t>
            </a:r>
            <a:r>
              <a:rPr lang="en-IN" dirty="0" err="1"/>
              <a:t>os.path.join</a:t>
            </a:r>
            <a:r>
              <a:rPr lang="en-IN" dirty="0"/>
              <a:t>(BASE_DIR, "users.csv")</a:t>
            </a:r>
          </a:p>
          <a:p>
            <a:r>
              <a:rPr lang="en-IN" dirty="0"/>
              <a:t>def </a:t>
            </a:r>
            <a:r>
              <a:rPr lang="en-IN" dirty="0" err="1"/>
              <a:t>hash_password</a:t>
            </a:r>
            <a:r>
              <a:rPr lang="en-IN" dirty="0"/>
              <a:t>(password):</a:t>
            </a:r>
          </a:p>
          <a:p>
            <a:r>
              <a:rPr lang="en-IN" dirty="0"/>
              <a:t>    """Encrypt password using SHA256 (secure &amp; simple)."""</a:t>
            </a:r>
          </a:p>
          <a:p>
            <a:r>
              <a:rPr lang="en-IN" dirty="0"/>
              <a:t>    return hashlib.sha256(</a:t>
            </a:r>
            <a:r>
              <a:rPr lang="en-IN" dirty="0" err="1"/>
              <a:t>password.encode</a:t>
            </a:r>
            <a:r>
              <a:rPr lang="en-IN" dirty="0"/>
              <a:t>()).</a:t>
            </a:r>
            <a:r>
              <a:rPr lang="en-IN" dirty="0" err="1"/>
              <a:t>hexdigest</a:t>
            </a:r>
            <a:r>
              <a:rPr lang="en-IN" dirty="0"/>
              <a:t>()</a:t>
            </a:r>
          </a:p>
          <a:p>
            <a:r>
              <a:rPr lang="en-IN" dirty="0"/>
              <a:t>def </a:t>
            </a:r>
            <a:r>
              <a:rPr lang="en-IN" dirty="0" err="1"/>
              <a:t>verify_password</a:t>
            </a:r>
            <a:r>
              <a:rPr lang="en-IN" dirty="0"/>
              <a:t>(</a:t>
            </a:r>
            <a:r>
              <a:rPr lang="en-IN" dirty="0" err="1"/>
              <a:t>input_password</a:t>
            </a:r>
            <a:r>
              <a:rPr lang="en-IN" dirty="0"/>
              <a:t>, </a:t>
            </a:r>
            <a:r>
              <a:rPr lang="en-IN" dirty="0" err="1"/>
              <a:t>stored_password_hash</a:t>
            </a:r>
            <a:r>
              <a:rPr lang="en-IN" dirty="0"/>
              <a:t>):</a:t>
            </a:r>
          </a:p>
          <a:p>
            <a:r>
              <a:rPr lang="en-IN" dirty="0"/>
              <a:t>    """Check if user-entered password matches stored hash."""</a:t>
            </a:r>
          </a:p>
          <a:p>
            <a:r>
              <a:rPr lang="en-IN" dirty="0"/>
              <a:t>    return </a:t>
            </a:r>
            <a:r>
              <a:rPr lang="en-IN" dirty="0" err="1"/>
              <a:t>hash_password</a:t>
            </a:r>
            <a:r>
              <a:rPr lang="en-IN" dirty="0"/>
              <a:t>(</a:t>
            </a:r>
            <a:r>
              <a:rPr lang="en-IN" dirty="0" err="1"/>
              <a:t>input_password</a:t>
            </a:r>
            <a:r>
              <a:rPr lang="en-IN" dirty="0"/>
              <a:t>) == </a:t>
            </a:r>
            <a:r>
              <a:rPr lang="en-IN" dirty="0" err="1"/>
              <a:t>stored_password_hash</a:t>
            </a:r>
            <a:endParaRPr lang="en-IN" dirty="0"/>
          </a:p>
          <a:p>
            <a:r>
              <a:rPr lang="en-IN" dirty="0"/>
              <a:t># Create users.csv if not exists</a:t>
            </a:r>
          </a:p>
          <a:p>
            <a:r>
              <a:rPr lang="en-IN" dirty="0"/>
              <a:t>if not </a:t>
            </a:r>
            <a:r>
              <a:rPr lang="en-IN" dirty="0" err="1"/>
              <a:t>os.path.exists</a:t>
            </a:r>
            <a:r>
              <a:rPr lang="en-IN" dirty="0"/>
              <a:t>(USERS_FILE):</a:t>
            </a:r>
          </a:p>
          <a:p>
            <a:r>
              <a:rPr lang="en-IN" dirty="0"/>
              <a:t>    </a:t>
            </a:r>
            <a:r>
              <a:rPr lang="en-IN" dirty="0" err="1"/>
              <a:t>df</a:t>
            </a:r>
            <a:r>
              <a:rPr lang="en-IN" dirty="0"/>
              <a:t> = </a:t>
            </a:r>
            <a:r>
              <a:rPr lang="en-IN" dirty="0" err="1"/>
              <a:t>pd.DataFrame</a:t>
            </a:r>
            <a:r>
              <a:rPr lang="en-IN" dirty="0"/>
              <a:t>(columns=["username", "password"])</a:t>
            </a:r>
          </a:p>
          <a:p>
            <a:r>
              <a:rPr lang="en-IN" dirty="0"/>
              <a:t>    </a:t>
            </a:r>
            <a:r>
              <a:rPr lang="en-IN" dirty="0" err="1"/>
              <a:t>df.to_csv</a:t>
            </a:r>
            <a:r>
              <a:rPr lang="en-IN" dirty="0"/>
              <a:t>(USERS_FILE, index=False)</a:t>
            </a:r>
          </a:p>
          <a:p>
            <a:r>
              <a:rPr lang="en-IN" dirty="0"/>
              <a:t>    st.info(f"🆕 Creating user database at: {USERS_FILE}")</a:t>
            </a:r>
          </a:p>
          <a:p>
            <a:r>
              <a:rPr lang="en-IN" dirty="0"/>
              <a:t>def </a:t>
            </a:r>
            <a:r>
              <a:rPr lang="en-IN" dirty="0" err="1"/>
              <a:t>user_exists</a:t>
            </a:r>
            <a:r>
              <a:rPr lang="en-IN" dirty="0"/>
              <a:t>(username):</a:t>
            </a:r>
          </a:p>
          <a:p>
            <a:r>
              <a:rPr lang="en-IN" dirty="0"/>
              <a:t>    users = </a:t>
            </a:r>
            <a:r>
              <a:rPr lang="en-IN" dirty="0" err="1"/>
              <a:t>pd.read_csv</a:t>
            </a:r>
            <a:r>
              <a:rPr lang="en-IN" dirty="0"/>
              <a:t>(USERS_FILE)</a:t>
            </a:r>
          </a:p>
          <a:p>
            <a:r>
              <a:rPr lang="en-IN" dirty="0"/>
              <a:t>    return username in users["username"].values</a:t>
            </a:r>
          </a:p>
          <a:p>
            <a:r>
              <a:rPr lang="en-IN" dirty="0"/>
              <a:t>def </a:t>
            </a:r>
            <a:r>
              <a:rPr lang="en-IN" dirty="0" err="1"/>
              <a:t>add_user</a:t>
            </a:r>
            <a:r>
              <a:rPr lang="en-IN" dirty="0"/>
              <a:t>(username, password):</a:t>
            </a:r>
          </a:p>
          <a:p>
            <a:r>
              <a:rPr lang="en-IN" dirty="0"/>
              <a:t>    users = </a:t>
            </a:r>
            <a:r>
              <a:rPr lang="en-IN" dirty="0" err="1"/>
              <a:t>pd.read_csv</a:t>
            </a:r>
            <a:r>
              <a:rPr lang="en-IN" dirty="0"/>
              <a:t>(USERS_FILE)</a:t>
            </a:r>
          </a:p>
          <a:p>
            <a:r>
              <a:rPr lang="en-IN" dirty="0"/>
              <a:t>    </a:t>
            </a:r>
            <a:r>
              <a:rPr lang="en-IN" dirty="0" err="1"/>
              <a:t>new_user</a:t>
            </a:r>
            <a:r>
              <a:rPr lang="en-IN" dirty="0"/>
              <a:t> = </a:t>
            </a:r>
            <a:r>
              <a:rPr lang="en-IN" dirty="0" err="1"/>
              <a:t>pd.DataFrame</a:t>
            </a:r>
            <a:r>
              <a:rPr lang="en-IN" dirty="0"/>
              <a:t>([[username, </a:t>
            </a:r>
            <a:r>
              <a:rPr lang="en-IN" dirty="0" err="1"/>
              <a:t>hash_password</a:t>
            </a:r>
            <a:r>
              <a:rPr lang="en-IN" dirty="0"/>
              <a:t>(password)]], columns=["username", "password"])</a:t>
            </a:r>
          </a:p>
          <a:p>
            <a:r>
              <a:rPr lang="en-IN" dirty="0"/>
              <a:t>    users = </a:t>
            </a:r>
            <a:r>
              <a:rPr lang="en-IN" dirty="0" err="1"/>
              <a:t>pd.concat</a:t>
            </a:r>
            <a:r>
              <a:rPr lang="en-IN" dirty="0"/>
              <a:t>([users, </a:t>
            </a:r>
            <a:r>
              <a:rPr lang="en-IN" dirty="0" err="1"/>
              <a:t>new_user</a:t>
            </a:r>
            <a:r>
              <a:rPr lang="en-IN" dirty="0"/>
              <a:t>], </a:t>
            </a:r>
            <a:r>
              <a:rPr lang="en-IN" dirty="0" err="1"/>
              <a:t>ignore_index</a:t>
            </a:r>
            <a:r>
              <a:rPr lang="en-IN" dirty="0"/>
              <a:t>=True)</a:t>
            </a:r>
          </a:p>
          <a:p>
            <a:r>
              <a:rPr lang="en-IN" dirty="0"/>
              <a:t>   </a:t>
            </a:r>
          </a:p>
        </p:txBody>
      </p:sp>
      <p:sp>
        <p:nvSpPr>
          <p:cNvPr id="6" name="Rectangle 5">
            <a:extLst>
              <a:ext uri="{FF2B5EF4-FFF2-40B4-BE49-F238E27FC236}">
                <a16:creationId xmlns:a16="http://schemas.microsoft.com/office/drawing/2014/main" id="{E5C2C079-D625-1E2B-F53F-3565C101B761}"/>
              </a:ext>
            </a:extLst>
          </p:cNvPr>
          <p:cNvSpPr/>
          <p:nvPr/>
        </p:nvSpPr>
        <p:spPr>
          <a:xfrm rot="16200000">
            <a:off x="6091182" y="-5836658"/>
            <a:ext cx="264160" cy="119374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7" name="Rectangle 6">
            <a:extLst>
              <a:ext uri="{FF2B5EF4-FFF2-40B4-BE49-F238E27FC236}">
                <a16:creationId xmlns:a16="http://schemas.microsoft.com/office/drawing/2014/main" id="{D4E8B936-A0D4-7A28-CE07-5E473AE461A6}"/>
              </a:ext>
            </a:extLst>
          </p:cNvPr>
          <p:cNvSpPr/>
          <p:nvPr/>
        </p:nvSpPr>
        <p:spPr>
          <a:xfrm rot="16200000">
            <a:off x="5846818" y="747685"/>
            <a:ext cx="264160" cy="119374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8" name="Rectangle 7">
            <a:extLst>
              <a:ext uri="{FF2B5EF4-FFF2-40B4-BE49-F238E27FC236}">
                <a16:creationId xmlns:a16="http://schemas.microsoft.com/office/drawing/2014/main" id="{A42C5F89-DA6F-4308-908C-C8FCD2C71211}"/>
              </a:ext>
            </a:extLst>
          </p:cNvPr>
          <p:cNvSpPr/>
          <p:nvPr/>
        </p:nvSpPr>
        <p:spPr>
          <a:xfrm>
            <a:off x="0" y="0"/>
            <a:ext cx="25452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9" name="Rectangle 8">
            <a:extLst>
              <a:ext uri="{FF2B5EF4-FFF2-40B4-BE49-F238E27FC236}">
                <a16:creationId xmlns:a16="http://schemas.microsoft.com/office/drawing/2014/main" id="{17A2D0D4-7746-FFA7-74AA-D1477AE0416A}"/>
              </a:ext>
            </a:extLst>
          </p:cNvPr>
          <p:cNvSpPr/>
          <p:nvPr/>
        </p:nvSpPr>
        <p:spPr>
          <a:xfrm>
            <a:off x="11947636" y="-9497"/>
            <a:ext cx="25452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40116475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A1240C-BEB0-11BD-4C83-4A8543DBB466}"/>
            </a:ext>
          </a:extLst>
        </p:cNvPr>
        <p:cNvGrpSpPr/>
        <p:nvPr/>
      </p:nvGrpSpPr>
      <p:grpSpPr>
        <a:xfrm>
          <a:off x="0" y="0"/>
          <a:ext cx="0" cy="0"/>
          <a:chOff x="0" y="0"/>
          <a:chExt cx="0" cy="0"/>
        </a:xfrm>
      </p:grpSpPr>
      <p:pic>
        <p:nvPicPr>
          <p:cNvPr id="2" name="Content Placeholder 3" descr="A logo with a flower&#10;&#10;Description automatically generated">
            <a:extLst>
              <a:ext uri="{FF2B5EF4-FFF2-40B4-BE49-F238E27FC236}">
                <a16:creationId xmlns:a16="http://schemas.microsoft.com/office/drawing/2014/main" id="{A24DE5C4-4FCD-5A65-BAB6-59F873665A24}"/>
              </a:ext>
            </a:extLst>
          </p:cNvPr>
          <p:cNvPicPr>
            <a:picLocks noChangeAspect="1"/>
          </p:cNvPicPr>
          <p:nvPr/>
        </p:nvPicPr>
        <p:blipFill>
          <a:blip r:embed="rId2"/>
          <a:stretch>
            <a:fillRect/>
          </a:stretch>
        </p:blipFill>
        <p:spPr>
          <a:xfrm>
            <a:off x="10460411" y="264161"/>
            <a:ext cx="1477065" cy="1251226"/>
          </a:xfrm>
          <a:prstGeom prst="rect">
            <a:avLst/>
          </a:prstGeom>
        </p:spPr>
      </p:pic>
      <p:sp>
        <p:nvSpPr>
          <p:cNvPr id="3" name="TextBox 2">
            <a:extLst>
              <a:ext uri="{FF2B5EF4-FFF2-40B4-BE49-F238E27FC236}">
                <a16:creationId xmlns:a16="http://schemas.microsoft.com/office/drawing/2014/main" id="{65402439-75EF-4378-58E7-EB3D6110EA72}"/>
              </a:ext>
            </a:extLst>
          </p:cNvPr>
          <p:cNvSpPr txBox="1"/>
          <p:nvPr/>
        </p:nvSpPr>
        <p:spPr>
          <a:xfrm>
            <a:off x="580459" y="317218"/>
            <a:ext cx="8172955" cy="661207"/>
          </a:xfrm>
          <a:prstGeom prst="rect">
            <a:avLst/>
          </a:prstGeom>
          <a:noFill/>
        </p:spPr>
        <p:txBody>
          <a:bodyPr wrap="square" rtlCol="0">
            <a:spAutoFit/>
          </a:bodyPr>
          <a:lstStyle/>
          <a:p>
            <a:pPr>
              <a:lnSpc>
                <a:spcPct val="150000"/>
              </a:lnSpc>
            </a:pPr>
            <a:r>
              <a:rPr lang="en-US" sz="2800" b="1" dirty="0">
                <a:latin typeface="Times New Roman" panose="02020603050405020304" pitchFamily="18" charset="0"/>
                <a:cs typeface="Times New Roman" panose="02020603050405020304" pitchFamily="18" charset="0"/>
              </a:rPr>
              <a:t>Source Code</a:t>
            </a:r>
          </a:p>
        </p:txBody>
      </p:sp>
      <p:sp>
        <p:nvSpPr>
          <p:cNvPr id="5" name="TextBox 4">
            <a:extLst>
              <a:ext uri="{FF2B5EF4-FFF2-40B4-BE49-F238E27FC236}">
                <a16:creationId xmlns:a16="http://schemas.microsoft.com/office/drawing/2014/main" id="{DF867A1E-5214-67B0-CFF2-CFD79149F064}"/>
              </a:ext>
            </a:extLst>
          </p:cNvPr>
          <p:cNvSpPr txBox="1"/>
          <p:nvPr/>
        </p:nvSpPr>
        <p:spPr>
          <a:xfrm>
            <a:off x="766916" y="889774"/>
            <a:ext cx="10215716" cy="5632311"/>
          </a:xfrm>
          <a:prstGeom prst="rect">
            <a:avLst/>
          </a:prstGeom>
          <a:noFill/>
        </p:spPr>
        <p:txBody>
          <a:bodyPr wrap="square" rtlCol="0">
            <a:spAutoFit/>
          </a:bodyPr>
          <a:lstStyle/>
          <a:p>
            <a:r>
              <a:rPr lang="en-IN" dirty="0"/>
              <a:t>f "</a:t>
            </a:r>
            <a:r>
              <a:rPr lang="en-IN" dirty="0" err="1"/>
              <a:t>logged_in</a:t>
            </a:r>
            <a:r>
              <a:rPr lang="en-IN" dirty="0"/>
              <a:t>" not in </a:t>
            </a:r>
            <a:r>
              <a:rPr lang="en-IN" dirty="0" err="1"/>
              <a:t>st.session_state</a:t>
            </a:r>
            <a:r>
              <a:rPr lang="en-IN" dirty="0"/>
              <a:t>:</a:t>
            </a:r>
          </a:p>
          <a:p>
            <a:r>
              <a:rPr lang="en-IN" dirty="0"/>
              <a:t>    </a:t>
            </a:r>
            <a:r>
              <a:rPr lang="en-IN" dirty="0" err="1"/>
              <a:t>st.session_state.logged_in</a:t>
            </a:r>
            <a:r>
              <a:rPr lang="en-IN" dirty="0"/>
              <a:t> = False</a:t>
            </a:r>
          </a:p>
          <a:p>
            <a:r>
              <a:rPr lang="en-IN" dirty="0"/>
              <a:t>menu = ["Login", "Sign Up"]</a:t>
            </a:r>
          </a:p>
          <a:p>
            <a:r>
              <a:rPr lang="en-IN" dirty="0"/>
              <a:t>choice = </a:t>
            </a:r>
            <a:r>
              <a:rPr lang="en-IN" dirty="0" err="1"/>
              <a:t>st.sidebar.selectbox</a:t>
            </a:r>
            <a:r>
              <a:rPr lang="en-IN" dirty="0"/>
              <a:t>("Navigation", menu)</a:t>
            </a:r>
          </a:p>
          <a:p>
            <a:r>
              <a:rPr lang="en-IN" dirty="0"/>
              <a:t>if not </a:t>
            </a:r>
            <a:r>
              <a:rPr lang="en-IN" dirty="0" err="1"/>
              <a:t>st.session_state.logged_in</a:t>
            </a:r>
            <a:r>
              <a:rPr lang="en-IN" dirty="0"/>
              <a:t>:</a:t>
            </a:r>
          </a:p>
          <a:p>
            <a:r>
              <a:rPr lang="en-IN" dirty="0"/>
              <a:t>    if choice == "Login":</a:t>
            </a:r>
          </a:p>
          <a:p>
            <a:r>
              <a:rPr lang="en-IN" dirty="0"/>
              <a:t>        </a:t>
            </a:r>
            <a:r>
              <a:rPr lang="en-IN" dirty="0" err="1"/>
              <a:t>st.title</a:t>
            </a:r>
            <a:r>
              <a:rPr lang="en-IN" dirty="0"/>
              <a:t>("🔐 Login to Legal &amp; Financial Document Summarizer")</a:t>
            </a:r>
          </a:p>
          <a:p>
            <a:r>
              <a:rPr lang="en-IN" dirty="0"/>
              <a:t>        username = </a:t>
            </a:r>
            <a:r>
              <a:rPr lang="en-IN" dirty="0" err="1"/>
              <a:t>st.text_input</a:t>
            </a:r>
            <a:r>
              <a:rPr lang="en-IN" dirty="0"/>
              <a:t>("👤 Username")</a:t>
            </a:r>
          </a:p>
          <a:p>
            <a:r>
              <a:rPr lang="en-IN" dirty="0"/>
              <a:t>        password = </a:t>
            </a:r>
            <a:r>
              <a:rPr lang="en-IN" dirty="0" err="1"/>
              <a:t>st.text_input</a:t>
            </a:r>
            <a:r>
              <a:rPr lang="en-IN" dirty="0"/>
              <a:t>("🔑 Password", type="password")</a:t>
            </a:r>
          </a:p>
          <a:p>
            <a:r>
              <a:rPr lang="en-IN" dirty="0"/>
              <a:t>        if </a:t>
            </a:r>
            <a:r>
              <a:rPr lang="en-IN" dirty="0" err="1"/>
              <a:t>st.button</a:t>
            </a:r>
            <a:r>
              <a:rPr lang="en-IN" dirty="0"/>
              <a:t>("Login"):</a:t>
            </a:r>
          </a:p>
          <a:p>
            <a:r>
              <a:rPr lang="en-IN" dirty="0"/>
              <a:t>            if </a:t>
            </a:r>
            <a:r>
              <a:rPr lang="en-IN" dirty="0" err="1"/>
              <a:t>verify_user</a:t>
            </a:r>
            <a:r>
              <a:rPr lang="en-IN" dirty="0"/>
              <a:t>(username, password):</a:t>
            </a:r>
          </a:p>
          <a:p>
            <a:r>
              <a:rPr lang="en-IN" dirty="0"/>
              <a:t>                </a:t>
            </a:r>
            <a:r>
              <a:rPr lang="en-IN" dirty="0" err="1"/>
              <a:t>st.session_state.logged_in</a:t>
            </a:r>
            <a:r>
              <a:rPr lang="en-IN" dirty="0"/>
              <a:t> = True</a:t>
            </a:r>
          </a:p>
          <a:p>
            <a:r>
              <a:rPr lang="en-IN" dirty="0"/>
              <a:t>                </a:t>
            </a:r>
            <a:r>
              <a:rPr lang="en-IN" dirty="0" err="1"/>
              <a:t>st.download_button</a:t>
            </a:r>
            <a:r>
              <a:rPr lang="en-IN" dirty="0"/>
              <a:t>(</a:t>
            </a:r>
          </a:p>
          <a:p>
            <a:r>
              <a:rPr lang="en-IN" dirty="0"/>
              <a:t>        "⬇️ Download Report (PDF)",</a:t>
            </a:r>
          </a:p>
          <a:p>
            <a:r>
              <a:rPr lang="en-IN" dirty="0"/>
              <a:t>        data=</a:t>
            </a:r>
            <a:r>
              <a:rPr lang="en-IN" dirty="0" err="1"/>
              <a:t>pdf_bytes</a:t>
            </a:r>
            <a:r>
              <a:rPr lang="en-IN" dirty="0"/>
              <a:t>,</a:t>
            </a:r>
          </a:p>
          <a:p>
            <a:r>
              <a:rPr lang="en-IN" dirty="0"/>
              <a:t>        </a:t>
            </a:r>
            <a:r>
              <a:rPr lang="en-IN" dirty="0" err="1"/>
              <a:t>file_name</a:t>
            </a:r>
            <a:r>
              <a:rPr lang="en-IN" dirty="0"/>
              <a:t>="Legal_Summary_Report.pdf",</a:t>
            </a:r>
          </a:p>
          <a:p>
            <a:r>
              <a:rPr lang="en-IN" dirty="0"/>
              <a:t>        mime="application/pdf"</a:t>
            </a:r>
          </a:p>
          <a:p>
            <a:r>
              <a:rPr lang="en-IN" dirty="0"/>
              <a:t>    )</a:t>
            </a:r>
          </a:p>
          <a:p>
            <a:r>
              <a:rPr lang="en-IN" dirty="0"/>
              <a:t>else:</a:t>
            </a:r>
          </a:p>
          <a:p>
            <a:r>
              <a:rPr lang="en-IN" dirty="0"/>
              <a:t>    </a:t>
            </a:r>
            <a:r>
              <a:rPr lang="en-IN" dirty="0" err="1"/>
              <a:t>st.warning</a:t>
            </a:r>
            <a:r>
              <a:rPr lang="en-IN" dirty="0"/>
              <a:t>("⚠️ Please upload and summarize a document first before downloading the report.")           </a:t>
            </a:r>
          </a:p>
        </p:txBody>
      </p:sp>
      <p:sp>
        <p:nvSpPr>
          <p:cNvPr id="6" name="Rectangle 5">
            <a:extLst>
              <a:ext uri="{FF2B5EF4-FFF2-40B4-BE49-F238E27FC236}">
                <a16:creationId xmlns:a16="http://schemas.microsoft.com/office/drawing/2014/main" id="{2C4193C5-CA59-689D-A39D-110F13B6DBA2}"/>
              </a:ext>
            </a:extLst>
          </p:cNvPr>
          <p:cNvSpPr/>
          <p:nvPr/>
        </p:nvSpPr>
        <p:spPr>
          <a:xfrm rot="16200000">
            <a:off x="6091182" y="-5836658"/>
            <a:ext cx="264160" cy="119374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7" name="Rectangle 6">
            <a:extLst>
              <a:ext uri="{FF2B5EF4-FFF2-40B4-BE49-F238E27FC236}">
                <a16:creationId xmlns:a16="http://schemas.microsoft.com/office/drawing/2014/main" id="{7EB57F8B-F0FA-311C-6856-8C8561ED6900}"/>
              </a:ext>
            </a:extLst>
          </p:cNvPr>
          <p:cNvSpPr/>
          <p:nvPr/>
        </p:nvSpPr>
        <p:spPr>
          <a:xfrm rot="16200000">
            <a:off x="5846818" y="747685"/>
            <a:ext cx="264160" cy="119374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8" name="Rectangle 7">
            <a:extLst>
              <a:ext uri="{FF2B5EF4-FFF2-40B4-BE49-F238E27FC236}">
                <a16:creationId xmlns:a16="http://schemas.microsoft.com/office/drawing/2014/main" id="{19E0EF79-844F-E90B-E49E-8E7FF7208D70}"/>
              </a:ext>
            </a:extLst>
          </p:cNvPr>
          <p:cNvSpPr/>
          <p:nvPr/>
        </p:nvSpPr>
        <p:spPr>
          <a:xfrm>
            <a:off x="0" y="0"/>
            <a:ext cx="25452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9" name="Rectangle 8">
            <a:extLst>
              <a:ext uri="{FF2B5EF4-FFF2-40B4-BE49-F238E27FC236}">
                <a16:creationId xmlns:a16="http://schemas.microsoft.com/office/drawing/2014/main" id="{B945CE55-0EF6-54B6-7A5D-1459B0A2AFDE}"/>
              </a:ext>
            </a:extLst>
          </p:cNvPr>
          <p:cNvSpPr/>
          <p:nvPr/>
        </p:nvSpPr>
        <p:spPr>
          <a:xfrm>
            <a:off x="11947636" y="-9497"/>
            <a:ext cx="25452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6811586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B266A0-C3DD-337B-0C68-783B83CF3984}"/>
            </a:ext>
          </a:extLst>
        </p:cNvPr>
        <p:cNvGrpSpPr/>
        <p:nvPr/>
      </p:nvGrpSpPr>
      <p:grpSpPr>
        <a:xfrm>
          <a:off x="0" y="0"/>
          <a:ext cx="0" cy="0"/>
          <a:chOff x="0" y="0"/>
          <a:chExt cx="0" cy="0"/>
        </a:xfrm>
      </p:grpSpPr>
      <p:pic>
        <p:nvPicPr>
          <p:cNvPr id="2" name="Content Placeholder 3" descr="A logo with a flower&#10;&#10;Description automatically generated">
            <a:extLst>
              <a:ext uri="{FF2B5EF4-FFF2-40B4-BE49-F238E27FC236}">
                <a16:creationId xmlns:a16="http://schemas.microsoft.com/office/drawing/2014/main" id="{F13F1158-9FDE-6A85-3E98-1F83E3E7A951}"/>
              </a:ext>
            </a:extLst>
          </p:cNvPr>
          <p:cNvPicPr>
            <a:picLocks noChangeAspect="1"/>
          </p:cNvPicPr>
          <p:nvPr/>
        </p:nvPicPr>
        <p:blipFill>
          <a:blip r:embed="rId2"/>
          <a:stretch>
            <a:fillRect/>
          </a:stretch>
        </p:blipFill>
        <p:spPr>
          <a:xfrm>
            <a:off x="10490601" y="264161"/>
            <a:ext cx="1477065" cy="1251226"/>
          </a:xfrm>
          <a:prstGeom prst="rect">
            <a:avLst/>
          </a:prstGeom>
        </p:spPr>
      </p:pic>
      <p:sp>
        <p:nvSpPr>
          <p:cNvPr id="3" name="TextBox 2">
            <a:extLst>
              <a:ext uri="{FF2B5EF4-FFF2-40B4-BE49-F238E27FC236}">
                <a16:creationId xmlns:a16="http://schemas.microsoft.com/office/drawing/2014/main" id="{509A646E-FB53-7E45-F386-1525C8F84C0F}"/>
              </a:ext>
            </a:extLst>
          </p:cNvPr>
          <p:cNvSpPr txBox="1"/>
          <p:nvPr/>
        </p:nvSpPr>
        <p:spPr>
          <a:xfrm>
            <a:off x="406364" y="259987"/>
            <a:ext cx="8172955" cy="1144993"/>
          </a:xfrm>
          <a:prstGeom prst="rect">
            <a:avLst/>
          </a:prstGeom>
          <a:noFill/>
        </p:spPr>
        <p:txBody>
          <a:bodyPr wrap="square" rtlCol="0">
            <a:spAutoFit/>
          </a:bodyPr>
          <a:lstStyle/>
          <a:p>
            <a:pPr>
              <a:lnSpc>
                <a:spcPct val="150000"/>
              </a:lnSpc>
            </a:pPr>
            <a:r>
              <a:rPr lang="en-US" sz="2800" b="1" dirty="0">
                <a:latin typeface="Times New Roman" panose="02020603050405020304" pitchFamily="18" charset="0"/>
                <a:cs typeface="Times New Roman" panose="02020603050405020304" pitchFamily="18" charset="0"/>
              </a:rPr>
              <a:t>RESULTS​</a:t>
            </a:r>
          </a:p>
          <a:p>
            <a:pPr>
              <a:lnSpc>
                <a:spcPct val="150000"/>
              </a:lnSpc>
            </a:pPr>
            <a:endParaRPr lang="en-US" sz="20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398CFEC9-518F-F21F-B823-799B43F49C41}"/>
              </a:ext>
            </a:extLst>
          </p:cNvPr>
          <p:cNvSpPr txBox="1"/>
          <p:nvPr/>
        </p:nvSpPr>
        <p:spPr>
          <a:xfrm>
            <a:off x="777559" y="1018637"/>
            <a:ext cx="7953600" cy="646331"/>
          </a:xfrm>
          <a:prstGeom prst="rect">
            <a:avLst/>
          </a:prstGeom>
          <a:noFill/>
        </p:spPr>
        <p:txBody>
          <a:bodyPr wrap="square" rtlCol="0">
            <a:spAutoFit/>
          </a:bodyPr>
          <a:lstStyle/>
          <a:p>
            <a:r>
              <a:rPr lang="en-US" dirty="0"/>
              <a:t>This interface allows users to securely log in using their username and password. It ensures authorized access to the document summarization system..</a:t>
            </a:r>
            <a:endParaRPr lang="en-IN" dirty="0"/>
          </a:p>
        </p:txBody>
      </p:sp>
      <p:sp>
        <p:nvSpPr>
          <p:cNvPr id="6" name="Rectangle 5">
            <a:extLst>
              <a:ext uri="{FF2B5EF4-FFF2-40B4-BE49-F238E27FC236}">
                <a16:creationId xmlns:a16="http://schemas.microsoft.com/office/drawing/2014/main" id="{4558F332-02B9-C0EF-A872-201E2FFF0D4F}"/>
              </a:ext>
            </a:extLst>
          </p:cNvPr>
          <p:cNvSpPr/>
          <p:nvPr/>
        </p:nvSpPr>
        <p:spPr>
          <a:xfrm rot="16200000">
            <a:off x="6091182" y="-5836658"/>
            <a:ext cx="264160" cy="119374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7" name="Rectangle 6">
            <a:extLst>
              <a:ext uri="{FF2B5EF4-FFF2-40B4-BE49-F238E27FC236}">
                <a16:creationId xmlns:a16="http://schemas.microsoft.com/office/drawing/2014/main" id="{EBB55B36-0441-4FC9-1991-276E3F6DB8BD}"/>
              </a:ext>
            </a:extLst>
          </p:cNvPr>
          <p:cNvSpPr/>
          <p:nvPr/>
        </p:nvSpPr>
        <p:spPr>
          <a:xfrm rot="16200000">
            <a:off x="6091182" y="752549"/>
            <a:ext cx="264160" cy="119374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10" name="Rectangle 9">
            <a:extLst>
              <a:ext uri="{FF2B5EF4-FFF2-40B4-BE49-F238E27FC236}">
                <a16:creationId xmlns:a16="http://schemas.microsoft.com/office/drawing/2014/main" id="{144DD00F-BA5A-CD5B-C6AF-4ABEDE455A6F}"/>
              </a:ext>
            </a:extLst>
          </p:cNvPr>
          <p:cNvSpPr/>
          <p:nvPr/>
        </p:nvSpPr>
        <p:spPr>
          <a:xfrm>
            <a:off x="0" y="0"/>
            <a:ext cx="25452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1" name="Rectangle 10">
            <a:extLst>
              <a:ext uri="{FF2B5EF4-FFF2-40B4-BE49-F238E27FC236}">
                <a16:creationId xmlns:a16="http://schemas.microsoft.com/office/drawing/2014/main" id="{DCA2B96E-7ACE-2AD8-65C0-CFDDCF412948}"/>
              </a:ext>
            </a:extLst>
          </p:cNvPr>
          <p:cNvSpPr/>
          <p:nvPr/>
        </p:nvSpPr>
        <p:spPr>
          <a:xfrm>
            <a:off x="11937999" y="-9970"/>
            <a:ext cx="25452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pic>
        <p:nvPicPr>
          <p:cNvPr id="27" name="Picture 26">
            <a:extLst>
              <a:ext uri="{FF2B5EF4-FFF2-40B4-BE49-F238E27FC236}">
                <a16:creationId xmlns:a16="http://schemas.microsoft.com/office/drawing/2014/main" id="{D1EACE72-51F7-AB30-2F6F-8C11BA38E7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87561" y="1914714"/>
            <a:ext cx="6520826" cy="4164757"/>
          </a:xfrm>
          <a:prstGeom prst="rect">
            <a:avLst/>
          </a:prstGeom>
        </p:spPr>
      </p:pic>
    </p:spTree>
    <p:extLst>
      <p:ext uri="{BB962C8B-B14F-4D97-AF65-F5344CB8AC3E}">
        <p14:creationId xmlns:p14="http://schemas.microsoft.com/office/powerpoint/2010/main" val="41363197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B4FE34-E383-E7FF-6B3B-6DAF2EF2E149}"/>
            </a:ext>
          </a:extLst>
        </p:cNvPr>
        <p:cNvGrpSpPr/>
        <p:nvPr/>
      </p:nvGrpSpPr>
      <p:grpSpPr>
        <a:xfrm>
          <a:off x="0" y="0"/>
          <a:ext cx="0" cy="0"/>
          <a:chOff x="0" y="0"/>
          <a:chExt cx="0" cy="0"/>
        </a:xfrm>
      </p:grpSpPr>
      <p:pic>
        <p:nvPicPr>
          <p:cNvPr id="2" name="Content Placeholder 3" descr="A logo with a flower&#10;&#10;Description automatically generated">
            <a:extLst>
              <a:ext uri="{FF2B5EF4-FFF2-40B4-BE49-F238E27FC236}">
                <a16:creationId xmlns:a16="http://schemas.microsoft.com/office/drawing/2014/main" id="{6851BB9F-B412-A307-5A9D-D2D98598977F}"/>
              </a:ext>
            </a:extLst>
          </p:cNvPr>
          <p:cNvPicPr>
            <a:picLocks noChangeAspect="1"/>
          </p:cNvPicPr>
          <p:nvPr/>
        </p:nvPicPr>
        <p:blipFill>
          <a:blip r:embed="rId2"/>
          <a:stretch>
            <a:fillRect/>
          </a:stretch>
        </p:blipFill>
        <p:spPr>
          <a:xfrm>
            <a:off x="10490601" y="264161"/>
            <a:ext cx="1477065" cy="1251226"/>
          </a:xfrm>
          <a:prstGeom prst="rect">
            <a:avLst/>
          </a:prstGeom>
        </p:spPr>
      </p:pic>
      <p:sp>
        <p:nvSpPr>
          <p:cNvPr id="3" name="TextBox 2">
            <a:extLst>
              <a:ext uri="{FF2B5EF4-FFF2-40B4-BE49-F238E27FC236}">
                <a16:creationId xmlns:a16="http://schemas.microsoft.com/office/drawing/2014/main" id="{3B9464D1-F9BE-B24C-7EB9-75C55E1A7AED}"/>
              </a:ext>
            </a:extLst>
          </p:cNvPr>
          <p:cNvSpPr txBox="1"/>
          <p:nvPr/>
        </p:nvSpPr>
        <p:spPr>
          <a:xfrm>
            <a:off x="406364" y="259987"/>
            <a:ext cx="8172955" cy="1144993"/>
          </a:xfrm>
          <a:prstGeom prst="rect">
            <a:avLst/>
          </a:prstGeom>
          <a:noFill/>
        </p:spPr>
        <p:txBody>
          <a:bodyPr wrap="square" rtlCol="0">
            <a:spAutoFit/>
          </a:bodyPr>
          <a:lstStyle/>
          <a:p>
            <a:pPr>
              <a:lnSpc>
                <a:spcPct val="150000"/>
              </a:lnSpc>
            </a:pPr>
            <a:r>
              <a:rPr lang="en-US" sz="2800" b="1" dirty="0">
                <a:latin typeface="Times New Roman" panose="02020603050405020304" pitchFamily="18" charset="0"/>
                <a:cs typeface="Times New Roman" panose="02020603050405020304" pitchFamily="18" charset="0"/>
              </a:rPr>
              <a:t>RESULTS​</a:t>
            </a:r>
          </a:p>
          <a:p>
            <a:pPr>
              <a:lnSpc>
                <a:spcPct val="150000"/>
              </a:lnSpc>
            </a:pPr>
            <a:endParaRPr lang="en-US" sz="20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26E321A-51DC-19C1-115C-4C6DCBF91AF3}"/>
              </a:ext>
            </a:extLst>
          </p:cNvPr>
          <p:cNvSpPr txBox="1"/>
          <p:nvPr/>
        </p:nvSpPr>
        <p:spPr>
          <a:xfrm>
            <a:off x="777559" y="1018637"/>
            <a:ext cx="7953600" cy="646331"/>
          </a:xfrm>
          <a:prstGeom prst="rect">
            <a:avLst/>
          </a:prstGeom>
          <a:noFill/>
        </p:spPr>
        <p:txBody>
          <a:bodyPr wrap="square" rtlCol="0">
            <a:spAutoFit/>
          </a:bodyPr>
          <a:lstStyle/>
          <a:p>
            <a:r>
              <a:rPr lang="en-US" dirty="0"/>
              <a:t>This interface enables new users to create an account by entering required details. It ensures secure registration and access to system features.</a:t>
            </a:r>
            <a:endParaRPr lang="en-IN" dirty="0"/>
          </a:p>
        </p:txBody>
      </p:sp>
      <p:sp>
        <p:nvSpPr>
          <p:cNvPr id="6" name="Rectangle 5">
            <a:extLst>
              <a:ext uri="{FF2B5EF4-FFF2-40B4-BE49-F238E27FC236}">
                <a16:creationId xmlns:a16="http://schemas.microsoft.com/office/drawing/2014/main" id="{3EF457C0-75FA-2FBF-7030-C8B88A4AB488}"/>
              </a:ext>
            </a:extLst>
          </p:cNvPr>
          <p:cNvSpPr/>
          <p:nvPr/>
        </p:nvSpPr>
        <p:spPr>
          <a:xfrm rot="16200000">
            <a:off x="6091182" y="-5836658"/>
            <a:ext cx="264160" cy="119374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7" name="Rectangle 6">
            <a:extLst>
              <a:ext uri="{FF2B5EF4-FFF2-40B4-BE49-F238E27FC236}">
                <a16:creationId xmlns:a16="http://schemas.microsoft.com/office/drawing/2014/main" id="{9303FEDD-A537-44A0-1F61-B1F14DB5F455}"/>
              </a:ext>
            </a:extLst>
          </p:cNvPr>
          <p:cNvSpPr/>
          <p:nvPr/>
        </p:nvSpPr>
        <p:spPr>
          <a:xfrm rot="16200000">
            <a:off x="6091182" y="752549"/>
            <a:ext cx="264160" cy="119374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10" name="Rectangle 9">
            <a:extLst>
              <a:ext uri="{FF2B5EF4-FFF2-40B4-BE49-F238E27FC236}">
                <a16:creationId xmlns:a16="http://schemas.microsoft.com/office/drawing/2014/main" id="{49E915D6-8D83-F8A4-6813-1E3CFA2712F5}"/>
              </a:ext>
            </a:extLst>
          </p:cNvPr>
          <p:cNvSpPr/>
          <p:nvPr/>
        </p:nvSpPr>
        <p:spPr>
          <a:xfrm>
            <a:off x="0" y="0"/>
            <a:ext cx="25452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1" name="Rectangle 10">
            <a:extLst>
              <a:ext uri="{FF2B5EF4-FFF2-40B4-BE49-F238E27FC236}">
                <a16:creationId xmlns:a16="http://schemas.microsoft.com/office/drawing/2014/main" id="{7CD55FDB-8AFD-CD82-CDC5-B6E6A316FEB9}"/>
              </a:ext>
            </a:extLst>
          </p:cNvPr>
          <p:cNvSpPr/>
          <p:nvPr/>
        </p:nvSpPr>
        <p:spPr>
          <a:xfrm>
            <a:off x="11937999" y="-9970"/>
            <a:ext cx="25452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pic>
        <p:nvPicPr>
          <p:cNvPr id="15" name="Picture 14">
            <a:extLst>
              <a:ext uri="{FF2B5EF4-FFF2-40B4-BE49-F238E27FC236}">
                <a16:creationId xmlns:a16="http://schemas.microsoft.com/office/drawing/2014/main" id="{6B8FB161-5F4A-5AA4-8B25-48FFAA82BE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36722" y="1868128"/>
            <a:ext cx="6314350" cy="3764757"/>
          </a:xfrm>
          <a:prstGeom prst="rect">
            <a:avLst/>
          </a:prstGeom>
        </p:spPr>
      </p:pic>
    </p:spTree>
    <p:extLst>
      <p:ext uri="{BB962C8B-B14F-4D97-AF65-F5344CB8AC3E}">
        <p14:creationId xmlns:p14="http://schemas.microsoft.com/office/powerpoint/2010/main" val="20729884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625E8A-381A-0DA4-EE4F-0AAA6CCDA29E}"/>
            </a:ext>
          </a:extLst>
        </p:cNvPr>
        <p:cNvGrpSpPr/>
        <p:nvPr/>
      </p:nvGrpSpPr>
      <p:grpSpPr>
        <a:xfrm>
          <a:off x="0" y="0"/>
          <a:ext cx="0" cy="0"/>
          <a:chOff x="0" y="0"/>
          <a:chExt cx="0" cy="0"/>
        </a:xfrm>
      </p:grpSpPr>
      <p:pic>
        <p:nvPicPr>
          <p:cNvPr id="2" name="Content Placeholder 3" descr="A logo with a flower&#10;&#10;Description automatically generated">
            <a:extLst>
              <a:ext uri="{FF2B5EF4-FFF2-40B4-BE49-F238E27FC236}">
                <a16:creationId xmlns:a16="http://schemas.microsoft.com/office/drawing/2014/main" id="{9F306F73-5F39-F774-1FD1-742E9B4904B7}"/>
              </a:ext>
            </a:extLst>
          </p:cNvPr>
          <p:cNvPicPr>
            <a:picLocks noChangeAspect="1"/>
          </p:cNvPicPr>
          <p:nvPr/>
        </p:nvPicPr>
        <p:blipFill>
          <a:blip r:embed="rId2"/>
          <a:stretch>
            <a:fillRect/>
          </a:stretch>
        </p:blipFill>
        <p:spPr>
          <a:xfrm>
            <a:off x="10490601" y="264161"/>
            <a:ext cx="1477065" cy="1251226"/>
          </a:xfrm>
          <a:prstGeom prst="rect">
            <a:avLst/>
          </a:prstGeom>
        </p:spPr>
      </p:pic>
      <p:sp>
        <p:nvSpPr>
          <p:cNvPr id="3" name="TextBox 2">
            <a:extLst>
              <a:ext uri="{FF2B5EF4-FFF2-40B4-BE49-F238E27FC236}">
                <a16:creationId xmlns:a16="http://schemas.microsoft.com/office/drawing/2014/main" id="{2E1465ED-1363-1E27-1C84-929678BC41A8}"/>
              </a:ext>
            </a:extLst>
          </p:cNvPr>
          <p:cNvSpPr txBox="1"/>
          <p:nvPr/>
        </p:nvSpPr>
        <p:spPr>
          <a:xfrm>
            <a:off x="406364" y="259987"/>
            <a:ext cx="8172955" cy="1144993"/>
          </a:xfrm>
          <a:prstGeom prst="rect">
            <a:avLst/>
          </a:prstGeom>
          <a:noFill/>
        </p:spPr>
        <p:txBody>
          <a:bodyPr wrap="square" rtlCol="0">
            <a:spAutoFit/>
          </a:bodyPr>
          <a:lstStyle/>
          <a:p>
            <a:pPr>
              <a:lnSpc>
                <a:spcPct val="150000"/>
              </a:lnSpc>
            </a:pPr>
            <a:r>
              <a:rPr lang="en-US" sz="2800" b="1" dirty="0">
                <a:latin typeface="Times New Roman" panose="02020603050405020304" pitchFamily="18" charset="0"/>
                <a:cs typeface="Times New Roman" panose="02020603050405020304" pitchFamily="18" charset="0"/>
              </a:rPr>
              <a:t>RESULTS​</a:t>
            </a:r>
          </a:p>
          <a:p>
            <a:pPr>
              <a:lnSpc>
                <a:spcPct val="150000"/>
              </a:lnSpc>
            </a:pPr>
            <a:endParaRPr lang="en-US" sz="20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7357A486-D15B-AA3A-C2A9-14A8167CC24E}"/>
              </a:ext>
            </a:extLst>
          </p:cNvPr>
          <p:cNvSpPr txBox="1"/>
          <p:nvPr/>
        </p:nvSpPr>
        <p:spPr>
          <a:xfrm>
            <a:off x="777559" y="1018637"/>
            <a:ext cx="7953600" cy="646331"/>
          </a:xfrm>
          <a:prstGeom prst="rect">
            <a:avLst/>
          </a:prstGeom>
          <a:noFill/>
        </p:spPr>
        <p:txBody>
          <a:bodyPr wrap="square" rtlCol="0">
            <a:spAutoFit/>
          </a:bodyPr>
          <a:lstStyle/>
          <a:p>
            <a:r>
              <a:rPr lang="en-US" dirty="0"/>
              <a:t>This graph shows the reduction in word count between the original document and generated summaries. It highlights the efficiency of summarization techniques.</a:t>
            </a:r>
            <a:endParaRPr lang="en-IN" dirty="0"/>
          </a:p>
        </p:txBody>
      </p:sp>
      <p:sp>
        <p:nvSpPr>
          <p:cNvPr id="6" name="Rectangle 5">
            <a:extLst>
              <a:ext uri="{FF2B5EF4-FFF2-40B4-BE49-F238E27FC236}">
                <a16:creationId xmlns:a16="http://schemas.microsoft.com/office/drawing/2014/main" id="{EDD3388E-C2D2-3121-1BF1-D677D629065A}"/>
              </a:ext>
            </a:extLst>
          </p:cNvPr>
          <p:cNvSpPr/>
          <p:nvPr/>
        </p:nvSpPr>
        <p:spPr>
          <a:xfrm rot="16200000">
            <a:off x="6091182" y="-5836658"/>
            <a:ext cx="264160" cy="119374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7" name="Rectangle 6">
            <a:extLst>
              <a:ext uri="{FF2B5EF4-FFF2-40B4-BE49-F238E27FC236}">
                <a16:creationId xmlns:a16="http://schemas.microsoft.com/office/drawing/2014/main" id="{91379F5F-C84B-A9C5-5AAE-73E4E1F5A6AF}"/>
              </a:ext>
            </a:extLst>
          </p:cNvPr>
          <p:cNvSpPr/>
          <p:nvPr/>
        </p:nvSpPr>
        <p:spPr>
          <a:xfrm rot="16200000">
            <a:off x="6091182" y="752549"/>
            <a:ext cx="264160" cy="119374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10" name="Rectangle 9">
            <a:extLst>
              <a:ext uri="{FF2B5EF4-FFF2-40B4-BE49-F238E27FC236}">
                <a16:creationId xmlns:a16="http://schemas.microsoft.com/office/drawing/2014/main" id="{45A4AA7A-8559-432A-5ED3-36F34A312577}"/>
              </a:ext>
            </a:extLst>
          </p:cNvPr>
          <p:cNvSpPr/>
          <p:nvPr/>
        </p:nvSpPr>
        <p:spPr>
          <a:xfrm>
            <a:off x="0" y="0"/>
            <a:ext cx="25452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1" name="Rectangle 10">
            <a:extLst>
              <a:ext uri="{FF2B5EF4-FFF2-40B4-BE49-F238E27FC236}">
                <a16:creationId xmlns:a16="http://schemas.microsoft.com/office/drawing/2014/main" id="{A925C51C-9FE1-43CF-D5FC-349B41C446D8}"/>
              </a:ext>
            </a:extLst>
          </p:cNvPr>
          <p:cNvSpPr/>
          <p:nvPr/>
        </p:nvSpPr>
        <p:spPr>
          <a:xfrm>
            <a:off x="11937999" y="-9970"/>
            <a:ext cx="25452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pic>
        <p:nvPicPr>
          <p:cNvPr id="8" name="Picture 7">
            <a:extLst>
              <a:ext uri="{FF2B5EF4-FFF2-40B4-BE49-F238E27FC236}">
                <a16:creationId xmlns:a16="http://schemas.microsoft.com/office/drawing/2014/main" id="{5486E201-5725-CDBE-EFA7-16E735EF89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82761" y="1877961"/>
            <a:ext cx="7020233" cy="3961402"/>
          </a:xfrm>
          <a:prstGeom prst="rect">
            <a:avLst/>
          </a:prstGeom>
        </p:spPr>
      </p:pic>
    </p:spTree>
    <p:extLst>
      <p:ext uri="{BB962C8B-B14F-4D97-AF65-F5344CB8AC3E}">
        <p14:creationId xmlns:p14="http://schemas.microsoft.com/office/powerpoint/2010/main" val="32693309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C093D3-710D-CF91-0809-15D4EB810FD5}"/>
            </a:ext>
          </a:extLst>
        </p:cNvPr>
        <p:cNvGrpSpPr/>
        <p:nvPr/>
      </p:nvGrpSpPr>
      <p:grpSpPr>
        <a:xfrm>
          <a:off x="0" y="0"/>
          <a:ext cx="0" cy="0"/>
          <a:chOff x="0" y="0"/>
          <a:chExt cx="0" cy="0"/>
        </a:xfrm>
      </p:grpSpPr>
      <p:pic>
        <p:nvPicPr>
          <p:cNvPr id="2" name="Content Placeholder 3" descr="A logo with a flower&#10;&#10;Description automatically generated">
            <a:extLst>
              <a:ext uri="{FF2B5EF4-FFF2-40B4-BE49-F238E27FC236}">
                <a16:creationId xmlns:a16="http://schemas.microsoft.com/office/drawing/2014/main" id="{EA7AC91A-637B-D2FA-5C4A-00096F4C4FD1}"/>
              </a:ext>
            </a:extLst>
          </p:cNvPr>
          <p:cNvPicPr>
            <a:picLocks noChangeAspect="1"/>
          </p:cNvPicPr>
          <p:nvPr/>
        </p:nvPicPr>
        <p:blipFill>
          <a:blip r:embed="rId2"/>
          <a:stretch>
            <a:fillRect/>
          </a:stretch>
        </p:blipFill>
        <p:spPr>
          <a:xfrm>
            <a:off x="10490601" y="264161"/>
            <a:ext cx="1477065" cy="1251226"/>
          </a:xfrm>
          <a:prstGeom prst="rect">
            <a:avLst/>
          </a:prstGeom>
        </p:spPr>
      </p:pic>
      <p:sp>
        <p:nvSpPr>
          <p:cNvPr id="3" name="TextBox 2">
            <a:extLst>
              <a:ext uri="{FF2B5EF4-FFF2-40B4-BE49-F238E27FC236}">
                <a16:creationId xmlns:a16="http://schemas.microsoft.com/office/drawing/2014/main" id="{2CF34F81-0546-B0C4-F629-67688099F5A9}"/>
              </a:ext>
            </a:extLst>
          </p:cNvPr>
          <p:cNvSpPr txBox="1"/>
          <p:nvPr/>
        </p:nvSpPr>
        <p:spPr>
          <a:xfrm>
            <a:off x="406364" y="259987"/>
            <a:ext cx="8172955" cy="1144993"/>
          </a:xfrm>
          <a:prstGeom prst="rect">
            <a:avLst/>
          </a:prstGeom>
          <a:noFill/>
        </p:spPr>
        <p:txBody>
          <a:bodyPr wrap="square" rtlCol="0">
            <a:spAutoFit/>
          </a:bodyPr>
          <a:lstStyle/>
          <a:p>
            <a:pPr>
              <a:lnSpc>
                <a:spcPct val="150000"/>
              </a:lnSpc>
            </a:pPr>
            <a:r>
              <a:rPr lang="en-US" sz="2800" b="1" dirty="0">
                <a:latin typeface="Times New Roman" panose="02020603050405020304" pitchFamily="18" charset="0"/>
                <a:cs typeface="Times New Roman" panose="02020603050405020304" pitchFamily="18" charset="0"/>
              </a:rPr>
              <a:t>RESULTS​</a:t>
            </a:r>
          </a:p>
          <a:p>
            <a:pPr>
              <a:lnSpc>
                <a:spcPct val="150000"/>
              </a:lnSpc>
            </a:pPr>
            <a:endParaRPr lang="en-US" sz="20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99E43B72-E5BF-FEAB-5AF8-7B0BBC1CDA79}"/>
              </a:ext>
            </a:extLst>
          </p:cNvPr>
          <p:cNvSpPr txBox="1"/>
          <p:nvPr/>
        </p:nvSpPr>
        <p:spPr>
          <a:xfrm>
            <a:off x="777559" y="1018637"/>
            <a:ext cx="7953600" cy="646331"/>
          </a:xfrm>
          <a:prstGeom prst="rect">
            <a:avLst/>
          </a:prstGeom>
          <a:noFill/>
        </p:spPr>
        <p:txBody>
          <a:bodyPr wrap="square" rtlCol="0">
            <a:spAutoFit/>
          </a:bodyPr>
          <a:lstStyle/>
          <a:p>
            <a:r>
              <a:rPr lang="en-US" dirty="0"/>
              <a:t>This graph evaluates the quality of generated summaries using ROUGE scores. It measures how closely the summary matches the original content.</a:t>
            </a:r>
            <a:endParaRPr lang="en-IN" dirty="0"/>
          </a:p>
        </p:txBody>
      </p:sp>
      <p:sp>
        <p:nvSpPr>
          <p:cNvPr id="6" name="Rectangle 5">
            <a:extLst>
              <a:ext uri="{FF2B5EF4-FFF2-40B4-BE49-F238E27FC236}">
                <a16:creationId xmlns:a16="http://schemas.microsoft.com/office/drawing/2014/main" id="{63F639D1-DC90-1DAE-6E04-1ED7EE987481}"/>
              </a:ext>
            </a:extLst>
          </p:cNvPr>
          <p:cNvSpPr/>
          <p:nvPr/>
        </p:nvSpPr>
        <p:spPr>
          <a:xfrm rot="16200000">
            <a:off x="6091182" y="-5836658"/>
            <a:ext cx="264160" cy="119374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7" name="Rectangle 6">
            <a:extLst>
              <a:ext uri="{FF2B5EF4-FFF2-40B4-BE49-F238E27FC236}">
                <a16:creationId xmlns:a16="http://schemas.microsoft.com/office/drawing/2014/main" id="{30376550-D180-6610-C84C-C063568E6AA9}"/>
              </a:ext>
            </a:extLst>
          </p:cNvPr>
          <p:cNvSpPr/>
          <p:nvPr/>
        </p:nvSpPr>
        <p:spPr>
          <a:xfrm rot="16200000">
            <a:off x="6091182" y="752549"/>
            <a:ext cx="264160" cy="119374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10" name="Rectangle 9">
            <a:extLst>
              <a:ext uri="{FF2B5EF4-FFF2-40B4-BE49-F238E27FC236}">
                <a16:creationId xmlns:a16="http://schemas.microsoft.com/office/drawing/2014/main" id="{D4E15C76-9DDC-6DD2-4010-D15B2024B586}"/>
              </a:ext>
            </a:extLst>
          </p:cNvPr>
          <p:cNvSpPr/>
          <p:nvPr/>
        </p:nvSpPr>
        <p:spPr>
          <a:xfrm>
            <a:off x="0" y="0"/>
            <a:ext cx="25452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1" name="Rectangle 10">
            <a:extLst>
              <a:ext uri="{FF2B5EF4-FFF2-40B4-BE49-F238E27FC236}">
                <a16:creationId xmlns:a16="http://schemas.microsoft.com/office/drawing/2014/main" id="{C34A1649-5ECB-6A8B-8A8D-FF2C59ED2DF6}"/>
              </a:ext>
            </a:extLst>
          </p:cNvPr>
          <p:cNvSpPr/>
          <p:nvPr/>
        </p:nvSpPr>
        <p:spPr>
          <a:xfrm>
            <a:off x="11937999" y="-9970"/>
            <a:ext cx="25452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pic>
        <p:nvPicPr>
          <p:cNvPr id="9" name="Picture 8">
            <a:extLst>
              <a:ext uri="{FF2B5EF4-FFF2-40B4-BE49-F238E27FC236}">
                <a16:creationId xmlns:a16="http://schemas.microsoft.com/office/drawing/2014/main" id="{67A7C0A3-2552-ADE8-FC78-EF8EAD4EF0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31371" y="1946787"/>
            <a:ext cx="7228939" cy="3736257"/>
          </a:xfrm>
          <a:prstGeom prst="rect">
            <a:avLst/>
          </a:prstGeom>
        </p:spPr>
      </p:pic>
    </p:spTree>
    <p:extLst>
      <p:ext uri="{BB962C8B-B14F-4D97-AF65-F5344CB8AC3E}">
        <p14:creationId xmlns:p14="http://schemas.microsoft.com/office/powerpoint/2010/main" val="22145348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1E2BE5-FF25-F613-2FFE-AE5EFA07C74A}"/>
            </a:ext>
          </a:extLst>
        </p:cNvPr>
        <p:cNvGrpSpPr/>
        <p:nvPr/>
      </p:nvGrpSpPr>
      <p:grpSpPr>
        <a:xfrm>
          <a:off x="0" y="0"/>
          <a:ext cx="0" cy="0"/>
          <a:chOff x="0" y="0"/>
          <a:chExt cx="0" cy="0"/>
        </a:xfrm>
      </p:grpSpPr>
      <p:pic>
        <p:nvPicPr>
          <p:cNvPr id="2" name="Content Placeholder 3" descr="A logo with a flower&#10;&#10;Description automatically generated">
            <a:extLst>
              <a:ext uri="{FF2B5EF4-FFF2-40B4-BE49-F238E27FC236}">
                <a16:creationId xmlns:a16="http://schemas.microsoft.com/office/drawing/2014/main" id="{04715579-DC9B-D021-4647-F1EF9241EF1A}"/>
              </a:ext>
            </a:extLst>
          </p:cNvPr>
          <p:cNvPicPr>
            <a:picLocks noChangeAspect="1"/>
          </p:cNvPicPr>
          <p:nvPr/>
        </p:nvPicPr>
        <p:blipFill>
          <a:blip r:embed="rId2"/>
          <a:stretch>
            <a:fillRect/>
          </a:stretch>
        </p:blipFill>
        <p:spPr>
          <a:xfrm>
            <a:off x="10490601" y="264161"/>
            <a:ext cx="1477065" cy="1251226"/>
          </a:xfrm>
          <a:prstGeom prst="rect">
            <a:avLst/>
          </a:prstGeom>
        </p:spPr>
      </p:pic>
      <p:sp>
        <p:nvSpPr>
          <p:cNvPr id="3" name="TextBox 2">
            <a:extLst>
              <a:ext uri="{FF2B5EF4-FFF2-40B4-BE49-F238E27FC236}">
                <a16:creationId xmlns:a16="http://schemas.microsoft.com/office/drawing/2014/main" id="{AAFE94E2-4BBA-B9AD-5D60-16B4960FA5D4}"/>
              </a:ext>
            </a:extLst>
          </p:cNvPr>
          <p:cNvSpPr txBox="1"/>
          <p:nvPr/>
        </p:nvSpPr>
        <p:spPr>
          <a:xfrm>
            <a:off x="406364" y="259987"/>
            <a:ext cx="8172955" cy="1144993"/>
          </a:xfrm>
          <a:prstGeom prst="rect">
            <a:avLst/>
          </a:prstGeom>
          <a:noFill/>
        </p:spPr>
        <p:txBody>
          <a:bodyPr wrap="square" rtlCol="0">
            <a:spAutoFit/>
          </a:bodyPr>
          <a:lstStyle/>
          <a:p>
            <a:pPr>
              <a:lnSpc>
                <a:spcPct val="150000"/>
              </a:lnSpc>
            </a:pPr>
            <a:r>
              <a:rPr lang="en-US" sz="2800" b="1" dirty="0">
                <a:latin typeface="Times New Roman" panose="02020603050405020304" pitchFamily="18" charset="0"/>
                <a:cs typeface="Times New Roman" panose="02020603050405020304" pitchFamily="18" charset="0"/>
              </a:rPr>
              <a:t>RESULTS​</a:t>
            </a:r>
          </a:p>
          <a:p>
            <a:pPr>
              <a:lnSpc>
                <a:spcPct val="150000"/>
              </a:lnSpc>
            </a:pPr>
            <a:endParaRPr lang="en-US" sz="20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C504E692-D181-CB01-F0AA-F51291FE832F}"/>
              </a:ext>
            </a:extLst>
          </p:cNvPr>
          <p:cNvSpPr txBox="1"/>
          <p:nvPr/>
        </p:nvSpPr>
        <p:spPr>
          <a:xfrm>
            <a:off x="777559" y="1018637"/>
            <a:ext cx="7953600" cy="646331"/>
          </a:xfrm>
          <a:prstGeom prst="rect">
            <a:avLst/>
          </a:prstGeom>
          <a:noFill/>
        </p:spPr>
        <p:txBody>
          <a:bodyPr wrap="square" rtlCol="0">
            <a:spAutoFit/>
          </a:bodyPr>
          <a:lstStyle/>
          <a:p>
            <a:r>
              <a:rPr lang="en-US" dirty="0"/>
              <a:t>This graph displays the importance score of each sentence in the document. Higher scores indicate sentences selected for extractive summarization.</a:t>
            </a:r>
            <a:endParaRPr lang="en-IN" dirty="0"/>
          </a:p>
        </p:txBody>
      </p:sp>
      <p:sp>
        <p:nvSpPr>
          <p:cNvPr id="6" name="Rectangle 5">
            <a:extLst>
              <a:ext uri="{FF2B5EF4-FFF2-40B4-BE49-F238E27FC236}">
                <a16:creationId xmlns:a16="http://schemas.microsoft.com/office/drawing/2014/main" id="{94627E80-531F-E773-CA73-5647C7BE88A5}"/>
              </a:ext>
            </a:extLst>
          </p:cNvPr>
          <p:cNvSpPr/>
          <p:nvPr/>
        </p:nvSpPr>
        <p:spPr>
          <a:xfrm rot="16200000">
            <a:off x="6091182" y="-5836658"/>
            <a:ext cx="264160" cy="119374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7" name="Rectangle 6">
            <a:extLst>
              <a:ext uri="{FF2B5EF4-FFF2-40B4-BE49-F238E27FC236}">
                <a16:creationId xmlns:a16="http://schemas.microsoft.com/office/drawing/2014/main" id="{9750BDDF-7F89-DBE3-AE0E-F3AFAE2E2B22}"/>
              </a:ext>
            </a:extLst>
          </p:cNvPr>
          <p:cNvSpPr/>
          <p:nvPr/>
        </p:nvSpPr>
        <p:spPr>
          <a:xfrm rot="16200000">
            <a:off x="6091182" y="752549"/>
            <a:ext cx="264160" cy="119374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10" name="Rectangle 9">
            <a:extLst>
              <a:ext uri="{FF2B5EF4-FFF2-40B4-BE49-F238E27FC236}">
                <a16:creationId xmlns:a16="http://schemas.microsoft.com/office/drawing/2014/main" id="{7E3B94EE-E6C4-58AC-3E87-08813194421E}"/>
              </a:ext>
            </a:extLst>
          </p:cNvPr>
          <p:cNvSpPr/>
          <p:nvPr/>
        </p:nvSpPr>
        <p:spPr>
          <a:xfrm>
            <a:off x="0" y="0"/>
            <a:ext cx="25452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1" name="Rectangle 10">
            <a:extLst>
              <a:ext uri="{FF2B5EF4-FFF2-40B4-BE49-F238E27FC236}">
                <a16:creationId xmlns:a16="http://schemas.microsoft.com/office/drawing/2014/main" id="{A68F45C3-4997-F428-5980-385A615EDAD1}"/>
              </a:ext>
            </a:extLst>
          </p:cNvPr>
          <p:cNvSpPr/>
          <p:nvPr/>
        </p:nvSpPr>
        <p:spPr>
          <a:xfrm>
            <a:off x="11937999" y="-9970"/>
            <a:ext cx="25452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pic>
        <p:nvPicPr>
          <p:cNvPr id="8" name="Picture 7">
            <a:extLst>
              <a:ext uri="{FF2B5EF4-FFF2-40B4-BE49-F238E27FC236}">
                <a16:creationId xmlns:a16="http://schemas.microsoft.com/office/drawing/2014/main" id="{310CA6D9-85C8-AE63-0D72-CBF523B1C5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86349" y="1868129"/>
            <a:ext cx="8522382" cy="4226590"/>
          </a:xfrm>
          <a:prstGeom prst="rect">
            <a:avLst/>
          </a:prstGeom>
        </p:spPr>
      </p:pic>
    </p:spTree>
    <p:extLst>
      <p:ext uri="{BB962C8B-B14F-4D97-AF65-F5344CB8AC3E}">
        <p14:creationId xmlns:p14="http://schemas.microsoft.com/office/powerpoint/2010/main" val="42334093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281748-46F4-9235-3A76-315442067ED4}"/>
            </a:ext>
          </a:extLst>
        </p:cNvPr>
        <p:cNvGrpSpPr/>
        <p:nvPr/>
      </p:nvGrpSpPr>
      <p:grpSpPr>
        <a:xfrm>
          <a:off x="0" y="0"/>
          <a:ext cx="0" cy="0"/>
          <a:chOff x="0" y="0"/>
          <a:chExt cx="0" cy="0"/>
        </a:xfrm>
      </p:grpSpPr>
      <p:pic>
        <p:nvPicPr>
          <p:cNvPr id="2" name="Content Placeholder 3" descr="A logo with a flower&#10;&#10;Description automatically generated">
            <a:extLst>
              <a:ext uri="{FF2B5EF4-FFF2-40B4-BE49-F238E27FC236}">
                <a16:creationId xmlns:a16="http://schemas.microsoft.com/office/drawing/2014/main" id="{AD62EB60-7435-EA8D-A562-0FA254DA02CD}"/>
              </a:ext>
            </a:extLst>
          </p:cNvPr>
          <p:cNvPicPr>
            <a:picLocks noChangeAspect="1"/>
          </p:cNvPicPr>
          <p:nvPr/>
        </p:nvPicPr>
        <p:blipFill>
          <a:blip r:embed="rId2"/>
          <a:stretch>
            <a:fillRect/>
          </a:stretch>
        </p:blipFill>
        <p:spPr>
          <a:xfrm>
            <a:off x="10490601" y="264161"/>
            <a:ext cx="1477065" cy="1251226"/>
          </a:xfrm>
          <a:prstGeom prst="rect">
            <a:avLst/>
          </a:prstGeom>
        </p:spPr>
      </p:pic>
      <p:sp>
        <p:nvSpPr>
          <p:cNvPr id="3" name="TextBox 2">
            <a:extLst>
              <a:ext uri="{FF2B5EF4-FFF2-40B4-BE49-F238E27FC236}">
                <a16:creationId xmlns:a16="http://schemas.microsoft.com/office/drawing/2014/main" id="{2FF99DFC-D3D1-EE95-66D8-C3BF224BBE65}"/>
              </a:ext>
            </a:extLst>
          </p:cNvPr>
          <p:cNvSpPr txBox="1"/>
          <p:nvPr/>
        </p:nvSpPr>
        <p:spPr>
          <a:xfrm>
            <a:off x="406364" y="259987"/>
            <a:ext cx="8172955" cy="1144993"/>
          </a:xfrm>
          <a:prstGeom prst="rect">
            <a:avLst/>
          </a:prstGeom>
          <a:noFill/>
        </p:spPr>
        <p:txBody>
          <a:bodyPr wrap="square" rtlCol="0">
            <a:spAutoFit/>
          </a:bodyPr>
          <a:lstStyle/>
          <a:p>
            <a:pPr>
              <a:lnSpc>
                <a:spcPct val="150000"/>
              </a:lnSpc>
            </a:pPr>
            <a:r>
              <a:rPr lang="en-US" sz="2800" b="1" dirty="0">
                <a:latin typeface="Times New Roman" panose="02020603050405020304" pitchFamily="18" charset="0"/>
                <a:cs typeface="Times New Roman" panose="02020603050405020304" pitchFamily="18" charset="0"/>
              </a:rPr>
              <a:t>RESULTS​</a:t>
            </a:r>
          </a:p>
          <a:p>
            <a:pPr>
              <a:lnSpc>
                <a:spcPct val="150000"/>
              </a:lnSpc>
            </a:pPr>
            <a:endParaRPr lang="en-US" sz="20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0F6954D7-30AD-AD8F-3074-61D252BCC5F9}"/>
              </a:ext>
            </a:extLst>
          </p:cNvPr>
          <p:cNvSpPr txBox="1"/>
          <p:nvPr/>
        </p:nvSpPr>
        <p:spPr>
          <a:xfrm>
            <a:off x="777559" y="1018637"/>
            <a:ext cx="7953600" cy="646331"/>
          </a:xfrm>
          <a:prstGeom prst="rect">
            <a:avLst/>
          </a:prstGeom>
          <a:noFill/>
        </p:spPr>
        <p:txBody>
          <a:bodyPr wrap="square" rtlCol="0">
            <a:spAutoFit/>
          </a:bodyPr>
          <a:lstStyle/>
          <a:p>
            <a:r>
              <a:rPr lang="en-US" dirty="0"/>
              <a:t>This output shows key sentences directly extracted from the original document. It helps users quickly understand important information.</a:t>
            </a:r>
            <a:endParaRPr lang="en-IN" dirty="0"/>
          </a:p>
        </p:txBody>
      </p:sp>
      <p:sp>
        <p:nvSpPr>
          <p:cNvPr id="6" name="Rectangle 5">
            <a:extLst>
              <a:ext uri="{FF2B5EF4-FFF2-40B4-BE49-F238E27FC236}">
                <a16:creationId xmlns:a16="http://schemas.microsoft.com/office/drawing/2014/main" id="{0FA4F5EE-D2B5-7471-4F54-C9DE41C2479C}"/>
              </a:ext>
            </a:extLst>
          </p:cNvPr>
          <p:cNvSpPr/>
          <p:nvPr/>
        </p:nvSpPr>
        <p:spPr>
          <a:xfrm rot="16200000">
            <a:off x="6091182" y="-5836658"/>
            <a:ext cx="264160" cy="119374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7" name="Rectangle 6">
            <a:extLst>
              <a:ext uri="{FF2B5EF4-FFF2-40B4-BE49-F238E27FC236}">
                <a16:creationId xmlns:a16="http://schemas.microsoft.com/office/drawing/2014/main" id="{0F39EAC1-73AA-B0E2-91C8-7F8E430101CD}"/>
              </a:ext>
            </a:extLst>
          </p:cNvPr>
          <p:cNvSpPr/>
          <p:nvPr/>
        </p:nvSpPr>
        <p:spPr>
          <a:xfrm rot="16200000">
            <a:off x="6091182" y="752549"/>
            <a:ext cx="264160" cy="119374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10" name="Rectangle 9">
            <a:extLst>
              <a:ext uri="{FF2B5EF4-FFF2-40B4-BE49-F238E27FC236}">
                <a16:creationId xmlns:a16="http://schemas.microsoft.com/office/drawing/2014/main" id="{A471C7AC-E9CD-139A-1C67-083E0BE95EFE}"/>
              </a:ext>
            </a:extLst>
          </p:cNvPr>
          <p:cNvSpPr/>
          <p:nvPr/>
        </p:nvSpPr>
        <p:spPr>
          <a:xfrm>
            <a:off x="0" y="0"/>
            <a:ext cx="25452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1" name="Rectangle 10">
            <a:extLst>
              <a:ext uri="{FF2B5EF4-FFF2-40B4-BE49-F238E27FC236}">
                <a16:creationId xmlns:a16="http://schemas.microsoft.com/office/drawing/2014/main" id="{C2A43A7D-396B-D8E5-0118-84E4DB3CAE39}"/>
              </a:ext>
            </a:extLst>
          </p:cNvPr>
          <p:cNvSpPr/>
          <p:nvPr/>
        </p:nvSpPr>
        <p:spPr>
          <a:xfrm>
            <a:off x="11937999" y="-9970"/>
            <a:ext cx="25452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pic>
        <p:nvPicPr>
          <p:cNvPr id="9" name="Picture 8">
            <a:extLst>
              <a:ext uri="{FF2B5EF4-FFF2-40B4-BE49-F238E27FC236}">
                <a16:creationId xmlns:a16="http://schemas.microsoft.com/office/drawing/2014/main" id="{385B10F1-8803-FA6A-C0CE-1C128E6C68A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02426" y="1712471"/>
            <a:ext cx="6833420" cy="4569244"/>
          </a:xfrm>
          <a:prstGeom prst="rect">
            <a:avLst/>
          </a:prstGeom>
        </p:spPr>
      </p:pic>
    </p:spTree>
    <p:extLst>
      <p:ext uri="{BB962C8B-B14F-4D97-AF65-F5344CB8AC3E}">
        <p14:creationId xmlns:p14="http://schemas.microsoft.com/office/powerpoint/2010/main" val="27494502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9BB0AF-3BB8-29DE-7663-881D693F5040}"/>
            </a:ext>
          </a:extLst>
        </p:cNvPr>
        <p:cNvGrpSpPr/>
        <p:nvPr/>
      </p:nvGrpSpPr>
      <p:grpSpPr>
        <a:xfrm>
          <a:off x="0" y="0"/>
          <a:ext cx="0" cy="0"/>
          <a:chOff x="0" y="0"/>
          <a:chExt cx="0" cy="0"/>
        </a:xfrm>
      </p:grpSpPr>
      <p:pic>
        <p:nvPicPr>
          <p:cNvPr id="2" name="Content Placeholder 3" descr="A logo with a flower&#10;&#10;Description automatically generated">
            <a:extLst>
              <a:ext uri="{FF2B5EF4-FFF2-40B4-BE49-F238E27FC236}">
                <a16:creationId xmlns:a16="http://schemas.microsoft.com/office/drawing/2014/main" id="{93AEAC13-D2E6-2E2E-9A03-6892CCB43828}"/>
              </a:ext>
            </a:extLst>
          </p:cNvPr>
          <p:cNvPicPr>
            <a:picLocks noChangeAspect="1"/>
          </p:cNvPicPr>
          <p:nvPr/>
        </p:nvPicPr>
        <p:blipFill>
          <a:blip r:embed="rId2"/>
          <a:stretch>
            <a:fillRect/>
          </a:stretch>
        </p:blipFill>
        <p:spPr>
          <a:xfrm>
            <a:off x="10490601" y="264161"/>
            <a:ext cx="1477065" cy="1251226"/>
          </a:xfrm>
          <a:prstGeom prst="rect">
            <a:avLst/>
          </a:prstGeom>
        </p:spPr>
      </p:pic>
      <p:sp>
        <p:nvSpPr>
          <p:cNvPr id="3" name="TextBox 2">
            <a:extLst>
              <a:ext uri="{FF2B5EF4-FFF2-40B4-BE49-F238E27FC236}">
                <a16:creationId xmlns:a16="http://schemas.microsoft.com/office/drawing/2014/main" id="{55E422D2-6918-59CA-C3E3-2484D74DEA83}"/>
              </a:ext>
            </a:extLst>
          </p:cNvPr>
          <p:cNvSpPr txBox="1"/>
          <p:nvPr/>
        </p:nvSpPr>
        <p:spPr>
          <a:xfrm>
            <a:off x="406364" y="259987"/>
            <a:ext cx="8172955" cy="1144993"/>
          </a:xfrm>
          <a:prstGeom prst="rect">
            <a:avLst/>
          </a:prstGeom>
          <a:noFill/>
        </p:spPr>
        <p:txBody>
          <a:bodyPr wrap="square" rtlCol="0">
            <a:spAutoFit/>
          </a:bodyPr>
          <a:lstStyle/>
          <a:p>
            <a:pPr>
              <a:lnSpc>
                <a:spcPct val="150000"/>
              </a:lnSpc>
            </a:pPr>
            <a:r>
              <a:rPr lang="en-US" sz="2800" b="1" dirty="0">
                <a:latin typeface="Times New Roman" panose="02020603050405020304" pitchFamily="18" charset="0"/>
                <a:cs typeface="Times New Roman" panose="02020603050405020304" pitchFamily="18" charset="0"/>
              </a:rPr>
              <a:t>RESULTS​</a:t>
            </a:r>
          </a:p>
          <a:p>
            <a:pPr>
              <a:lnSpc>
                <a:spcPct val="150000"/>
              </a:lnSpc>
            </a:pPr>
            <a:endParaRPr lang="en-US" sz="20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5B51474A-6A02-13AC-842A-618739AA2208}"/>
              </a:ext>
            </a:extLst>
          </p:cNvPr>
          <p:cNvSpPr txBox="1"/>
          <p:nvPr/>
        </p:nvSpPr>
        <p:spPr>
          <a:xfrm>
            <a:off x="777559" y="1018637"/>
            <a:ext cx="7953600" cy="646331"/>
          </a:xfrm>
          <a:prstGeom prst="rect">
            <a:avLst/>
          </a:prstGeom>
          <a:noFill/>
        </p:spPr>
        <p:txBody>
          <a:bodyPr wrap="square" rtlCol="0">
            <a:spAutoFit/>
          </a:bodyPr>
          <a:lstStyle/>
          <a:p>
            <a:r>
              <a:rPr lang="en-US" dirty="0"/>
              <a:t>This output presents a rephrased summary generated using AI models. It provides a concise and human-like understanding of the document.</a:t>
            </a:r>
            <a:endParaRPr lang="en-IN" dirty="0"/>
          </a:p>
        </p:txBody>
      </p:sp>
      <p:sp>
        <p:nvSpPr>
          <p:cNvPr id="6" name="Rectangle 5">
            <a:extLst>
              <a:ext uri="{FF2B5EF4-FFF2-40B4-BE49-F238E27FC236}">
                <a16:creationId xmlns:a16="http://schemas.microsoft.com/office/drawing/2014/main" id="{5716916D-E167-3A2F-B440-8854B8AED1E1}"/>
              </a:ext>
            </a:extLst>
          </p:cNvPr>
          <p:cNvSpPr/>
          <p:nvPr/>
        </p:nvSpPr>
        <p:spPr>
          <a:xfrm rot="16200000">
            <a:off x="6091182" y="-5836658"/>
            <a:ext cx="264160" cy="119374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7" name="Rectangle 6">
            <a:extLst>
              <a:ext uri="{FF2B5EF4-FFF2-40B4-BE49-F238E27FC236}">
                <a16:creationId xmlns:a16="http://schemas.microsoft.com/office/drawing/2014/main" id="{2C4158E9-31B1-115A-6215-C3074A69C47B}"/>
              </a:ext>
            </a:extLst>
          </p:cNvPr>
          <p:cNvSpPr/>
          <p:nvPr/>
        </p:nvSpPr>
        <p:spPr>
          <a:xfrm rot="16200000">
            <a:off x="6091182" y="752549"/>
            <a:ext cx="264160" cy="119374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10" name="Rectangle 9">
            <a:extLst>
              <a:ext uri="{FF2B5EF4-FFF2-40B4-BE49-F238E27FC236}">
                <a16:creationId xmlns:a16="http://schemas.microsoft.com/office/drawing/2014/main" id="{7C10D269-BC50-F3DE-7CA9-A2DFBC31D198}"/>
              </a:ext>
            </a:extLst>
          </p:cNvPr>
          <p:cNvSpPr/>
          <p:nvPr/>
        </p:nvSpPr>
        <p:spPr>
          <a:xfrm>
            <a:off x="0" y="0"/>
            <a:ext cx="25452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1" name="Rectangle 10">
            <a:extLst>
              <a:ext uri="{FF2B5EF4-FFF2-40B4-BE49-F238E27FC236}">
                <a16:creationId xmlns:a16="http://schemas.microsoft.com/office/drawing/2014/main" id="{E072C6A0-4248-0F05-732D-651321D8A10C}"/>
              </a:ext>
            </a:extLst>
          </p:cNvPr>
          <p:cNvSpPr/>
          <p:nvPr/>
        </p:nvSpPr>
        <p:spPr>
          <a:xfrm>
            <a:off x="11937999" y="-9970"/>
            <a:ext cx="25452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pic>
        <p:nvPicPr>
          <p:cNvPr id="8" name="Picture 7">
            <a:extLst>
              <a:ext uri="{FF2B5EF4-FFF2-40B4-BE49-F238E27FC236}">
                <a16:creationId xmlns:a16="http://schemas.microsoft.com/office/drawing/2014/main" id="{34922158-EBFA-B1CE-138B-0B83B6C2CD5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41755" y="1882740"/>
            <a:ext cx="7049729" cy="4124770"/>
          </a:xfrm>
          <a:prstGeom prst="rect">
            <a:avLst/>
          </a:prstGeom>
        </p:spPr>
      </p:pic>
    </p:spTree>
    <p:extLst>
      <p:ext uri="{BB962C8B-B14F-4D97-AF65-F5344CB8AC3E}">
        <p14:creationId xmlns:p14="http://schemas.microsoft.com/office/powerpoint/2010/main" val="31149945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E8BDF04-F2E2-EB64-994B-C195D7922BD3}"/>
              </a:ext>
            </a:extLst>
          </p:cNvPr>
          <p:cNvSpPr txBox="1"/>
          <p:nvPr/>
        </p:nvSpPr>
        <p:spPr>
          <a:xfrm>
            <a:off x="2868107" y="1251226"/>
            <a:ext cx="6094428" cy="523220"/>
          </a:xfrm>
          <a:prstGeom prst="rect">
            <a:avLst/>
          </a:prstGeom>
          <a:noFill/>
        </p:spPr>
        <p:txBody>
          <a:bodyPr wrap="square">
            <a:spAutoFit/>
          </a:bodyPr>
          <a:lstStyle/>
          <a:p>
            <a:r>
              <a:rPr lang="en-IN" sz="2800" b="1" spc="-10" dirty="0">
                <a:latin typeface="Times New Roman" panose="02020603050405020304" pitchFamily="18" charset="0"/>
                <a:cs typeface="Times New Roman" panose="02020603050405020304" pitchFamily="18" charset="0"/>
              </a:rPr>
              <a:t>Conclusion &amp; Future Enhancement</a:t>
            </a:r>
            <a:endParaRPr lang="en-IN" sz="2800" dirty="0"/>
          </a:p>
        </p:txBody>
      </p:sp>
      <p:pic>
        <p:nvPicPr>
          <p:cNvPr id="6" name="Content Placeholder 3" descr="A logo with a flower&#10;&#10;Description automatically generated">
            <a:extLst>
              <a:ext uri="{FF2B5EF4-FFF2-40B4-BE49-F238E27FC236}">
                <a16:creationId xmlns:a16="http://schemas.microsoft.com/office/drawing/2014/main" id="{C469AA6D-963A-A58E-74DC-803416FF5C67}"/>
              </a:ext>
            </a:extLst>
          </p:cNvPr>
          <p:cNvPicPr>
            <a:picLocks noChangeAspect="1"/>
          </p:cNvPicPr>
          <p:nvPr/>
        </p:nvPicPr>
        <p:blipFill>
          <a:blip r:embed="rId2"/>
          <a:stretch>
            <a:fillRect/>
          </a:stretch>
        </p:blipFill>
        <p:spPr>
          <a:xfrm>
            <a:off x="10450775" y="261610"/>
            <a:ext cx="1477065" cy="1251226"/>
          </a:xfrm>
          <a:prstGeom prst="rect">
            <a:avLst/>
          </a:prstGeom>
        </p:spPr>
      </p:pic>
      <p:sp>
        <p:nvSpPr>
          <p:cNvPr id="2" name="TextBox 1">
            <a:extLst>
              <a:ext uri="{FF2B5EF4-FFF2-40B4-BE49-F238E27FC236}">
                <a16:creationId xmlns:a16="http://schemas.microsoft.com/office/drawing/2014/main" id="{058CD7D8-6198-E64D-E404-D86086DA83BF}"/>
              </a:ext>
            </a:extLst>
          </p:cNvPr>
          <p:cNvSpPr txBox="1"/>
          <p:nvPr/>
        </p:nvSpPr>
        <p:spPr>
          <a:xfrm>
            <a:off x="1155290" y="2419757"/>
            <a:ext cx="9881419" cy="1754326"/>
          </a:xfrm>
          <a:prstGeom prst="rect">
            <a:avLst/>
          </a:prstGeom>
          <a:noFill/>
        </p:spPr>
        <p:txBody>
          <a:bodyPr wrap="square" rtlCol="0">
            <a:spAutoFit/>
          </a:bodyPr>
          <a:lstStyle/>
          <a:p>
            <a:pPr algn="just"/>
            <a:r>
              <a:rPr lang="en-US" dirty="0"/>
              <a:t>The Legal &amp; Financial Document Summarizer represents a significant step forward in automated document analysis. By successfully combining the precision of extractive methods with the fluency of generative AI, the system offers a comprehensive tool for professionals. The project demonstrates not only the capability of modern Transformers but also the practical application of these complex models in solving real-world efficiency problems. The resulting application is robust, user-friendly, and ready for deployment in small-to-medium enterprise environments.</a:t>
            </a:r>
            <a:endParaRPr lang="en-IN" dirty="0"/>
          </a:p>
        </p:txBody>
      </p:sp>
      <p:sp>
        <p:nvSpPr>
          <p:cNvPr id="3" name="Rectangle 2">
            <a:extLst>
              <a:ext uri="{FF2B5EF4-FFF2-40B4-BE49-F238E27FC236}">
                <a16:creationId xmlns:a16="http://schemas.microsoft.com/office/drawing/2014/main" id="{95A3B690-F292-902D-7FE0-7974F5AA40CF}"/>
              </a:ext>
            </a:extLst>
          </p:cNvPr>
          <p:cNvSpPr/>
          <p:nvPr/>
        </p:nvSpPr>
        <p:spPr>
          <a:xfrm rot="16200000">
            <a:off x="6091182" y="-5836658"/>
            <a:ext cx="264160" cy="119374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4" name="Rectangle 3">
            <a:extLst>
              <a:ext uri="{FF2B5EF4-FFF2-40B4-BE49-F238E27FC236}">
                <a16:creationId xmlns:a16="http://schemas.microsoft.com/office/drawing/2014/main" id="{D11B783A-1331-D005-B949-3A76A4AB1D4F}"/>
              </a:ext>
            </a:extLst>
          </p:cNvPr>
          <p:cNvSpPr/>
          <p:nvPr/>
        </p:nvSpPr>
        <p:spPr>
          <a:xfrm rot="16200000">
            <a:off x="5836658" y="757182"/>
            <a:ext cx="264160" cy="119374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7" name="Rectangle 6">
            <a:extLst>
              <a:ext uri="{FF2B5EF4-FFF2-40B4-BE49-F238E27FC236}">
                <a16:creationId xmlns:a16="http://schemas.microsoft.com/office/drawing/2014/main" id="{18A5A357-52BC-05CD-5B3F-74280189F9D4}"/>
              </a:ext>
            </a:extLst>
          </p:cNvPr>
          <p:cNvSpPr/>
          <p:nvPr/>
        </p:nvSpPr>
        <p:spPr>
          <a:xfrm>
            <a:off x="0" y="0"/>
            <a:ext cx="25452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8" name="Rectangle 7">
            <a:extLst>
              <a:ext uri="{FF2B5EF4-FFF2-40B4-BE49-F238E27FC236}">
                <a16:creationId xmlns:a16="http://schemas.microsoft.com/office/drawing/2014/main" id="{838E1821-D982-F699-C912-D82CA7F5BD59}"/>
              </a:ext>
            </a:extLst>
          </p:cNvPr>
          <p:cNvSpPr/>
          <p:nvPr/>
        </p:nvSpPr>
        <p:spPr>
          <a:xfrm>
            <a:off x="11927840" y="0"/>
            <a:ext cx="25452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17149405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6F29A5-E9B7-740D-B1CC-E154248F272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64E864F-9E4A-076C-29CC-914FB4C495A0}"/>
              </a:ext>
            </a:extLst>
          </p:cNvPr>
          <p:cNvSpPr txBox="1"/>
          <p:nvPr/>
        </p:nvSpPr>
        <p:spPr>
          <a:xfrm>
            <a:off x="2868107" y="1251226"/>
            <a:ext cx="6094428" cy="523220"/>
          </a:xfrm>
          <a:prstGeom prst="rect">
            <a:avLst/>
          </a:prstGeom>
          <a:noFill/>
        </p:spPr>
        <p:txBody>
          <a:bodyPr wrap="square">
            <a:spAutoFit/>
          </a:bodyPr>
          <a:lstStyle/>
          <a:p>
            <a:r>
              <a:rPr lang="en-IN" sz="2800" b="1" dirty="0">
                <a:latin typeface="Times" panose="02020603050405020304" pitchFamily="18" charset="0"/>
                <a:cs typeface="Times" panose="02020603050405020304" pitchFamily="18" charset="0"/>
              </a:rPr>
              <a:t>GitHub link</a:t>
            </a:r>
            <a:endParaRPr lang="en-IN" sz="2800" dirty="0"/>
          </a:p>
        </p:txBody>
      </p:sp>
      <p:pic>
        <p:nvPicPr>
          <p:cNvPr id="6" name="Content Placeholder 3" descr="A logo with a flower&#10;&#10;Description automatically generated">
            <a:extLst>
              <a:ext uri="{FF2B5EF4-FFF2-40B4-BE49-F238E27FC236}">
                <a16:creationId xmlns:a16="http://schemas.microsoft.com/office/drawing/2014/main" id="{B00C1A06-3335-18F7-E1D9-2903F1A1E510}"/>
              </a:ext>
            </a:extLst>
          </p:cNvPr>
          <p:cNvPicPr>
            <a:picLocks noChangeAspect="1"/>
          </p:cNvPicPr>
          <p:nvPr/>
        </p:nvPicPr>
        <p:blipFill>
          <a:blip r:embed="rId2"/>
          <a:stretch>
            <a:fillRect/>
          </a:stretch>
        </p:blipFill>
        <p:spPr>
          <a:xfrm>
            <a:off x="10450775" y="261610"/>
            <a:ext cx="1477065" cy="1251226"/>
          </a:xfrm>
          <a:prstGeom prst="rect">
            <a:avLst/>
          </a:prstGeom>
        </p:spPr>
      </p:pic>
      <p:sp>
        <p:nvSpPr>
          <p:cNvPr id="2" name="TextBox 1">
            <a:extLst>
              <a:ext uri="{FF2B5EF4-FFF2-40B4-BE49-F238E27FC236}">
                <a16:creationId xmlns:a16="http://schemas.microsoft.com/office/drawing/2014/main" id="{6540CDD8-201B-1DAF-5507-8A827CEF9612}"/>
              </a:ext>
            </a:extLst>
          </p:cNvPr>
          <p:cNvSpPr txBox="1"/>
          <p:nvPr/>
        </p:nvSpPr>
        <p:spPr>
          <a:xfrm>
            <a:off x="1155290" y="2419757"/>
            <a:ext cx="9881419" cy="369332"/>
          </a:xfrm>
          <a:prstGeom prst="rect">
            <a:avLst/>
          </a:prstGeom>
          <a:noFill/>
        </p:spPr>
        <p:txBody>
          <a:bodyPr wrap="square" rtlCol="0">
            <a:spAutoFit/>
          </a:bodyPr>
          <a:lstStyle/>
          <a:p>
            <a:pPr algn="just"/>
            <a:r>
              <a:rPr lang="en-IN" dirty="0"/>
              <a:t>https://github.com/NikhilDosala/MAJOR-PROJECT</a:t>
            </a:r>
          </a:p>
        </p:txBody>
      </p:sp>
      <p:sp>
        <p:nvSpPr>
          <p:cNvPr id="3" name="Rectangle 2">
            <a:extLst>
              <a:ext uri="{FF2B5EF4-FFF2-40B4-BE49-F238E27FC236}">
                <a16:creationId xmlns:a16="http://schemas.microsoft.com/office/drawing/2014/main" id="{43E91CA0-E882-9C28-1CBE-011AF08C1DCE}"/>
              </a:ext>
            </a:extLst>
          </p:cNvPr>
          <p:cNvSpPr/>
          <p:nvPr/>
        </p:nvSpPr>
        <p:spPr>
          <a:xfrm rot="16200000">
            <a:off x="6091182" y="-5836658"/>
            <a:ext cx="264160" cy="119374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4" name="Rectangle 3">
            <a:extLst>
              <a:ext uri="{FF2B5EF4-FFF2-40B4-BE49-F238E27FC236}">
                <a16:creationId xmlns:a16="http://schemas.microsoft.com/office/drawing/2014/main" id="{089DB2B7-5168-E256-2E59-FCF35DFEACA4}"/>
              </a:ext>
            </a:extLst>
          </p:cNvPr>
          <p:cNvSpPr/>
          <p:nvPr/>
        </p:nvSpPr>
        <p:spPr>
          <a:xfrm rot="16200000">
            <a:off x="5836658" y="757182"/>
            <a:ext cx="264160" cy="119374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7" name="Rectangle 6">
            <a:extLst>
              <a:ext uri="{FF2B5EF4-FFF2-40B4-BE49-F238E27FC236}">
                <a16:creationId xmlns:a16="http://schemas.microsoft.com/office/drawing/2014/main" id="{7147D450-1484-B8E3-624B-CCC747FCD597}"/>
              </a:ext>
            </a:extLst>
          </p:cNvPr>
          <p:cNvSpPr/>
          <p:nvPr/>
        </p:nvSpPr>
        <p:spPr>
          <a:xfrm>
            <a:off x="0" y="0"/>
            <a:ext cx="25452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8" name="Rectangle 7">
            <a:extLst>
              <a:ext uri="{FF2B5EF4-FFF2-40B4-BE49-F238E27FC236}">
                <a16:creationId xmlns:a16="http://schemas.microsoft.com/office/drawing/2014/main" id="{159E1B56-9AF4-6365-4653-4A750CAF2166}"/>
              </a:ext>
            </a:extLst>
          </p:cNvPr>
          <p:cNvSpPr/>
          <p:nvPr/>
        </p:nvSpPr>
        <p:spPr>
          <a:xfrm>
            <a:off x="11927840" y="0"/>
            <a:ext cx="25452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17797237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F93EA73-913A-5011-84C0-528D287F3EC6}"/>
              </a:ext>
            </a:extLst>
          </p:cNvPr>
          <p:cNvSpPr txBox="1"/>
          <p:nvPr/>
        </p:nvSpPr>
        <p:spPr>
          <a:xfrm>
            <a:off x="3315509" y="2875002"/>
            <a:ext cx="7059561" cy="1107996"/>
          </a:xfrm>
          <a:prstGeom prst="rect">
            <a:avLst/>
          </a:prstGeom>
          <a:noFill/>
        </p:spPr>
        <p:txBody>
          <a:bodyPr wrap="square" rtlCol="0">
            <a:spAutoFit/>
          </a:bodyPr>
          <a:lstStyle/>
          <a:p>
            <a:r>
              <a:rPr lang="en-US" sz="6600" dirty="0">
                <a:latin typeface="Algerian" panose="04020705040A02060702" pitchFamily="82" charset="0"/>
              </a:rPr>
              <a:t>THANK YOU</a:t>
            </a:r>
            <a:endParaRPr lang="en-IN" sz="6600" dirty="0">
              <a:latin typeface="Algerian" panose="04020705040A02060702" pitchFamily="82" charset="0"/>
            </a:endParaRPr>
          </a:p>
        </p:txBody>
      </p:sp>
      <p:sp>
        <p:nvSpPr>
          <p:cNvPr id="4" name="Rectangle 3">
            <a:extLst>
              <a:ext uri="{FF2B5EF4-FFF2-40B4-BE49-F238E27FC236}">
                <a16:creationId xmlns:a16="http://schemas.microsoft.com/office/drawing/2014/main" id="{77143306-C3F6-3554-A166-20E6930FDE0D}"/>
              </a:ext>
            </a:extLst>
          </p:cNvPr>
          <p:cNvSpPr/>
          <p:nvPr/>
        </p:nvSpPr>
        <p:spPr>
          <a:xfrm>
            <a:off x="0" y="0"/>
            <a:ext cx="25452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5" name="Rectangle 4">
            <a:extLst>
              <a:ext uri="{FF2B5EF4-FFF2-40B4-BE49-F238E27FC236}">
                <a16:creationId xmlns:a16="http://schemas.microsoft.com/office/drawing/2014/main" id="{51E42F43-4B9B-E816-6721-B501D5058074}"/>
              </a:ext>
            </a:extLst>
          </p:cNvPr>
          <p:cNvSpPr/>
          <p:nvPr/>
        </p:nvSpPr>
        <p:spPr>
          <a:xfrm>
            <a:off x="11927840" y="0"/>
            <a:ext cx="25452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6" name="Rectangle 5">
            <a:extLst>
              <a:ext uri="{FF2B5EF4-FFF2-40B4-BE49-F238E27FC236}">
                <a16:creationId xmlns:a16="http://schemas.microsoft.com/office/drawing/2014/main" id="{18089C26-C4EE-0381-61B7-263C7F365997}"/>
              </a:ext>
            </a:extLst>
          </p:cNvPr>
          <p:cNvSpPr/>
          <p:nvPr/>
        </p:nvSpPr>
        <p:spPr>
          <a:xfrm rot="16200000">
            <a:off x="6091182" y="-5836658"/>
            <a:ext cx="264160" cy="119374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7" name="Rectangle 6">
            <a:extLst>
              <a:ext uri="{FF2B5EF4-FFF2-40B4-BE49-F238E27FC236}">
                <a16:creationId xmlns:a16="http://schemas.microsoft.com/office/drawing/2014/main" id="{7B5794DD-92F3-EE0F-2D91-149031B8632F}"/>
              </a:ext>
            </a:extLst>
          </p:cNvPr>
          <p:cNvSpPr/>
          <p:nvPr/>
        </p:nvSpPr>
        <p:spPr>
          <a:xfrm rot="16200000">
            <a:off x="6081546" y="757182"/>
            <a:ext cx="264160" cy="119374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Tree>
    <p:extLst>
      <p:ext uri="{BB962C8B-B14F-4D97-AF65-F5344CB8AC3E}">
        <p14:creationId xmlns:p14="http://schemas.microsoft.com/office/powerpoint/2010/main" val="387747812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1188</TotalTime>
  <Words>1974</Words>
  <Application>Microsoft Office PowerPoint</Application>
  <PresentationFormat>Widescreen</PresentationFormat>
  <Paragraphs>215</Paragraphs>
  <Slides>29</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29</vt:i4>
      </vt:variant>
    </vt:vector>
  </HeadingPairs>
  <TitlesOfParts>
    <vt:vector size="37" baseType="lpstr">
      <vt:lpstr>Algerian</vt:lpstr>
      <vt:lpstr>Arial</vt:lpstr>
      <vt:lpstr>Calibri</vt:lpstr>
      <vt:lpstr>Calibri Light</vt:lpstr>
      <vt:lpstr>Times</vt:lpstr>
      <vt:lpstr>Times New Roman</vt:lpstr>
      <vt:lpstr>Wingdings</vt:lpstr>
      <vt:lpstr>Office Theme</vt:lpstr>
      <vt:lpstr>CMR Technical Campus     Department of Information Technology </vt:lpstr>
      <vt:lpstr>Index</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dc:creator>
  <cp:lastModifiedBy>Kondapelly Akshaya</cp:lastModifiedBy>
  <cp:revision>126</cp:revision>
  <dcterms:created xsi:type="dcterms:W3CDTF">2024-03-19T15:57:58Z</dcterms:created>
  <dcterms:modified xsi:type="dcterms:W3CDTF">2026-03-22T19:30:56Z</dcterms:modified>
</cp:coreProperties>
</file>